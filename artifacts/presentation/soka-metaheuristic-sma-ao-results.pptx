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18dcc8a0e74b9f" /><Relationship Type="http://schemas.openxmlformats.org/officeDocument/2006/relationships/extended-properties" Target="/docProps/app.xml" Id="R3a31ed76903d4d98" /><Relationship Type="http://schemas.openxmlformats.org/officeDocument/2006/relationships/officeDocument" Target="/ppt/presentation.xml" Id="R202599625f8644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b35098f54241d2"/>
  </p:sldMasterIdLst>
  <p:notesMasterIdLst>
    <p:notesMasterId xmlns:r="http://schemas.openxmlformats.org/officeDocument/2006/relationships" r:id="R249399046f3b4433"/>
  </p:notesMasterIdLst>
  <p:sldIdLst>
    <p:sldId xmlns:r="http://schemas.openxmlformats.org/officeDocument/2006/relationships" id="256" r:id="R2a2c06a5fd0f45c1"/>
    <p:sldId xmlns:r="http://schemas.openxmlformats.org/officeDocument/2006/relationships" id="257" r:id="Rd626a49d45a0498b"/>
    <p:sldId xmlns:r="http://schemas.openxmlformats.org/officeDocument/2006/relationships" id="258" r:id="R081626c22b924174"/>
    <p:sldId xmlns:r="http://schemas.openxmlformats.org/officeDocument/2006/relationships" id="259" r:id="R36a180f9966e482f"/>
    <p:sldId xmlns:r="http://schemas.openxmlformats.org/officeDocument/2006/relationships" id="260" r:id="Re511ef06ac474ae4"/>
    <p:sldId xmlns:r="http://schemas.openxmlformats.org/officeDocument/2006/relationships" id="261" r:id="R7fcc0883d6284676"/>
    <p:sldId xmlns:r="http://schemas.openxmlformats.org/officeDocument/2006/relationships" id="262" r:id="R6ae3de1395d547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d1c5a84ad442f6" /><Relationship Type="http://schemas.openxmlformats.org/officeDocument/2006/relationships/slideMaster" Target="/ppt/slideMasters/slideMaster1.xml" Id="Rc4b35098f54241d2" /><Relationship Type="http://schemas.openxmlformats.org/officeDocument/2006/relationships/notesMaster" Target="/ppt/notesMasters/notesMaster1.xml" Id="R249399046f3b4433" /><Relationship Type="http://schemas.openxmlformats.org/officeDocument/2006/relationships/presProps" Target="/ppt/presProps.xml" Id="Rfe4849bab3064f60" /><Relationship Type="http://schemas.openxmlformats.org/officeDocument/2006/relationships/tableStyles" Target="/ppt/tableStyles.xml" Id="Rcbb81287a03640ee" /><Relationship Type="http://schemas.openxmlformats.org/officeDocument/2006/relationships/slide" Target="/ppt/slides/slide1.xml" Id="R2a2c06a5fd0f45c1" /><Relationship Type="http://schemas.openxmlformats.org/officeDocument/2006/relationships/slide" Target="/ppt/slides/slide2.xml" Id="Rd626a49d45a0498b" /><Relationship Type="http://schemas.openxmlformats.org/officeDocument/2006/relationships/slide" Target="/ppt/slides/slide3.xml" Id="R081626c22b924174" /><Relationship Type="http://schemas.openxmlformats.org/officeDocument/2006/relationships/slide" Target="/ppt/slides/slide4.xml" Id="R36a180f9966e482f" /><Relationship Type="http://schemas.openxmlformats.org/officeDocument/2006/relationships/slide" Target="/ppt/slides/slide5.xml" Id="Re511ef06ac474ae4" /><Relationship Type="http://schemas.openxmlformats.org/officeDocument/2006/relationships/slide" Target="/ppt/slides/slide6.xml" Id="R7fcc0883d6284676" /><Relationship Type="http://schemas.openxmlformats.org/officeDocument/2006/relationships/slide" Target="/ppt/slides/slide7.xml" Id="R6ae3de1395d547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a6c549810b45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30caacdd454ced" /><Relationship Type="http://schemas.openxmlformats.org/officeDocument/2006/relationships/notesMaster" Target="/ppt/notesMasters/notesMaster1.xml" Id="R97ae988db9764d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b6585c791443c" /><Relationship Type="http://schemas.openxmlformats.org/officeDocument/2006/relationships/notesMaster" Target="/ppt/notesMasters/notesMaster1.xml" Id="Rd0e3606b788343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083000fe2d4dc8" /><Relationship Type="http://schemas.openxmlformats.org/officeDocument/2006/relationships/notesMaster" Target="/ppt/notesMasters/notesMaster1.xml" Id="R48bf1c8856d749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c66c793801416a" /><Relationship Type="http://schemas.openxmlformats.org/officeDocument/2006/relationships/notesMaster" Target="/ppt/notesMasters/notesMaster1.xml" Id="Rcb216e6dd7ef4d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40069828034e09" /><Relationship Type="http://schemas.openxmlformats.org/officeDocument/2006/relationships/notesMaster" Target="/ppt/notesMasters/notesMaster1.xml" Id="Ra79dc0611fa945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1da0ac10ae47d5" /><Relationship Type="http://schemas.openxmlformats.org/officeDocument/2006/relationships/notesMaster" Target="/ppt/notesMasters/notesMaster1.xml" Id="R71a37661df264c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cef922245c4c3e" /><Relationship Type="http://schemas.openxmlformats.org/officeDocument/2006/relationships/notesMaster" Target="/ppt/notesMasters/notesMaster1.xml" Id="Rc235489d9fec4d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summarizes the completed soka-metaheuristic experiment using 45,000 unique workload rows from the Google Cluster Trace-derived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runner validated unique workload ranges, non-negative metrics, and the expected 30 algorithm/workload executions before producing the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Java implementation defines VM hostId and datacenter fields, then uses StaticVmAllocationPolicy to map VM IDs 0-1 to Host 0, 2-3 to Host 1, 4-5 to Host 2, and 6-7 to Host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Java loop advances one global cursor after every chunk. The validator checks that each algorithm has 15 unique ranges and that every range remains within rows 1 through 45,000.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uses a population of eight candidates and twelve iterations. SMA and AO use different update rules but share the same repair function, objective, VM specifications, and CloudSim execution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 are means from results/summary.csv. M is the unit displayed in the source metrics. Lower makespan and lower cost are preferable; the per-size winner changes between SMA and AO.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completed result artifacts are stored under results/. The copied local artifacts include the CSV summaries, configuration, comparison chart, and overall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810b62d164b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40586edbc45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e01a3690241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c1de9595a46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1fd9dda5245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3306d9e9b44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566884-F682-4776-BB8E-0AE94E4F0E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2C5C5C-BA22-4370-9AB2-9908B88FFB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B4E845-D78B-4DF0-BF3B-0EE04D91D0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BF02E3-C827-4D11-8CC9-47207E024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8AD871-A051-4265-A03F-0C57FBE718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DA255D-1D89-459E-B01A-167925E057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55E856-F4D5-4BBC-82CC-FC7945A01C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292DA6-E9EB-4B4C-9820-DBF0C68CB2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132FD4-8B56-4B3B-ACA2-D13FE6973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954876-028E-4FB5-A8D8-FA0764E8F6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8f699059ed4c9d" /><Relationship Type="http://schemas.openxmlformats.org/officeDocument/2006/relationships/slideLayout" Target="/ppt/slideLayouts/slideLayout1.xml" Id="R5bf9f3a484db4e72" /><Relationship Type="http://schemas.openxmlformats.org/officeDocument/2006/relationships/slideLayout" Target="/ppt/slideLayouts/slideLayout2.xml" Id="Ra2a8e0922d234c33" /><Relationship Type="http://schemas.openxmlformats.org/officeDocument/2006/relationships/slideLayout" Target="/ppt/slideLayouts/slideLayout3.xml" Id="R16c14984ac174872" /><Relationship Type="http://schemas.openxmlformats.org/officeDocument/2006/relationships/slideLayout" Target="/ppt/slideLayouts/slideLayout4.xml" Id="Rb7a10e502d084330" /><Relationship Type="http://schemas.openxmlformats.org/officeDocument/2006/relationships/slideLayout" Target="/ppt/slideLayouts/slideLayout5.xml" Id="Rdfacb46f782d4674" /><Relationship Type="http://schemas.openxmlformats.org/officeDocument/2006/relationships/slideLayout" Target="/ppt/slideLayouts/slideLayout6.xml" Id="R30b6e76ffc4749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f9f3a484db4e72"/>
    <p:sldLayoutId xmlns:r="http://schemas.openxmlformats.org/officeDocument/2006/relationships" id="2147483650" r:id="Ra2a8e0922d234c33"/>
    <p:sldLayoutId xmlns:r="http://schemas.openxmlformats.org/officeDocument/2006/relationships" id="2147483651" r:id="R16c14984ac174872"/>
    <p:sldLayoutId xmlns:r="http://schemas.openxmlformats.org/officeDocument/2006/relationships" id="2147483652" r:id="Rb7a10e502d084330"/>
    <p:sldLayoutId xmlns:r="http://schemas.openxmlformats.org/officeDocument/2006/relationships" id="2147483653" r:id="Rdfacb46f782d4674"/>
    <p:sldLayoutId xmlns:r="http://schemas.openxmlformats.org/officeDocument/2006/relationships" id="2147483654" r:id="R30b6e76ffc4749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7267e62b34e55" /><Relationship Type="http://schemas.openxmlformats.org/officeDocument/2006/relationships/notesSlide" Target="/ppt/notesSlides/notesSlide1.xml" Id="R1261afe6ad0749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3df93cad640ab" /><Relationship Type="http://schemas.openxmlformats.org/officeDocument/2006/relationships/notesSlide" Target="/ppt/notesSlides/notesSlide2.xml" Id="Ra036748b8cdd46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eb9d489a34acf" /><Relationship Type="http://schemas.openxmlformats.org/officeDocument/2006/relationships/notesSlide" Target="/ppt/notesSlides/notesSlide3.xml" Id="Re905a50c518a4d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4121b1b824e17" /><Relationship Type="http://schemas.openxmlformats.org/officeDocument/2006/relationships/notesSlide" Target="/ppt/notesSlides/notesSlide4.xml" Id="R42cb00d6a48945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17c9de927344b9" /><Relationship Type="http://schemas.openxmlformats.org/officeDocument/2006/relationships/notesSlide" Target="/ppt/notesSlides/notesSlide5.xml" Id="R482d0a7a15904e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b2c4d2f6a4f39" /><Relationship Type="http://schemas.openxmlformats.org/officeDocument/2006/relationships/notesSlide" Target="/ppt/notesSlides/notesSlide6.xml" Id="R2a709ad462984b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d23b15e5d4242" /><Relationship Type="http://schemas.openxmlformats.org/officeDocument/2006/relationships/notesSlide" Target="/ppt/notesSlides/notesSlide7.xml" Id="R641a8d54e93542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33CFC-4A38-41F6-9242-F557CF06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143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D17A3-77AA-4F4A-BAB4-78A3F8DA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0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B9D9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9D9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D9F2"/>
                </a:solidFill>
                <a:latin typeface="Arial"/>
                <a:ea typeface="Arial"/>
                <a:cs typeface="Arial"/>
              </a:rPr>
              <a:t>SOKA METAHEURISTIC SCHEDULING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D6D38-0757-4DED-84D4-B3ABA6B7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952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 and Aquila Optimizer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A99E7-CCA5-4457-B6E4-F40A0311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D7E6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7E6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6F2"/>
                </a:solidFill>
                <a:latin typeface="Arial"/>
                <a:ea typeface="Arial"/>
                <a:cs typeface="Arial"/>
              </a:rPr>
              <a:t>A completed CloudSim comparison across 1,000 to 5,000 cloudlets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60BDD-FE35-4BC7-B41B-8672DFA0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Results from the real workload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05221-A6AB-4317-ACE7-D244C5C0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482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B9D9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9D9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D9F2"/>
                </a:solidFill>
                <a:latin typeface="Arial"/>
                <a:ea typeface="Arial"/>
                <a:cs typeface="Arial"/>
              </a:rPr>
              <a:t>30 validated runs across SMA and AO</a:t>
            </a:r>
          </a:p>
        </p:txBody>
      </p:sp>
    </p:spTree>
    <p:extLst>
      <p:ext uri="{BB962C8B-B14F-4D97-AF65-F5344CB8AC3E}">
        <p14:creationId xmlns:p14="http://schemas.microsoft.com/office/powerpoint/2010/main" val="173396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8D6E3-7B90-469F-A3D6-54FCE5DC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WHAT THE NEW PROJECT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84592-8985-43A2-821E-D2DDA13C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Experiment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00522-B564-4388-9A71-BFB48313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Two optimizers solve the same scheduling problem under the same infrastructure and cost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275A2-AD41-4C40-BA98-8EC9C961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432A2-738A-4D03-B002-83B9C57C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5638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3C7A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29CB0-CF4F-4AEE-B2D5-B3F3761F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Algorithms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39225-7F9E-4FD9-88EC-B0F7208B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Slime Mould Algorithm (SMA)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1FF62-E4D2-46A7-9066-09D8FBF8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Aquila Optimizer (AO)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A3C52-F3D6-46C6-9332-531377D4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Same 60:40 time-to-cost objective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C4245-00F9-41AE-8DE2-1C39D95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Experiment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E1826-3295-4AE1-B39C-ED390841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45,000 unique workload rows validated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F523D-03C0-4627-8D85-CA067196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75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30 runs completed: 15 SMA and 15 AO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47D3E-A142-41C6-9AA8-27EAF275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Every workload size has three repetitions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88810-FA04-42A1-8891-A192DF45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The results below come from the completed server run.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78D76-3169-4D7B-87DD-6B509C5C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2</a:t>
            </a:r>
          </a:p>
        </p:txBody>
      </p:sp>
    </p:spTree>
    <p:extLst>
      <p:ext uri="{BB962C8B-B14F-4D97-AF65-F5344CB8AC3E}">
        <p14:creationId xmlns:p14="http://schemas.microsoft.com/office/powerpoint/2010/main" val="330208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6B9B1-A497-48DA-A5C2-6D905004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INFRASTRUCTURE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A6DA0-A2E4-4557-9AAC-4D341E11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Static CloudSim topology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2EE3B-E67C-4BA3-8811-04E57A8D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Every run uses the same eight VMs and the same four fixed host assignments.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8327A-03CA-4122-88D1-82AFC2F8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429D6-0E7E-4028-A22A-9B8554A4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Datacenter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D0119-9927-42CD-9BC2-9FE07C6B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06BC9-8D3A-4986-97FC-1C5DAB6A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Host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64354-C393-496C-9BC2-B60F43D1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48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VM 0  |  VM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B85C2-8758-400C-BD26-5DE15D17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 VMs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81E46-0728-4ECF-8B8F-33791F9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0A24E-A774-422A-9606-F008A421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Host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FEFB5-E6CC-4887-9267-ADDA083D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7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VM 2  |  VM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0202E-BE72-4B72-A76C-835E5F97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 VMs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C54A7-7597-4C04-873E-CBB27D78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DCAAD-2F84-4054-BCBE-6BAB29FD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Datacenter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E1443-5B4B-444B-BE62-B6ED57F8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3370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67184-B2C8-4206-8622-6E5911A9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Host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8CBD0-2EC5-4369-9CF0-BC29B3B9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VM 4  |  VM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BCD42-F5AD-4D4D-8AFB-3C2AAC1C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33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 VMs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F3224-0D30-497D-900F-7E3F3628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4724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B2EC3-75B4-40C3-8548-FC8D9D12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Host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76E9AD-87D9-4B1B-9F30-140B6743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76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VM 6  |  VM 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178C2-DE1E-4683-8064-9865DD8C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 VMs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31F1A-AD6B-4703-B58C-F7634BE6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Static policy maps VM IDs to host IDs. The VM placement does not change between algorithms.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35E6C-95B9-4E17-8529-4E358FD0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3</a:t>
            </a:r>
          </a:p>
        </p:txBody>
      </p:sp>
    </p:spTree>
    <p:extLst>
      <p:ext uri="{BB962C8B-B14F-4D97-AF65-F5344CB8AC3E}">
        <p14:creationId xmlns:p14="http://schemas.microsoft.com/office/powerpoint/2010/main" val="1334916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FA9014-AB10-44C7-9C10-F5353C83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NON-OVERLAPPING INPUT RANGES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6EC53-C55E-4473-A25B-09821BFE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Workload 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4B372-0977-4099-ADBC-BE8F0AD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The largest individual test contains 5,000 cloudlets. The complete experiment consumes 45,000 unique rows.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908B9-1C18-4936-AE99-FAF94BA5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3D6A7-BFEC-430A-AC53-5AD583C1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Dry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1E400-F928-40FA-9AB9-EC2A35C9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764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D8097-E155-4725-B1DF-8B5DAC3B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907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Cloudlets / repeat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65262-3A0C-4464-A857-87C96334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7200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CF3E1-2CBC-4A99-B22F-26B5E0AF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693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contiguous ranges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23782-F683-469F-BB93-04F99166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EF53C-B364-4373-9399-6E307F68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0811B-6439-42AE-B9A7-6C92C3BA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33650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8CD98-6CFB-499C-BBB5-49773C5F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0032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AA10E-97A4-4A71-9E61-F3AD79BA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33650"/>
            <a:ext cx="7200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BD5B1-3827-4AC7-8D28-65F5BD02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0325"/>
            <a:ext cx="693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1–1,000; 1,001–2,000; 2,001–3,000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79994-C81D-4FA0-BDCF-71792CFC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B17A3-BEF1-4190-9856-BCB6EC95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7FB52-C4C0-4E71-8CAC-D0BED5FD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67025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AAE53-DE77-42E0-BF72-5414B6F6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337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2,000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254B0-2936-4E47-AC73-18AD4F6F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67025"/>
            <a:ext cx="7200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CF59C-4A27-4121-A82F-BAC8FE0D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693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3,001–5,000; 5,001–7,000; 7,001–9,000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FF484-54A0-45F1-8677-733AF347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48D08-7BC8-4BE4-965C-9EA6281B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87D76-9286-4AB7-B8E1-540B84A7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0400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C0751-4502-48E7-BF9B-33420666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6707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E4EBD-9F63-45A6-BAFB-3A7257BA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00400"/>
            <a:ext cx="7200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2E27D7-8ACB-4868-8E97-3B72B8A1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67075"/>
            <a:ext cx="693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9,001–12,000; 12,001–15,000; 15,001–18,000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D99258-2E51-4D46-86CE-5F44A6CE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9658E5-628B-4DAD-8235-37F13721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1D03C-17FB-417D-BDEC-DBDF1F41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2D120C-8A22-4CC1-B982-4564BA66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004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4,000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9D21E6-A2EB-4267-8841-D72FF88F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33775"/>
            <a:ext cx="7200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BE34BA-6E0E-4ED6-8F1D-B1719BA1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00450"/>
            <a:ext cx="693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18,001–22,000; 22,001–26,000; 26,001–30,000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841FC3-5E4A-4BD4-8891-BA2DF95B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4C43D7-902C-462E-B832-78B90370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0FE9BA-6A04-4934-899E-AB9A77B3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4F0385-15B8-419D-904C-BFEECA5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3382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5,000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CC2B67-2C4F-49CA-9DE3-968BC349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67150"/>
            <a:ext cx="7200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E947B2-9F07-4CD5-AFB4-FEFDEC64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33825"/>
            <a:ext cx="693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30,001–35,000; 35,001–40,000; 40,001–45,000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A83250-29E1-4BA3-8E71-8EE84D0D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Total unique rows: 3 × (1,000 + 2,000 + … + 5,000) = 45,000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8B1883-9CD6-4912-9FB4-D9338E44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4</a:t>
            </a:r>
          </a:p>
        </p:txBody>
      </p:sp>
    </p:spTree>
    <p:extLst>
      <p:ext uri="{BB962C8B-B14F-4D97-AF65-F5344CB8AC3E}">
        <p14:creationId xmlns:p14="http://schemas.microsoft.com/office/powerpoint/2010/main" val="1746191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5428C-C794-46EA-AC51-02743792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DISCRETE METAHEURISTIC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F21C5-010C-4DB2-9D20-29E0AD28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How SMA and AO assign cloudlets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F8EDF-5B2B-4893-B268-FF5B3AE7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Each candidate solution assigns every cloudlet to one of eight VMs.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7A779-0714-4A84-B389-3F3A78C1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E40BE-59B7-486A-8B2B-E542052D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6BE35-F202-4D5F-94AC-8CC797ED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8B97C-76FB-4E54-A3F1-A284CE1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A VM ID is proposed for each cloudlet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62246-0E29-4829-9A48-98BA9935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3C7A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62008-D5BD-49D0-A65C-ADF16902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46130-C520-4AC6-A858-727F32C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F90D0-257A-4515-9EE8-4E03BE80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CPU and RAM violations move to a feasible 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4048D-1A8E-4FC7-AC9C-1735B5B0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2B5F5-D873-48E8-B895-1A508CCD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D7E82-2FAA-454F-857C-7D1872B5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44C43-83AE-4EAB-B8A3-BF37E9BD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Makespan and execution cost form the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93626-5FD6-4BAE-82E2-9A448631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3C7A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DEE14-BDC3-48F7-839F-ACA7F782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130B2-FAC9-47EE-9E94-23C78730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264A0-DACC-4559-A889-C6E8CF30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SMA or AO moves the population toward better solutions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A47C0-8498-4AA6-B742-66331008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25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C1C8B-BC0E-409F-BFA5-D8046B06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B9D9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9D9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D9F2"/>
                </a:solidFill>
                <a:latin typeface="Arial"/>
                <a:ea typeface="Arial"/>
                <a:cs typeface="Arial"/>
              </a:rPr>
              <a:t>Objective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8397FB-EF16-41A5-A73D-5CDEABDB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0.60 × normalized makespan + 0.40 × normalized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38C68-FB96-4BE2-8F9A-10A6B472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525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9525">
            <a:solidFill>
              <a:srgbClr val="2A9D8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6DC10F-09B9-45D7-818B-4EC1287D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D8F2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8F2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F2EF"/>
                </a:solidFill>
                <a:latin typeface="Arial"/>
                <a:ea typeface="Arial"/>
                <a:cs typeface="Arial"/>
              </a:rPr>
              <a:t>Cost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5FA5D-A52D-4AF6-B4E6-61115F8B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Σ(actual CPU time × VM price)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3323D9-02C4-4032-8EC1-8584CF2B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5</a:t>
            </a:r>
          </a:p>
        </p:txBody>
      </p:sp>
    </p:spTree>
    <p:extLst>
      <p:ext uri="{BB962C8B-B14F-4D97-AF65-F5344CB8AC3E}">
        <p14:creationId xmlns:p14="http://schemas.microsoft.com/office/powerpoint/2010/main" val="1929800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9C45FC-24E7-40D2-9E59-3F4E6329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SMA VERSUS 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125CC-45E5-4531-A20B-620D0952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Measured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BF7AF-5853-45F8-BCCC-4E8E7BA3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Mean values across three repetitions for each workload size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A1B9D-28EC-4F45-BD7A-3CD93503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01DBC-73C4-4829-97C2-319DFA0B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Cloudlets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4775F-5A65-4FAA-BC82-53DC6728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00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E2D28-98A2-4DDB-BBC9-245D8E43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 makespan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67B78-9520-4691-9249-F74E2336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97E12-F0F5-47F8-B93B-A0F83CE3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14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AO makespan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14EDF-1486-4953-B27A-72A20EF5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435DA-B35E-4B4C-8234-5B8C5A57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7357B-A13F-4132-8B81-6D9F1C96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234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9525">
            <a:solidFill>
              <a:srgbClr val="1226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084B9-D8A6-428A-98D6-755CF5B2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AO 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F9C96-BE32-4DFC-8106-A0B932E2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D521C-5095-47B1-9D7C-8FA40088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BB0D8-2C51-453B-8D63-54DA7D44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384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1CDC8-2E72-4A71-9D40-F8C43AE5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90.16M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CF243-1A38-4A10-BA81-A9796C8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384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48156-E611-49BF-8DB9-718CAA84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92.70M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0020A-461E-43EB-8FC1-31BDF970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384E9-9440-4A52-A0B9-ECD45C79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10.58M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A0D7A-29B3-453C-A957-01D85973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84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1C06B-68C4-4216-81B2-8AD00699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10.56M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CA1C8-4F7D-404D-B2FF-D6A41114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9DA55-279F-4E93-A048-5CA1912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2,000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D57D7-1DAE-4A7C-9EAC-85CF525E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956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D2355-2467-4534-9D04-F6D3DF37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289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127.56M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19FD11-AD13-41A5-8D96-F08A0624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AC12A8-462C-483D-AF66-2746006D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125.61M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7E81E1-A862-46A8-80D3-B8FBA691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1A07B8-2337-4D55-9D63-759A5EBD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17.08M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A198EF-FF63-4F6B-A574-A77120BD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418912-262F-4912-A496-108F436A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17.01M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9B01BF-912C-4C03-B48E-BD108667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6906BF-74FD-4CCB-92FB-114F867A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3,000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C976C8-59C2-4A61-9AD3-2C87BD9C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52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DE482D-AC66-4A58-8375-18B9E82D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213.61M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C809A6-4612-4E23-9164-BA583F71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FD9619-164B-4F36-82E0-95313C48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213.52M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42C27F-6AE2-4F45-94A0-AF094491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301AB2-260D-48EA-8E59-194778D7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20.56M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F7EF32-70B3-4647-B2A9-D8C4AC6A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528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FC658F-6BA5-48B5-BB87-814CBA7F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20.55M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5A463B-320E-4B4C-A8AA-07694D99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6ED750-9287-436A-BE2F-EE31BD0F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4,000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81D23A-6A49-471E-B7D5-F3BF51E7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00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2AA957-8125-4F19-9E0C-19C29DAB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268.52M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E9098F-5DC8-4306-A83B-275445AD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7914C0-4CFA-487E-A62A-EBDA7A7E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43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269.54M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15DF55-37B5-4E94-BE98-4F16AC10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7C140D-1280-4D2D-9704-524B3C8A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43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31.59M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5BB278-2993-44CB-8FFF-8F5BD0DC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6E629E-0CBE-4016-AEBF-1AC6234E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31.57M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7B45F0-31F4-4092-9AB1-D86925B3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1209FD-7B87-40B7-ABE7-D5702151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5,000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34E4FF-A4A5-424E-91DF-E91309D4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82CDBF-B8C4-4B9A-9F0F-B739EFA3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00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341.20M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CB9A4A-E8E6-4BDC-A259-61873F6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10D623-AC75-40E8-BD64-C247110A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342.18M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FCDFB6-42CD-47FF-9D71-1DAB8A91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B3D742-5BFB-48D3-9D27-933BDC36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39.76M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C79BC0-F895-4124-B44B-5C840188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672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DC7E1E-4CB9-4623-8517-F5EAD5F4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005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39.85M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FCE009-8A77-4E1C-97F3-C8253661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3C7A2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F2AAE8-C46F-4477-9BEF-ABA8489C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Overall mean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75DE7FF-31B1-4A72-A726-C4B904A3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244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SMA makespan 208.21M  |  AO makespan 208.71M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F7DC479-E8F4-43CE-B7C9-D169D229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244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SMA cost 23.91M  |  AO cost 23.91M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1AD769-48C4-441E-A4DA-75CA9572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6</a:t>
            </a:r>
          </a:p>
        </p:txBody>
      </p:sp>
    </p:spTree>
    <p:extLst>
      <p:ext uri="{BB962C8B-B14F-4D97-AF65-F5344CB8AC3E}">
        <p14:creationId xmlns:p14="http://schemas.microsoft.com/office/powerpoint/2010/main" val="2766349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ADD3F0-4F01-4E94-AEC2-23439A9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HOW TO READ THE COMPLETED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33948-79C4-4572-BEE7-18132500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Outputs and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3A6B6-C6DD-441C-9396-F6889BE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Result files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7795B-B1BB-45B7-B221-DDDA5B74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DE77D-14F7-4C83-8916-404CBC22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runs.csv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997FC-4D75-4E6C-B0CD-A9101A7F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6116A-F786-42F3-8753-67AC1DDE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summary.csv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8E90F-F6ED-4C9D-8836-DED1DE81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9C7FA-4E02-46A6-AF01-6DB59592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comparison.png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A0932-C0F4-4231-A874-F627056D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61A78-EAD8-4AA5-8DD9-FDA95D9F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overall.png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1AC93-D67D-4972-B02F-669C05F7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8D8D3-2418-400F-9EA2-67118DF6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040"/>
                </a:solidFill>
                <a:latin typeface="Arial"/>
                <a:ea typeface="Arial"/>
                <a:cs typeface="Arial"/>
              </a:rPr>
              <a:t>configuration.txt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0BD0E-BDBE-4891-8507-D527106A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Read the comparison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FEBFB-84CA-412F-96BC-30CE8360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Lower makespan means faster completion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1860E-3F12-4C83-B688-CF8987D8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Lower total cost means cheaper 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CDCEF-80C2-4C4F-A2C4-31205D80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Higher throughput means more completed tasks per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E20E4-EBDD-4565-82EB-61A87E60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Lower imbalance and deadline misses indicate better distribution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87895-BE89-40E6-B362-87A5BD72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5429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D"/>
          </a:solidFill>
          <a:ln xmlns:a="http://schemas.openxmlformats.org/drawingml/2006/main" w="9525">
            <a:solidFill>
              <a:srgbClr val="F3C7A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83ED9-4A1B-49CD-95F1-B5451E78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148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Reproduce the 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958A6-F103-4DA5-A7BE-2F5D12B4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33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./run.sh --algorithm SMA,AO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7A1CB-B5AA-441C-9D4F-9780EC97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33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The runner validates duplicates before simulation.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01252-3103-418F-88EE-1691AD28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SOKA metaheuristic scheduling  |  7</a:t>
            </a:r>
          </a:p>
        </p:txBody>
      </p:sp>
    </p:spTree>
    <p:extLst>
      <p:ext uri="{BB962C8B-B14F-4D97-AF65-F5344CB8AC3E}">
        <p14:creationId xmlns:p14="http://schemas.microsoft.com/office/powerpoint/2010/main" val="101077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2026-10-06T11:34:53.9040000Z</dcterms:created>
  <dcterms:modified xsi:type="dcterms:W3CDTF">2026-10-06T11:34:53.9040000Z</dcterms:modified>
</coreProperties>
</file>