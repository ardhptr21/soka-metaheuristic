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51d4d51d7cf4415" /><Relationship Type="http://schemas.openxmlformats.org/officeDocument/2006/relationships/extended-properties" Target="/docProps/app.xml" Id="R71aba6bb9b494a61" /><Relationship Type="http://schemas.openxmlformats.org/officeDocument/2006/relationships/officeDocument" Target="/ppt/presentation.xml" Id="Rab85663f1c784857" /></Relationships>
</file>

<file path=ppt/presentation.xml><?xml version="1.0" encoding="utf-8"?>
<p:presentation xmlns:p="http://schemas.openxmlformats.org/presentationml/2006/main">
  <p:sldMasterIdLst>
    <p:sldMasterId xmlns:r="http://schemas.openxmlformats.org/officeDocument/2006/relationships" id="2147483648" r:id="Rb42080e1d1434274"/>
  </p:sldMasterIdLst>
  <p:notesMasterIdLst>
    <p:notesMasterId xmlns:r="http://schemas.openxmlformats.org/officeDocument/2006/relationships" r:id="R59573e3d06e340dc"/>
  </p:notesMasterIdLst>
  <p:sldIdLst>
    <p:sldId xmlns:r="http://schemas.openxmlformats.org/officeDocument/2006/relationships" id="256" r:id="Ra1ef93146e914bab"/>
    <p:sldId xmlns:r="http://schemas.openxmlformats.org/officeDocument/2006/relationships" id="257" r:id="R8ff0aab2f4d2486c"/>
    <p:sldId xmlns:r="http://schemas.openxmlformats.org/officeDocument/2006/relationships" id="258" r:id="R7c1a1bd0a290463e"/>
    <p:sldId xmlns:r="http://schemas.openxmlformats.org/officeDocument/2006/relationships" id="259" r:id="R49a984bc228047a9"/>
    <p:sldId xmlns:r="http://schemas.openxmlformats.org/officeDocument/2006/relationships" id="260" r:id="R928198c8f3ef4b0a"/>
    <p:sldId xmlns:r="http://schemas.openxmlformats.org/officeDocument/2006/relationships" id="261" r:id="Rce1a922d909d419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2b13325f41a49a5" /><Relationship Type="http://schemas.openxmlformats.org/officeDocument/2006/relationships/slideMaster" Target="/ppt/slideMasters/slideMaster1.xml" Id="Rb42080e1d1434274" /><Relationship Type="http://schemas.openxmlformats.org/officeDocument/2006/relationships/notesMaster" Target="/ppt/notesMasters/notesMaster1.xml" Id="R59573e3d06e340dc" /><Relationship Type="http://schemas.openxmlformats.org/officeDocument/2006/relationships/presProps" Target="/ppt/presProps.xml" Id="R42d647d986d94d13" /><Relationship Type="http://schemas.openxmlformats.org/officeDocument/2006/relationships/tableStyles" Target="/ppt/tableStyles.xml" Id="R747480ebdbd44a31" /><Relationship Type="http://schemas.openxmlformats.org/officeDocument/2006/relationships/slide" Target="/ppt/slides/slide1.xml" Id="Ra1ef93146e914bab" /><Relationship Type="http://schemas.openxmlformats.org/officeDocument/2006/relationships/slide" Target="/ppt/slides/slide2.xml" Id="R8ff0aab2f4d2486c" /><Relationship Type="http://schemas.openxmlformats.org/officeDocument/2006/relationships/slide" Target="/ppt/slides/slide3.xml" Id="R7c1a1bd0a290463e" /><Relationship Type="http://schemas.openxmlformats.org/officeDocument/2006/relationships/slide" Target="/ppt/slides/slide4.xml" Id="R49a984bc228047a9" /><Relationship Type="http://schemas.openxmlformats.org/officeDocument/2006/relationships/slide" Target="/ppt/slides/slide5.xml" Id="R928198c8f3ef4b0a" /><Relationship Type="http://schemas.openxmlformats.org/officeDocument/2006/relationships/slide" Target="/ppt/slides/slide6.xml" Id="Rce1a922d909d419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605c0bcd9db415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6a87995d0454c65" /><Relationship Type="http://schemas.openxmlformats.org/officeDocument/2006/relationships/notesMaster" Target="/ppt/notesMasters/notesMaster1.xml" Id="R8ab24465fa9a4674" /></Relationships>
</file>

<file path=ppt/notesSlides/_rels/notesSlide2.xml.rels>&#65279;<?xml version="1.0" encoding="utf-8"?><Relationships xmlns="http://schemas.openxmlformats.org/package/2006/relationships"><Relationship Type="http://schemas.openxmlformats.org/officeDocument/2006/relationships/slide" Target="/ppt/slides/slide2.xml" Id="R1644d5afaddd4e82" /><Relationship Type="http://schemas.openxmlformats.org/officeDocument/2006/relationships/notesMaster" Target="/ppt/notesMasters/notesMaster1.xml" Id="Rf6df104db55344a0" /></Relationships>
</file>

<file path=ppt/notesSlides/_rels/notesSlide3.xml.rels>&#65279;<?xml version="1.0" encoding="utf-8"?><Relationships xmlns="http://schemas.openxmlformats.org/package/2006/relationships"><Relationship Type="http://schemas.openxmlformats.org/officeDocument/2006/relationships/slide" Target="/ppt/slides/slide3.xml" Id="Rfca949d9142f46c8" /><Relationship Type="http://schemas.openxmlformats.org/officeDocument/2006/relationships/notesMaster" Target="/ppt/notesMasters/notesMaster1.xml" Id="R5aa646443ad44818" /></Relationships>
</file>

<file path=ppt/notesSlides/_rels/notesSlide4.xml.rels>&#65279;<?xml version="1.0" encoding="utf-8"?><Relationships xmlns="http://schemas.openxmlformats.org/package/2006/relationships"><Relationship Type="http://schemas.openxmlformats.org/officeDocument/2006/relationships/slide" Target="/ppt/slides/slide4.xml" Id="Raa523659ae3248c6" /><Relationship Type="http://schemas.openxmlformats.org/officeDocument/2006/relationships/notesMaster" Target="/ppt/notesMasters/notesMaster1.xml" Id="R5fe0ff05197f4b65" /></Relationships>
</file>

<file path=ppt/notesSlides/_rels/notesSlide5.xml.rels>&#65279;<?xml version="1.0" encoding="utf-8"?><Relationships xmlns="http://schemas.openxmlformats.org/package/2006/relationships"><Relationship Type="http://schemas.openxmlformats.org/officeDocument/2006/relationships/slide" Target="/ppt/slides/slide5.xml" Id="Rededb95af5a34cfa" /><Relationship Type="http://schemas.openxmlformats.org/officeDocument/2006/relationships/notesMaster" Target="/ppt/notesMasters/notesMaster1.xml" Id="Re69d7c5ecec442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2b8e64558d0842fe" /><Relationship Type="http://schemas.openxmlformats.org/officeDocument/2006/relationships/notesMaster" Target="/ppt/notesMasters/notesMaster1.xml" Id="R77506f5a11a847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explains the implemented soka-metaheuristic project. Numerical result slides are intentionally omitted until the 165,000-row source dataset is available and the 60-run experiment completes.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accepts SMA, AO, or SMA,AO through run.sh. The server build passed. The public trace download did not yet produce the required 165,000 clean rows, so this deck does not invent performance numbers.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Java implementation defines VM hostId and datacenter fields, then uses StaticVmAllocationPolicy to map VM IDs 0-1 to Host 0, 2-3 to Host 1, 4-5 to Host 2, and 6-7 to Host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Java loop advances one global cursor after every chunk. The validator checks that each algorithm has 30 unique ranges and that every range remains within rows 1 through 165,000.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implementation uses a population of eight candidates and twelve iterations. SMA and AO use different update rules but share the same repair function, objective, VM specifications, and CloudSim execution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was compiled successfully on the server. The numerical comparison remains pending because the server does not yet contain the required 165,000-row workload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e8ff3012439464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76e9832c6a4498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61ba5835c2c473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0b4259b5a914d5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4757adec09d410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72a197207dc465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97978C-8282-4FFE-8A68-C10205F4B1C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0801F03-CD12-4623-AFCB-E55D8C4F7A9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03E30A1-0E85-418E-91D4-9D977E38C0D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5B20108-E75E-4D32-BBF8-CB8261D6B8B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3109D93-869F-4C4F-9DE8-24A44DFB873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85F5F87-2CBC-4F3A-96F7-5EE4866E0A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11BEEDB-3E80-405F-8A9E-C8F6C33CB46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CF8F289-E69F-44CA-A90F-0C3F9E3988A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EE202E8-7281-482F-8B59-E1A9C15D785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854BCBA-75E6-4B6E-9579-98439B301FD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9fdce5055b6425a" /><Relationship Type="http://schemas.openxmlformats.org/officeDocument/2006/relationships/slideLayout" Target="/ppt/slideLayouts/slideLayout1.xml" Id="R7ceb906833a64a14" /><Relationship Type="http://schemas.openxmlformats.org/officeDocument/2006/relationships/slideLayout" Target="/ppt/slideLayouts/slideLayout2.xml" Id="Rc5efc2669f2b4969" /><Relationship Type="http://schemas.openxmlformats.org/officeDocument/2006/relationships/slideLayout" Target="/ppt/slideLayouts/slideLayout3.xml" Id="R254b750048414602" /><Relationship Type="http://schemas.openxmlformats.org/officeDocument/2006/relationships/slideLayout" Target="/ppt/slideLayouts/slideLayout4.xml" Id="Rbcd0b1df639e4a22" /><Relationship Type="http://schemas.openxmlformats.org/officeDocument/2006/relationships/slideLayout" Target="/ppt/slideLayouts/slideLayout5.xml" Id="R75edcf5c1e2048d3" /><Relationship Type="http://schemas.openxmlformats.org/officeDocument/2006/relationships/slideLayout" Target="/ppt/slideLayouts/slideLayout6.xml" Id="R089b72ac324e473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ceb906833a64a14"/>
    <p:sldLayoutId xmlns:r="http://schemas.openxmlformats.org/officeDocument/2006/relationships" id="2147483650" r:id="Rc5efc2669f2b4969"/>
    <p:sldLayoutId xmlns:r="http://schemas.openxmlformats.org/officeDocument/2006/relationships" id="2147483651" r:id="R254b750048414602"/>
    <p:sldLayoutId xmlns:r="http://schemas.openxmlformats.org/officeDocument/2006/relationships" id="2147483652" r:id="Rbcd0b1df639e4a22"/>
    <p:sldLayoutId xmlns:r="http://schemas.openxmlformats.org/officeDocument/2006/relationships" id="2147483653" r:id="R75edcf5c1e2048d3"/>
    <p:sldLayoutId xmlns:r="http://schemas.openxmlformats.org/officeDocument/2006/relationships" id="2147483654" r:id="R089b72ac324e473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f926fa8734e4b95" /><Relationship Type="http://schemas.openxmlformats.org/officeDocument/2006/relationships/notesSlide" Target="/ppt/notesSlides/notesSlide1.xml" Id="R8078e537848a4cb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91d507c9e0541a1" /><Relationship Type="http://schemas.openxmlformats.org/officeDocument/2006/relationships/notesSlide" Target="/ppt/notesSlides/notesSlide2.xml" Id="R27ce92307080428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5c9fa0b8a974a40" /><Relationship Type="http://schemas.openxmlformats.org/officeDocument/2006/relationships/notesSlide" Target="/ppt/notesSlides/notesSlide3.xml" Id="R899ab1033c0a43b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3a8cf516c124310" /><Relationship Type="http://schemas.openxmlformats.org/officeDocument/2006/relationships/notesSlide" Target="/ppt/notesSlides/notesSlide4.xml" Id="R5985b2930da8475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aa5ce9688f0418b" /><Relationship Type="http://schemas.openxmlformats.org/officeDocument/2006/relationships/notesSlide" Target="/ppt/notesSlides/notesSlide5.xml" Id="R4b8c2fd5811e4a1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d969e6c2a034bbe" /><Relationship Type="http://schemas.openxmlformats.org/officeDocument/2006/relationships/notesSlide" Target="/ppt/notesSlides/notesSlide6.xml" Id="R0678d42b57714413" /></Relationships>
</file>

<file path=ppt/slides/slide1.xml><?xml version="1.0" encoding="utf-8"?>
<p:sld xmlns:p="http://schemas.openxmlformats.org/presentationml/2006/main">
  <p:cSld>
    <p:bg>
      <p:bgPr>
        <a:solidFill xmlns:a="http://schemas.openxmlformats.org/drawingml/2006/main">
          <a:srgbClr val="12263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2561F52-0EBC-4A09-92A1-B3267B4AE6B1}"/>
              </a:ext>
            </a:extLst>
          </p:cNvPr>
          <p:cNvSpPr>
            <a:spLocks xmlns:a="http://schemas.openxmlformats.org/drawingml/2006/main" noGrp="1"/>
          </p:cNvSpPr>
          <p:nvPr/>
        </p:nvSpPr>
        <p:spPr>
          <a:xfrm xmlns:a="http://schemas.openxmlformats.org/drawingml/2006/main">
            <a:off x="609600" y="838200"/>
            <a:ext cx="114300" cy="4000500"/>
          </a:xfrm>
          <a:prstGeom xmlns:a="http://schemas.openxmlformats.org/drawingml/2006/main" prst="rect">
            <a:avLst/>
          </a:prstGeom>
          <a:solidFill xmlns:a="http://schemas.openxmlformats.org/drawingml/2006/main">
            <a:srgbClr val="ED7D3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1A1CAC8-ACBF-4219-BC78-E8E348A3131F}"/>
              </a:ext>
            </a:extLst>
          </p:cNvPr>
          <p:cNvSpPr>
            <a:spLocks xmlns:a="http://schemas.openxmlformats.org/drawingml/2006/main" noGrp="1"/>
          </p:cNvSpPr>
          <p:nvPr/>
        </p:nvSpPr>
        <p:spPr>
          <a:xfrm xmlns:a="http://schemas.openxmlformats.org/drawingml/2006/main">
            <a:off x="1047750" y="1000125"/>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1">
                <a:solidFill>
                  <a:srgbClr val="B9D9F2"/>
                </a:solidFill>
                <a:latin typeface="Arial"/>
                <a:ea typeface="Arial"/>
                <a:cs typeface="Arial"/>
              </a:defRPr>
            </a:defPPr>
          </a:lstStyle>
          <a:p xmlns:a="http://schemas.openxmlformats.org/drawingml/2006/main">
            <a:pPr algn="l">
              <a:defRPr sz="1200" b="1">
                <a:solidFill>
                  <a:srgbClr val="B9D9F2"/>
                </a:solidFill>
                <a:latin typeface="Arial"/>
                <a:ea typeface="Arial"/>
                <a:cs typeface="Arial"/>
              </a:defRPr>
            </a:pPr>
            <a:r>
              <a:rPr sz="1200" b="1">
                <a:solidFill>
                  <a:srgbClr val="B9D9F2"/>
                </a:solidFill>
                <a:latin typeface="Arial"/>
                <a:ea typeface="Arial"/>
                <a:cs typeface="Arial"/>
              </a:rPr>
              <a:t>SOKA METAHEURISTIC SCHEDULING</a:t>
            </a:r>
          </a:p>
        </p:txBody>
      </p:sp>
      <p:sp>
        <p:nvSpPr>
          <p:cNvPr id="3" name="">
            <a:extLst xmlns:a="http://schemas.openxmlformats.org/drawingml/2006/main">
              <a:ext uri="{FF2B5EF4-FFF2-40B4-BE49-F238E27FC236}">
                <a16:creationId xmlns:a16="http://schemas.microsoft.com/office/drawing/2014/main" id="{8D49EE09-2EDF-478C-835B-C70710F1000A}"/>
              </a:ext>
            </a:extLst>
          </p:cNvPr>
          <p:cNvSpPr>
            <a:spLocks xmlns:a="http://schemas.openxmlformats.org/drawingml/2006/main" noGrp="1"/>
          </p:cNvSpPr>
          <p:nvPr/>
        </p:nvSpPr>
        <p:spPr>
          <a:xfrm xmlns:a="http://schemas.openxmlformats.org/drawingml/2006/main">
            <a:off x="1047750" y="1619250"/>
            <a:ext cx="9525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600" b="1">
                <a:solidFill>
                  <a:srgbClr val="FFFFFF"/>
                </a:solidFill>
                <a:latin typeface="Arial"/>
                <a:ea typeface="Arial"/>
                <a:cs typeface="Arial"/>
              </a:defRPr>
            </a:defPPr>
          </a:lstStyle>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SMA and Aquila Optimizer</a:t>
            </a:r>
          </a:p>
        </p:txBody>
      </p:sp>
      <p:sp>
        <p:nvSpPr>
          <p:cNvPr id="4" name="">
            <a:extLst xmlns:a="http://schemas.openxmlformats.org/drawingml/2006/main">
              <a:ext uri="{FF2B5EF4-FFF2-40B4-BE49-F238E27FC236}">
                <a16:creationId xmlns:a16="http://schemas.microsoft.com/office/drawing/2014/main" id="{37C7B27D-B5F6-412A-A73E-1B9DD030941D}"/>
              </a:ext>
            </a:extLst>
          </p:cNvPr>
          <p:cNvSpPr>
            <a:spLocks xmlns:a="http://schemas.openxmlformats.org/drawingml/2006/main" noGrp="1"/>
          </p:cNvSpPr>
          <p:nvPr/>
        </p:nvSpPr>
        <p:spPr>
          <a:xfrm xmlns:a="http://schemas.openxmlformats.org/drawingml/2006/main">
            <a:off x="1047750" y="2952750"/>
            <a:ext cx="8191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75" b="0">
                <a:solidFill>
                  <a:srgbClr val="D7E6F2"/>
                </a:solidFill>
                <a:latin typeface="Arial"/>
                <a:ea typeface="Arial"/>
                <a:cs typeface="Arial"/>
              </a:defRPr>
            </a:defPPr>
          </a:lstStyle>
          <a:p xmlns:a="http://schemas.openxmlformats.org/drawingml/2006/main">
            <a:pPr algn="l">
              <a:defRPr sz="1875" b="0">
                <a:solidFill>
                  <a:srgbClr val="D7E6F2"/>
                </a:solidFill>
                <a:latin typeface="Arial"/>
                <a:ea typeface="Arial"/>
                <a:cs typeface="Arial"/>
              </a:defRPr>
            </a:pPr>
            <a:r>
              <a:rPr sz="1875" b="0">
                <a:solidFill>
                  <a:srgbClr val="D7E6F2"/>
                </a:solidFill>
                <a:latin typeface="Arial"/>
                <a:ea typeface="Arial"/>
                <a:cs typeface="Arial"/>
              </a:rPr>
              <a:t>A static CloudSim topology with complete workload-size comparisons from 1,000 to 10,000 cloudlets</a:t>
            </a:r>
          </a:p>
        </p:txBody>
      </p:sp>
      <p:sp>
        <p:nvSpPr>
          <p:cNvPr id="5" name="">
            <a:extLst xmlns:a="http://schemas.openxmlformats.org/drawingml/2006/main">
              <a:ext uri="{FF2B5EF4-FFF2-40B4-BE49-F238E27FC236}">
                <a16:creationId xmlns:a16="http://schemas.microsoft.com/office/drawing/2014/main" id="{71DA10E6-CA25-48A1-B76F-EBD149259065}"/>
              </a:ext>
            </a:extLst>
          </p:cNvPr>
          <p:cNvSpPr>
            <a:spLocks xmlns:a="http://schemas.openxmlformats.org/drawingml/2006/main" noGrp="1"/>
          </p:cNvSpPr>
          <p:nvPr/>
        </p:nvSpPr>
        <p:spPr>
          <a:xfrm xmlns:a="http://schemas.openxmlformats.org/drawingml/2006/main">
            <a:off x="1047750" y="48958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350" b="1">
                <a:solidFill>
                  <a:srgbClr val="ED7D31"/>
                </a:solidFill>
                <a:latin typeface="Arial"/>
                <a:ea typeface="Arial"/>
                <a:cs typeface="Arial"/>
              </a:defRPr>
            </a:defPPr>
          </a:lstStyle>
          <a:p xmlns:a="http://schemas.openxmlformats.org/drawingml/2006/main">
            <a:pPr algn="l">
              <a:defRPr sz="1350" b="1">
                <a:solidFill>
                  <a:srgbClr val="ED7D31"/>
                </a:solidFill>
                <a:latin typeface="Arial"/>
                <a:ea typeface="Arial"/>
                <a:cs typeface="Arial"/>
              </a:defRPr>
            </a:pPr>
            <a:r>
              <a:rPr sz="1350" b="1">
                <a:solidFill>
                  <a:srgbClr val="ED7D31"/>
                </a:solidFill>
                <a:latin typeface="Arial"/>
                <a:ea typeface="Arial"/>
                <a:cs typeface="Arial"/>
              </a:rPr>
              <a:t>Implementation and experiment design</a:t>
            </a:r>
          </a:p>
        </p:txBody>
      </p:sp>
      <p:sp>
        <p:nvSpPr>
          <p:cNvPr id="6" name="">
            <a:extLst xmlns:a="http://schemas.openxmlformats.org/drawingml/2006/main">
              <a:ext uri="{FF2B5EF4-FFF2-40B4-BE49-F238E27FC236}">
                <a16:creationId xmlns:a16="http://schemas.microsoft.com/office/drawing/2014/main" id="{9091FDC0-2E91-4A6A-AB8B-C39C42E73EDF}"/>
              </a:ext>
            </a:extLst>
          </p:cNvPr>
          <p:cNvSpPr>
            <a:spLocks xmlns:a="http://schemas.openxmlformats.org/drawingml/2006/main" noGrp="1"/>
          </p:cNvSpPr>
          <p:nvPr/>
        </p:nvSpPr>
        <p:spPr>
          <a:xfrm xmlns:a="http://schemas.openxmlformats.org/drawingml/2006/main">
            <a:off x="1047750" y="52482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B9D9F2"/>
                </a:solidFill>
                <a:latin typeface="Arial"/>
                <a:ea typeface="Arial"/>
                <a:cs typeface="Arial"/>
              </a:defRPr>
            </a:defPPr>
          </a:lstStyle>
          <a:p xmlns:a="http://schemas.openxmlformats.org/drawingml/2006/main">
            <a:pPr algn="l">
              <a:defRPr sz="1200" b="0">
                <a:solidFill>
                  <a:srgbClr val="B9D9F2"/>
                </a:solidFill>
                <a:latin typeface="Arial"/>
                <a:ea typeface="Arial"/>
                <a:cs typeface="Arial"/>
              </a:defRPr>
            </a:pPr>
            <a:r>
              <a:rPr sz="1200" b="0">
                <a:solidFill>
                  <a:srgbClr val="B9D9F2"/>
                </a:solidFill>
                <a:latin typeface="Arial"/>
                <a:ea typeface="Arial"/>
                <a:cs typeface="Arial"/>
              </a:rPr>
              <a:t>Prepared from the verified project configuration</a:t>
            </a:r>
          </a:p>
        </p:txBody>
      </p:sp>
    </p:spTree>
    <p:extLst>
      <p:ext uri="{BB962C8B-B14F-4D97-AF65-F5344CB8AC3E}">
        <p14:creationId xmlns:p14="http://schemas.microsoft.com/office/powerpoint/2010/main" val="105328871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7F483B0-C94B-4A37-A7F3-9FF9A645EAE1}"/>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050" b="1">
                <a:solidFill>
                  <a:srgbClr val="2F75B5"/>
                </a:solidFill>
                <a:latin typeface="Arial"/>
                <a:ea typeface="Arial"/>
                <a:cs typeface="Arial"/>
              </a:defRPr>
            </a:defPPr>
          </a:lstStyle>
          <a:p xmlns:a="http://schemas.openxmlformats.org/drawingml/2006/main">
            <a:pPr algn="l">
              <a:defRPr sz="1050" b="1">
                <a:solidFill>
                  <a:srgbClr val="2F75B5"/>
                </a:solidFill>
                <a:latin typeface="Arial"/>
                <a:ea typeface="Arial"/>
                <a:cs typeface="Arial"/>
              </a:defRPr>
            </a:pPr>
            <a:r>
              <a:rPr sz="1050" b="1">
                <a:solidFill>
                  <a:srgbClr val="2F75B5"/>
                </a:solidFill>
                <a:latin typeface="Arial"/>
                <a:ea typeface="Arial"/>
                <a:cs typeface="Arial"/>
              </a:rPr>
              <a:t>WHAT THE NEW PROJECT TESTS</a:t>
            </a:r>
          </a:p>
        </p:txBody>
      </p:sp>
      <p:sp>
        <p:nvSpPr>
          <p:cNvPr id="2" name="">
            <a:extLst xmlns:a="http://schemas.openxmlformats.org/drawingml/2006/main">
              <a:ext uri="{FF2B5EF4-FFF2-40B4-BE49-F238E27FC236}">
                <a16:creationId xmlns:a16="http://schemas.microsoft.com/office/drawing/2014/main" id="{15A946AF-1700-440D-9B51-45553934266F}"/>
              </a:ext>
            </a:extLst>
          </p:cNvPr>
          <p:cNvSpPr>
            <a:spLocks xmlns:a="http://schemas.openxmlformats.org/drawingml/2006/main" noGrp="1"/>
          </p:cNvSpPr>
          <p:nvPr/>
        </p:nvSpPr>
        <p:spPr>
          <a:xfrm xmlns:a="http://schemas.openxmlformats.org/drawingml/2006/main">
            <a:off x="609600" y="61912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1">
                <a:solidFill>
                  <a:srgbClr val="12263A"/>
                </a:solidFill>
                <a:latin typeface="Arial"/>
                <a:ea typeface="Arial"/>
                <a:cs typeface="Arial"/>
              </a:defRPr>
            </a:defPPr>
          </a:lstStyle>
          <a:p xmlns:a="http://schemas.openxmlformats.org/drawingml/2006/main">
            <a:pPr algn="l">
              <a:defRPr sz="2550" b="1">
                <a:solidFill>
                  <a:srgbClr val="12263A"/>
                </a:solidFill>
                <a:latin typeface="Arial"/>
                <a:ea typeface="Arial"/>
                <a:cs typeface="Arial"/>
              </a:defRPr>
            </a:pPr>
            <a:r>
              <a:rPr sz="2550" b="1">
                <a:solidFill>
                  <a:srgbClr val="12263A"/>
                </a:solidFill>
                <a:latin typeface="Arial"/>
                <a:ea typeface="Arial"/>
                <a:cs typeface="Arial"/>
              </a:rPr>
              <a:t>Experiment scope</a:t>
            </a:r>
          </a:p>
        </p:txBody>
      </p:sp>
      <p:sp>
        <p:nvSpPr>
          <p:cNvPr id="3" name="">
            <a:extLst xmlns:a="http://schemas.openxmlformats.org/drawingml/2006/main">
              <a:ext uri="{FF2B5EF4-FFF2-40B4-BE49-F238E27FC236}">
                <a16:creationId xmlns:a16="http://schemas.microsoft.com/office/drawing/2014/main" id="{C95C73C9-53B2-4134-998D-21D0C7D4E2AB}"/>
              </a:ext>
            </a:extLst>
          </p:cNvPr>
          <p:cNvSpPr>
            <a:spLocks xmlns:a="http://schemas.openxmlformats.org/drawingml/2006/main" noGrp="1"/>
          </p:cNvSpPr>
          <p:nvPr/>
        </p:nvSpPr>
        <p:spPr>
          <a:xfrm xmlns:a="http://schemas.openxmlformats.org/drawingml/2006/main">
            <a:off x="609600" y="131445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203040"/>
                </a:solidFill>
                <a:latin typeface="Arial"/>
                <a:ea typeface="Arial"/>
                <a:cs typeface="Arial"/>
              </a:defRPr>
            </a:defPPr>
          </a:lstStyle>
          <a:p xmlns:a="http://schemas.openxmlformats.org/drawingml/2006/main">
            <a:pPr algn="l">
              <a:defRPr sz="1800" b="1">
                <a:solidFill>
                  <a:srgbClr val="203040"/>
                </a:solidFill>
                <a:latin typeface="Arial"/>
                <a:ea typeface="Arial"/>
                <a:cs typeface="Arial"/>
              </a:defRPr>
            </a:pPr>
            <a:r>
              <a:rPr sz="1800" b="1">
                <a:solidFill>
                  <a:srgbClr val="203040"/>
                </a:solidFill>
                <a:latin typeface="Arial"/>
                <a:ea typeface="Arial"/>
                <a:cs typeface="Arial"/>
              </a:rPr>
              <a:t>Two optimizers solve the same scheduling problem under the same infrastructure and cost model.</a:t>
            </a:r>
          </a:p>
        </p:txBody>
      </p:sp>
      <p:sp>
        <p:nvSpPr>
          <p:cNvPr id="4" name="">
            <a:extLst xmlns:a="http://schemas.openxmlformats.org/drawingml/2006/main">
              <a:ext uri="{FF2B5EF4-FFF2-40B4-BE49-F238E27FC236}">
                <a16:creationId xmlns:a16="http://schemas.microsoft.com/office/drawing/2014/main" id="{C7E1D19E-B77D-4A78-A174-81668986324C}"/>
              </a:ext>
            </a:extLst>
          </p:cNvPr>
          <p:cNvSpPr>
            <a:spLocks xmlns:a="http://schemas.openxmlformats.org/drawingml/2006/main" noGrp="1"/>
          </p:cNvSpPr>
          <p:nvPr/>
        </p:nvSpPr>
        <p:spPr>
          <a:xfrm xmlns:a="http://schemas.openxmlformats.org/drawingml/2006/main">
            <a:off x="609600" y="2076450"/>
            <a:ext cx="4953000" cy="2952750"/>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5" name="">
            <a:extLst xmlns:a="http://schemas.openxmlformats.org/drawingml/2006/main">
              <a:ext uri="{FF2B5EF4-FFF2-40B4-BE49-F238E27FC236}">
                <a16:creationId xmlns:a16="http://schemas.microsoft.com/office/drawing/2014/main" id="{A8A67562-4ECC-4CF4-9A88-72413E7E987A}"/>
              </a:ext>
            </a:extLst>
          </p:cNvPr>
          <p:cNvSpPr>
            <a:spLocks xmlns:a="http://schemas.openxmlformats.org/drawingml/2006/main" noGrp="1"/>
          </p:cNvSpPr>
          <p:nvPr/>
        </p:nvSpPr>
        <p:spPr>
          <a:xfrm xmlns:a="http://schemas.openxmlformats.org/drawingml/2006/main">
            <a:off x="5943600" y="2076450"/>
            <a:ext cx="5638800" cy="2952750"/>
          </a:xfrm>
          <a:prstGeom xmlns:a="http://schemas.openxmlformats.org/drawingml/2006/main" prst="rect">
            <a:avLst/>
          </a:prstGeom>
          <a:solidFill xmlns:a="http://schemas.openxmlformats.org/drawingml/2006/main">
            <a:srgbClr val="FFF5ED"/>
          </a:solidFill>
          <a:ln xmlns:a="http://schemas.openxmlformats.org/drawingml/2006/main" w="9525">
            <a:solidFill>
              <a:srgbClr val="F3C7A2"/>
            </a:solidFill>
          </a:ln>
        </p:spPr>
      </p:sp>
      <p:sp>
        <p:nvSpPr>
          <p:cNvPr id="6" name="">
            <a:extLst xmlns:a="http://schemas.openxmlformats.org/drawingml/2006/main">
              <a:ext uri="{FF2B5EF4-FFF2-40B4-BE49-F238E27FC236}">
                <a16:creationId xmlns:a16="http://schemas.microsoft.com/office/drawing/2014/main" id="{862B33E0-764E-4C8D-AB46-FE0AA4B62A7A}"/>
              </a:ext>
            </a:extLst>
          </p:cNvPr>
          <p:cNvSpPr>
            <a:spLocks xmlns:a="http://schemas.openxmlformats.org/drawingml/2006/main" noGrp="1"/>
          </p:cNvSpPr>
          <p:nvPr/>
        </p:nvSpPr>
        <p:spPr>
          <a:xfrm xmlns:a="http://schemas.openxmlformats.org/drawingml/2006/main">
            <a:off x="895350" y="2381250"/>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650" b="1">
                <a:solidFill>
                  <a:srgbClr val="2F75B5"/>
                </a:solidFill>
                <a:latin typeface="Arial"/>
                <a:ea typeface="Arial"/>
                <a:cs typeface="Arial"/>
              </a:defRPr>
            </a:defPPr>
          </a:lstStyle>
          <a:p xmlns:a="http://schemas.openxmlformats.org/drawingml/2006/main">
            <a:pPr algn="l">
              <a:defRPr sz="1650" b="1">
                <a:solidFill>
                  <a:srgbClr val="2F75B5"/>
                </a:solidFill>
                <a:latin typeface="Arial"/>
                <a:ea typeface="Arial"/>
                <a:cs typeface="Arial"/>
              </a:defRPr>
            </a:pPr>
            <a:r>
              <a:rPr sz="1650" b="1">
                <a:solidFill>
                  <a:srgbClr val="2F75B5"/>
                </a:solidFill>
                <a:latin typeface="Arial"/>
                <a:ea typeface="Arial"/>
                <a:cs typeface="Arial"/>
              </a:rPr>
              <a:t>Algorithms</a:t>
            </a:r>
          </a:p>
        </p:txBody>
      </p:sp>
      <p:sp>
        <p:nvSpPr>
          <p:cNvPr id="7" name="">
            <a:extLst xmlns:a="http://schemas.openxmlformats.org/drawingml/2006/main">
              <a:ext uri="{FF2B5EF4-FFF2-40B4-BE49-F238E27FC236}">
                <a16:creationId xmlns:a16="http://schemas.microsoft.com/office/drawing/2014/main" id="{A97799C7-73FF-480E-9DD1-0A9D69EFDF54}"/>
              </a:ext>
            </a:extLst>
          </p:cNvPr>
          <p:cNvSpPr>
            <a:spLocks xmlns:a="http://schemas.openxmlformats.org/drawingml/2006/main" noGrp="1"/>
          </p:cNvSpPr>
          <p:nvPr/>
        </p:nvSpPr>
        <p:spPr>
          <a:xfrm xmlns:a="http://schemas.openxmlformats.org/drawingml/2006/main">
            <a:off x="895350" y="2857500"/>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650" b="0">
                <a:solidFill>
                  <a:srgbClr val="203040"/>
                </a:solidFill>
                <a:latin typeface="Arial"/>
                <a:ea typeface="Arial"/>
                <a:cs typeface="Arial"/>
              </a:defRPr>
            </a:defPPr>
          </a:lstStyle>
          <a:p xmlns:a="http://schemas.openxmlformats.org/drawingml/2006/main">
            <a:pPr algn="l">
              <a:defRPr sz="1650" b="0">
                <a:solidFill>
                  <a:srgbClr val="203040"/>
                </a:solidFill>
                <a:latin typeface="Arial"/>
                <a:ea typeface="Arial"/>
                <a:cs typeface="Arial"/>
              </a:defRPr>
            </a:pPr>
            <a:r>
              <a:rPr sz="1650" b="0">
                <a:solidFill>
                  <a:srgbClr val="203040"/>
                </a:solidFill>
                <a:latin typeface="Arial"/>
                <a:ea typeface="Arial"/>
                <a:cs typeface="Arial"/>
              </a:rPr>
              <a:t>• Slime Mould Algorithm (SMA)</a:t>
            </a:r>
          </a:p>
        </p:txBody>
      </p:sp>
      <p:sp>
        <p:nvSpPr>
          <p:cNvPr id="8" name="">
            <a:extLst xmlns:a="http://schemas.openxmlformats.org/drawingml/2006/main">
              <a:ext uri="{FF2B5EF4-FFF2-40B4-BE49-F238E27FC236}">
                <a16:creationId xmlns:a16="http://schemas.microsoft.com/office/drawing/2014/main" id="{CAC46972-8637-4F96-BE22-D1DE5E3691B8}"/>
              </a:ext>
            </a:extLst>
          </p:cNvPr>
          <p:cNvSpPr>
            <a:spLocks xmlns:a="http://schemas.openxmlformats.org/drawingml/2006/main" noGrp="1"/>
          </p:cNvSpPr>
          <p:nvPr/>
        </p:nvSpPr>
        <p:spPr>
          <a:xfrm xmlns:a="http://schemas.openxmlformats.org/drawingml/2006/main">
            <a:off x="895350" y="3257550"/>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650" b="0">
                <a:solidFill>
                  <a:srgbClr val="203040"/>
                </a:solidFill>
                <a:latin typeface="Arial"/>
                <a:ea typeface="Arial"/>
                <a:cs typeface="Arial"/>
              </a:defRPr>
            </a:defPPr>
          </a:lstStyle>
          <a:p xmlns:a="http://schemas.openxmlformats.org/drawingml/2006/main">
            <a:pPr algn="l">
              <a:defRPr sz="1650" b="0">
                <a:solidFill>
                  <a:srgbClr val="203040"/>
                </a:solidFill>
                <a:latin typeface="Arial"/>
                <a:ea typeface="Arial"/>
                <a:cs typeface="Arial"/>
              </a:defRPr>
            </a:pPr>
            <a:r>
              <a:rPr sz="1650" b="0">
                <a:solidFill>
                  <a:srgbClr val="203040"/>
                </a:solidFill>
                <a:latin typeface="Arial"/>
                <a:ea typeface="Arial"/>
                <a:cs typeface="Arial"/>
              </a:rPr>
              <a:t>• Aquila Optimizer (AO)</a:t>
            </a:r>
          </a:p>
        </p:txBody>
      </p:sp>
      <p:sp>
        <p:nvSpPr>
          <p:cNvPr id="9" name="">
            <a:extLst xmlns:a="http://schemas.openxmlformats.org/drawingml/2006/main">
              <a:ext uri="{FF2B5EF4-FFF2-40B4-BE49-F238E27FC236}">
                <a16:creationId xmlns:a16="http://schemas.microsoft.com/office/drawing/2014/main" id="{498D120E-78C6-4205-8D84-395C7E8CD975}"/>
              </a:ext>
            </a:extLst>
          </p:cNvPr>
          <p:cNvSpPr>
            <a:spLocks xmlns:a="http://schemas.openxmlformats.org/drawingml/2006/main" noGrp="1"/>
          </p:cNvSpPr>
          <p:nvPr/>
        </p:nvSpPr>
        <p:spPr>
          <a:xfrm xmlns:a="http://schemas.openxmlformats.org/drawingml/2006/main">
            <a:off x="895350" y="3657600"/>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650" b="0">
                <a:solidFill>
                  <a:srgbClr val="203040"/>
                </a:solidFill>
                <a:latin typeface="Arial"/>
                <a:ea typeface="Arial"/>
                <a:cs typeface="Arial"/>
              </a:defRPr>
            </a:defPPr>
          </a:lstStyle>
          <a:p xmlns:a="http://schemas.openxmlformats.org/drawingml/2006/main">
            <a:pPr algn="l">
              <a:defRPr sz="1650" b="0">
                <a:solidFill>
                  <a:srgbClr val="203040"/>
                </a:solidFill>
                <a:latin typeface="Arial"/>
                <a:ea typeface="Arial"/>
                <a:cs typeface="Arial"/>
              </a:defRPr>
            </a:pPr>
            <a:r>
              <a:rPr sz="1650" b="0">
                <a:solidFill>
                  <a:srgbClr val="203040"/>
                </a:solidFill>
                <a:latin typeface="Arial"/>
                <a:ea typeface="Arial"/>
                <a:cs typeface="Arial"/>
              </a:rPr>
              <a:t>• Same 60:40 time-to-cost objective</a:t>
            </a:r>
          </a:p>
        </p:txBody>
      </p:sp>
      <p:sp>
        <p:nvSpPr>
          <p:cNvPr id="10" name="">
            <a:extLst xmlns:a="http://schemas.openxmlformats.org/drawingml/2006/main">
              <a:ext uri="{FF2B5EF4-FFF2-40B4-BE49-F238E27FC236}">
                <a16:creationId xmlns:a16="http://schemas.microsoft.com/office/drawing/2014/main" id="{159C32AC-65E4-460D-861E-200C6B8A4625}"/>
              </a:ext>
            </a:extLst>
          </p:cNvPr>
          <p:cNvSpPr>
            <a:spLocks xmlns:a="http://schemas.openxmlformats.org/drawingml/2006/main" noGrp="1"/>
          </p:cNvSpPr>
          <p:nvPr/>
        </p:nvSpPr>
        <p:spPr>
          <a:xfrm xmlns:a="http://schemas.openxmlformats.org/drawingml/2006/main">
            <a:off x="6229350" y="238125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650" b="1">
                <a:solidFill>
                  <a:srgbClr val="ED7D31"/>
                </a:solidFill>
                <a:latin typeface="Arial"/>
                <a:ea typeface="Arial"/>
                <a:cs typeface="Arial"/>
              </a:defRPr>
            </a:defPPr>
          </a:lstStyle>
          <a:p xmlns:a="http://schemas.openxmlformats.org/drawingml/2006/main">
            <a:pPr algn="l">
              <a:defRPr sz="1650" b="1">
                <a:solidFill>
                  <a:srgbClr val="ED7D31"/>
                </a:solidFill>
                <a:latin typeface="Arial"/>
                <a:ea typeface="Arial"/>
                <a:cs typeface="Arial"/>
              </a:defRPr>
            </a:pPr>
            <a:r>
              <a:rPr sz="1650" b="1">
                <a:solidFill>
                  <a:srgbClr val="ED7D31"/>
                </a:solidFill>
                <a:latin typeface="Arial"/>
                <a:ea typeface="Arial"/>
                <a:cs typeface="Arial"/>
              </a:rPr>
              <a:t>Experiment status</a:t>
            </a:r>
          </a:p>
        </p:txBody>
      </p:sp>
      <p:sp>
        <p:nvSpPr>
          <p:cNvPr id="11" name="">
            <a:extLst xmlns:a="http://schemas.openxmlformats.org/drawingml/2006/main">
              <a:ext uri="{FF2B5EF4-FFF2-40B4-BE49-F238E27FC236}">
                <a16:creationId xmlns:a16="http://schemas.microsoft.com/office/drawing/2014/main" id="{71B3F83C-5256-4D24-9B3B-9DDCB8EC1815}"/>
              </a:ext>
            </a:extLst>
          </p:cNvPr>
          <p:cNvSpPr>
            <a:spLocks xmlns:a="http://schemas.openxmlformats.org/drawingml/2006/main" noGrp="1"/>
          </p:cNvSpPr>
          <p:nvPr/>
        </p:nvSpPr>
        <p:spPr>
          <a:xfrm xmlns:a="http://schemas.openxmlformats.org/drawingml/2006/main">
            <a:off x="6229350" y="28575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650" b="0">
                <a:solidFill>
                  <a:srgbClr val="203040"/>
                </a:solidFill>
                <a:latin typeface="Arial"/>
                <a:ea typeface="Arial"/>
                <a:cs typeface="Arial"/>
              </a:defRPr>
            </a:defPPr>
          </a:lstStyle>
          <a:p xmlns:a="http://schemas.openxmlformats.org/drawingml/2006/main">
            <a:pPr algn="l">
              <a:defRPr sz="1650" b="0">
                <a:solidFill>
                  <a:srgbClr val="203040"/>
                </a:solidFill>
                <a:latin typeface="Arial"/>
                <a:ea typeface="Arial"/>
                <a:cs typeface="Arial"/>
              </a:defRPr>
            </a:pPr>
            <a:r>
              <a:rPr sz="1650" b="0">
                <a:solidFill>
                  <a:srgbClr val="203040"/>
                </a:solidFill>
                <a:latin typeface="Arial"/>
                <a:ea typeface="Arial"/>
                <a:cs typeface="Arial"/>
              </a:rPr>
              <a:t>• Code compiled successfully on the server</a:t>
            </a:r>
          </a:p>
        </p:txBody>
      </p:sp>
      <p:sp>
        <p:nvSpPr>
          <p:cNvPr id="12" name="">
            <a:extLst xmlns:a="http://schemas.openxmlformats.org/drawingml/2006/main">
              <a:ext uri="{FF2B5EF4-FFF2-40B4-BE49-F238E27FC236}">
                <a16:creationId xmlns:a16="http://schemas.microsoft.com/office/drawing/2014/main" id="{DF45D67C-001C-4FC4-B763-0E0D2DD3B18C}"/>
              </a:ext>
            </a:extLst>
          </p:cNvPr>
          <p:cNvSpPr>
            <a:spLocks xmlns:a="http://schemas.openxmlformats.org/drawingml/2006/main" noGrp="1"/>
          </p:cNvSpPr>
          <p:nvPr/>
        </p:nvSpPr>
        <p:spPr>
          <a:xfrm xmlns:a="http://schemas.openxmlformats.org/drawingml/2006/main">
            <a:off x="6229350" y="325755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650" b="0">
                <a:solidFill>
                  <a:srgbClr val="203040"/>
                </a:solidFill>
                <a:latin typeface="Arial"/>
                <a:ea typeface="Arial"/>
                <a:cs typeface="Arial"/>
              </a:defRPr>
            </a:defPPr>
          </a:lstStyle>
          <a:p xmlns:a="http://schemas.openxmlformats.org/drawingml/2006/main">
            <a:pPr algn="l">
              <a:defRPr sz="1650" b="0">
                <a:solidFill>
                  <a:srgbClr val="203040"/>
                </a:solidFill>
                <a:latin typeface="Arial"/>
                <a:ea typeface="Arial"/>
                <a:cs typeface="Arial"/>
              </a:defRPr>
            </a:pPr>
            <a:r>
              <a:rPr sz="1650" b="0">
                <a:solidFill>
                  <a:srgbClr val="203040"/>
                </a:solidFill>
                <a:latin typeface="Arial"/>
                <a:ea typeface="Arial"/>
                <a:cs typeface="Arial"/>
              </a:rPr>
              <a:t>• Duplicate-row validation is implemented</a:t>
            </a:r>
          </a:p>
        </p:txBody>
      </p:sp>
      <p:sp>
        <p:nvSpPr>
          <p:cNvPr id="13" name="">
            <a:extLst xmlns:a="http://schemas.openxmlformats.org/drawingml/2006/main">
              <a:ext uri="{FF2B5EF4-FFF2-40B4-BE49-F238E27FC236}">
                <a16:creationId xmlns:a16="http://schemas.microsoft.com/office/drawing/2014/main" id="{94C95637-F9BE-4DBC-B271-755A982E35FF}"/>
              </a:ext>
            </a:extLst>
          </p:cNvPr>
          <p:cNvSpPr>
            <a:spLocks xmlns:a="http://schemas.openxmlformats.org/drawingml/2006/main" noGrp="1"/>
          </p:cNvSpPr>
          <p:nvPr/>
        </p:nvSpPr>
        <p:spPr>
          <a:xfrm xmlns:a="http://schemas.openxmlformats.org/drawingml/2006/main">
            <a:off x="6229350" y="36576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650" b="0">
                <a:solidFill>
                  <a:srgbClr val="203040"/>
                </a:solidFill>
                <a:latin typeface="Arial"/>
                <a:ea typeface="Arial"/>
                <a:cs typeface="Arial"/>
              </a:defRPr>
            </a:defPPr>
          </a:lstStyle>
          <a:p xmlns:a="http://schemas.openxmlformats.org/drawingml/2006/main">
            <a:pPr algn="l">
              <a:defRPr sz="1650" b="0">
                <a:solidFill>
                  <a:srgbClr val="203040"/>
                </a:solidFill>
                <a:latin typeface="Arial"/>
                <a:ea typeface="Arial"/>
                <a:cs typeface="Arial"/>
              </a:defRPr>
            </a:pPr>
            <a:r>
              <a:rPr sz="1650" b="0">
                <a:solidFill>
                  <a:srgbClr val="203040"/>
                </a:solidFill>
                <a:latin typeface="Arial"/>
                <a:ea typeface="Arial"/>
                <a:cs typeface="Arial"/>
              </a:rPr>
              <a:t>• Full run waits for 165,000 unique input rows</a:t>
            </a:r>
          </a:p>
        </p:txBody>
      </p:sp>
      <p:sp>
        <p:nvSpPr>
          <p:cNvPr id="14" name="">
            <a:extLst xmlns:a="http://schemas.openxmlformats.org/drawingml/2006/main">
              <a:ext uri="{FF2B5EF4-FFF2-40B4-BE49-F238E27FC236}">
                <a16:creationId xmlns:a16="http://schemas.microsoft.com/office/drawing/2014/main" id="{E2FFA1FC-68B3-4B1E-8E28-A2859DB046AF}"/>
              </a:ext>
            </a:extLst>
          </p:cNvPr>
          <p:cNvSpPr>
            <a:spLocks xmlns:a="http://schemas.openxmlformats.org/drawingml/2006/main" noGrp="1"/>
          </p:cNvSpPr>
          <p:nvPr/>
        </p:nvSpPr>
        <p:spPr>
          <a:xfrm xmlns:a="http://schemas.openxmlformats.org/drawingml/2006/main">
            <a:off x="6229350" y="43053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B23A48"/>
                </a:solidFill>
                <a:latin typeface="Arial"/>
                <a:ea typeface="Arial"/>
                <a:cs typeface="Arial"/>
              </a:defRPr>
            </a:defPPr>
          </a:lstStyle>
          <a:p xmlns:a="http://schemas.openxmlformats.org/drawingml/2006/main">
            <a:pPr algn="l">
              <a:defRPr sz="1500" b="1">
                <a:solidFill>
                  <a:srgbClr val="B23A48"/>
                </a:solidFill>
                <a:latin typeface="Arial"/>
                <a:ea typeface="Arial"/>
                <a:cs typeface="Arial"/>
              </a:defRPr>
            </a:pPr>
            <a:r>
              <a:rPr sz="1500" b="1">
                <a:solidFill>
                  <a:srgbClr val="B23A48"/>
                </a:solidFill>
                <a:latin typeface="Arial"/>
                <a:ea typeface="Arial"/>
                <a:cs typeface="Arial"/>
              </a:rPr>
              <a:t>No performance values are shown before the complete dataset run.</a:t>
            </a:r>
          </a:p>
        </p:txBody>
      </p:sp>
      <p:sp>
        <p:nvSpPr>
          <p:cNvPr id="15" name="">
            <a:extLst xmlns:a="http://schemas.openxmlformats.org/drawingml/2006/main">
              <a:ext uri="{FF2B5EF4-FFF2-40B4-BE49-F238E27FC236}">
                <a16:creationId xmlns:a16="http://schemas.microsoft.com/office/drawing/2014/main" id="{A0181821-A0A6-49DE-A932-2868559568F3}"/>
              </a:ext>
            </a:extLst>
          </p:cNvPr>
          <p:cNvSpPr>
            <a:spLocks xmlns:a="http://schemas.openxmlformats.org/drawingml/2006/main" noGrp="1"/>
          </p:cNvSpPr>
          <p:nvPr/>
        </p:nvSpPr>
        <p:spPr>
          <a:xfrm xmlns:a="http://schemas.openxmlformats.org/drawingml/2006/main">
            <a:off x="609600" y="6534150"/>
            <a:ext cx="1095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825" b="0">
                <a:solidFill>
                  <a:srgbClr val="5B6770"/>
                </a:solidFill>
                <a:latin typeface="Arial"/>
                <a:ea typeface="Arial"/>
                <a:cs typeface="Arial"/>
              </a:defRPr>
            </a:defPPr>
          </a:lstStyle>
          <a:p xmlns:a="http://schemas.openxmlformats.org/drawingml/2006/main">
            <a:pPr algn="l">
              <a:defRPr sz="825" b="0">
                <a:solidFill>
                  <a:srgbClr val="5B6770"/>
                </a:solidFill>
                <a:latin typeface="Arial"/>
                <a:ea typeface="Arial"/>
                <a:cs typeface="Arial"/>
              </a:defRPr>
            </a:pPr>
            <a:r>
              <a:rPr sz="825" b="0">
                <a:solidFill>
                  <a:srgbClr val="5B6770"/>
                </a:solidFill>
                <a:latin typeface="Arial"/>
                <a:ea typeface="Arial"/>
                <a:cs typeface="Arial"/>
              </a:rPr>
              <a:t>SOKA metaheuristic scheduling  |  2</a:t>
            </a:r>
          </a:p>
        </p:txBody>
      </p:sp>
    </p:spTree>
    <p:extLst>
      <p:ext uri="{BB962C8B-B14F-4D97-AF65-F5344CB8AC3E}">
        <p14:creationId xmlns:p14="http://schemas.microsoft.com/office/powerpoint/2010/main" val="191041582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A667031-FD15-456C-A3BF-6804A87270F0}"/>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050" b="1">
                <a:solidFill>
                  <a:srgbClr val="2F75B5"/>
                </a:solidFill>
                <a:latin typeface="Arial"/>
                <a:ea typeface="Arial"/>
                <a:cs typeface="Arial"/>
              </a:defRPr>
            </a:defPPr>
          </a:lstStyle>
          <a:p xmlns:a="http://schemas.openxmlformats.org/drawingml/2006/main">
            <a:pPr algn="l">
              <a:defRPr sz="1050" b="1">
                <a:solidFill>
                  <a:srgbClr val="2F75B5"/>
                </a:solidFill>
                <a:latin typeface="Arial"/>
                <a:ea typeface="Arial"/>
                <a:cs typeface="Arial"/>
              </a:defRPr>
            </a:pPr>
            <a:r>
              <a:rPr sz="1050" b="1">
                <a:solidFill>
                  <a:srgbClr val="2F75B5"/>
                </a:solidFill>
                <a:latin typeface="Arial"/>
                <a:ea typeface="Arial"/>
                <a:cs typeface="Arial"/>
              </a:rPr>
              <a:t>INFRASTRUCTURE CONFIGURATION</a:t>
            </a:r>
          </a:p>
        </p:txBody>
      </p:sp>
      <p:sp>
        <p:nvSpPr>
          <p:cNvPr id="2" name="">
            <a:extLst xmlns:a="http://schemas.openxmlformats.org/drawingml/2006/main">
              <a:ext uri="{FF2B5EF4-FFF2-40B4-BE49-F238E27FC236}">
                <a16:creationId xmlns:a16="http://schemas.microsoft.com/office/drawing/2014/main" id="{45687454-4B56-4CD4-9136-04565940E638}"/>
              </a:ext>
            </a:extLst>
          </p:cNvPr>
          <p:cNvSpPr>
            <a:spLocks xmlns:a="http://schemas.openxmlformats.org/drawingml/2006/main" noGrp="1"/>
          </p:cNvSpPr>
          <p:nvPr/>
        </p:nvSpPr>
        <p:spPr>
          <a:xfrm xmlns:a="http://schemas.openxmlformats.org/drawingml/2006/main">
            <a:off x="609600" y="61912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1">
                <a:solidFill>
                  <a:srgbClr val="12263A"/>
                </a:solidFill>
                <a:latin typeface="Arial"/>
                <a:ea typeface="Arial"/>
                <a:cs typeface="Arial"/>
              </a:defRPr>
            </a:defPPr>
          </a:lstStyle>
          <a:p xmlns:a="http://schemas.openxmlformats.org/drawingml/2006/main">
            <a:pPr algn="l">
              <a:defRPr sz="2550" b="1">
                <a:solidFill>
                  <a:srgbClr val="12263A"/>
                </a:solidFill>
                <a:latin typeface="Arial"/>
                <a:ea typeface="Arial"/>
                <a:cs typeface="Arial"/>
              </a:defRPr>
            </a:pPr>
            <a:r>
              <a:rPr sz="2550" b="1">
                <a:solidFill>
                  <a:srgbClr val="12263A"/>
                </a:solidFill>
                <a:latin typeface="Arial"/>
                <a:ea typeface="Arial"/>
                <a:cs typeface="Arial"/>
              </a:rPr>
              <a:t>Static CloudSim topology</a:t>
            </a:r>
          </a:p>
        </p:txBody>
      </p:sp>
      <p:sp>
        <p:nvSpPr>
          <p:cNvPr id="3" name="">
            <a:extLst xmlns:a="http://schemas.openxmlformats.org/drawingml/2006/main">
              <a:ext uri="{FF2B5EF4-FFF2-40B4-BE49-F238E27FC236}">
                <a16:creationId xmlns:a16="http://schemas.microsoft.com/office/drawing/2014/main" id="{7003CCB9-CA51-4D37-976A-1958F90501C6}"/>
              </a:ext>
            </a:extLst>
          </p:cNvPr>
          <p:cNvSpPr>
            <a:spLocks xmlns:a="http://schemas.openxmlformats.org/drawingml/2006/main" noGrp="1"/>
          </p:cNvSpPr>
          <p:nvPr/>
        </p:nvSpPr>
        <p:spPr>
          <a:xfrm xmlns:a="http://schemas.openxmlformats.org/drawingml/2006/main">
            <a:off x="609600" y="13144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203040"/>
                </a:solidFill>
                <a:latin typeface="Arial"/>
                <a:ea typeface="Arial"/>
                <a:cs typeface="Arial"/>
              </a:defRPr>
            </a:defPPr>
          </a:lstStyle>
          <a:p xmlns:a="http://schemas.openxmlformats.org/drawingml/2006/main">
            <a:pPr algn="l">
              <a:defRPr sz="1800" b="1">
                <a:solidFill>
                  <a:srgbClr val="203040"/>
                </a:solidFill>
                <a:latin typeface="Arial"/>
                <a:ea typeface="Arial"/>
                <a:cs typeface="Arial"/>
              </a:defRPr>
            </a:pPr>
            <a:r>
              <a:rPr sz="1800" b="1">
                <a:solidFill>
                  <a:srgbClr val="203040"/>
                </a:solidFill>
                <a:latin typeface="Arial"/>
                <a:ea typeface="Arial"/>
                <a:cs typeface="Arial"/>
              </a:rPr>
              <a:t>Every run uses the same eight VMs and the same four fixed host assignments.</a:t>
            </a:r>
          </a:p>
        </p:txBody>
      </p:sp>
      <p:sp>
        <p:nvSpPr>
          <p:cNvPr id="4" name="">
            <a:extLst xmlns:a="http://schemas.openxmlformats.org/drawingml/2006/main">
              <a:ext uri="{FF2B5EF4-FFF2-40B4-BE49-F238E27FC236}">
                <a16:creationId xmlns:a16="http://schemas.microsoft.com/office/drawing/2014/main" id="{20F58AFD-5D58-4141-ADC9-AF03E9901A54}"/>
              </a:ext>
            </a:extLst>
          </p:cNvPr>
          <p:cNvSpPr>
            <a:spLocks xmlns:a="http://schemas.openxmlformats.org/drawingml/2006/main" noGrp="1"/>
          </p:cNvSpPr>
          <p:nvPr/>
        </p:nvSpPr>
        <p:spPr>
          <a:xfrm xmlns:a="http://schemas.openxmlformats.org/drawingml/2006/main">
            <a:off x="609600" y="2095500"/>
            <a:ext cx="5257800" cy="3143250"/>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5" name="">
            <a:extLst xmlns:a="http://schemas.openxmlformats.org/drawingml/2006/main">
              <a:ext uri="{FF2B5EF4-FFF2-40B4-BE49-F238E27FC236}">
                <a16:creationId xmlns:a16="http://schemas.microsoft.com/office/drawing/2014/main" id="{6C1609BA-638C-4ECD-91E2-D44D65FF4F76}"/>
              </a:ext>
            </a:extLst>
          </p:cNvPr>
          <p:cNvSpPr>
            <a:spLocks xmlns:a="http://schemas.openxmlformats.org/drawingml/2006/main" noGrp="1"/>
          </p:cNvSpPr>
          <p:nvPr/>
        </p:nvSpPr>
        <p:spPr>
          <a:xfrm xmlns:a="http://schemas.openxmlformats.org/drawingml/2006/main">
            <a:off x="876300" y="234315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12263A"/>
                </a:solidFill>
                <a:latin typeface="Arial"/>
                <a:ea typeface="Arial"/>
                <a:cs typeface="Arial"/>
              </a:defRPr>
            </a:defPPr>
          </a:lstStyle>
          <a:p xmlns:a="http://schemas.openxmlformats.org/drawingml/2006/main">
            <a:pPr algn="l">
              <a:defRPr sz="1800" b="1">
                <a:solidFill>
                  <a:srgbClr val="12263A"/>
                </a:solidFill>
                <a:latin typeface="Arial"/>
                <a:ea typeface="Arial"/>
                <a:cs typeface="Arial"/>
              </a:defRPr>
            </a:pPr>
            <a:r>
              <a:rPr sz="1800" b="1">
                <a:solidFill>
                  <a:srgbClr val="12263A"/>
                </a:solidFill>
                <a:latin typeface="Arial"/>
                <a:ea typeface="Arial"/>
                <a:cs typeface="Arial"/>
              </a:rPr>
              <a:t>Datacenter 1</a:t>
            </a:r>
          </a:p>
        </p:txBody>
      </p:sp>
      <p:sp>
        <p:nvSpPr>
          <p:cNvPr id="6" name="">
            <a:extLst xmlns:a="http://schemas.openxmlformats.org/drawingml/2006/main">
              <a:ext uri="{FF2B5EF4-FFF2-40B4-BE49-F238E27FC236}">
                <a16:creationId xmlns:a16="http://schemas.microsoft.com/office/drawing/2014/main" id="{8818A95C-856F-47E1-B44D-B712DD997240}"/>
              </a:ext>
            </a:extLst>
          </p:cNvPr>
          <p:cNvSpPr>
            <a:spLocks xmlns:a="http://schemas.openxmlformats.org/drawingml/2006/main" noGrp="1"/>
          </p:cNvSpPr>
          <p:nvPr/>
        </p:nvSpPr>
        <p:spPr>
          <a:xfrm xmlns:a="http://schemas.openxmlformats.org/drawingml/2006/main">
            <a:off x="876300" y="2933700"/>
            <a:ext cx="47244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2F75B5"/>
            </a:solidFill>
          </a:ln>
        </p:spPr>
      </p:sp>
      <p:sp>
        <p:nvSpPr>
          <p:cNvPr id="7" name="">
            <a:extLst xmlns:a="http://schemas.openxmlformats.org/drawingml/2006/main">
              <a:ext uri="{FF2B5EF4-FFF2-40B4-BE49-F238E27FC236}">
                <a16:creationId xmlns:a16="http://schemas.microsoft.com/office/drawing/2014/main" id="{47884144-BCEC-4E9D-9B81-2D8FECECA4FB}"/>
              </a:ext>
            </a:extLst>
          </p:cNvPr>
          <p:cNvSpPr>
            <a:spLocks xmlns:a="http://schemas.openxmlformats.org/drawingml/2006/main" noGrp="1"/>
          </p:cNvSpPr>
          <p:nvPr/>
        </p:nvSpPr>
        <p:spPr>
          <a:xfrm xmlns:a="http://schemas.openxmlformats.org/drawingml/2006/main">
            <a:off x="1085850" y="304800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2F75B5"/>
                </a:solidFill>
                <a:latin typeface="Arial"/>
                <a:ea typeface="Arial"/>
                <a:cs typeface="Arial"/>
              </a:defRPr>
            </a:defPPr>
          </a:lstStyle>
          <a:p xmlns:a="http://schemas.openxmlformats.org/drawingml/2006/main">
            <a:pPr algn="l">
              <a:defRPr sz="1500" b="1">
                <a:solidFill>
                  <a:srgbClr val="2F75B5"/>
                </a:solidFill>
                <a:latin typeface="Arial"/>
                <a:ea typeface="Arial"/>
                <a:cs typeface="Arial"/>
              </a:defRPr>
            </a:pPr>
            <a:r>
              <a:rPr sz="1500" b="1">
                <a:solidFill>
                  <a:srgbClr val="2F75B5"/>
                </a:solidFill>
                <a:latin typeface="Arial"/>
                <a:ea typeface="Arial"/>
                <a:cs typeface="Arial"/>
              </a:rPr>
              <a:t>Host 0</a:t>
            </a:r>
          </a:p>
        </p:txBody>
      </p:sp>
      <p:sp>
        <p:nvSpPr>
          <p:cNvPr id="8" name="">
            <a:extLst xmlns:a="http://schemas.openxmlformats.org/drawingml/2006/main">
              <a:ext uri="{FF2B5EF4-FFF2-40B4-BE49-F238E27FC236}">
                <a16:creationId xmlns:a16="http://schemas.microsoft.com/office/drawing/2014/main" id="{8E16CE93-797F-4BFA-8A97-1190BB5F6B72}"/>
              </a:ext>
            </a:extLst>
          </p:cNvPr>
          <p:cNvSpPr>
            <a:spLocks xmlns:a="http://schemas.openxmlformats.org/drawingml/2006/main" noGrp="1"/>
          </p:cNvSpPr>
          <p:nvPr/>
        </p:nvSpPr>
        <p:spPr>
          <a:xfrm xmlns:a="http://schemas.openxmlformats.org/drawingml/2006/main">
            <a:off x="2800350" y="30480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203040"/>
                </a:solidFill>
                <a:latin typeface="Arial"/>
                <a:ea typeface="Arial"/>
                <a:cs typeface="Arial"/>
              </a:defRPr>
            </a:defPPr>
          </a:lstStyle>
          <a:p xmlns:a="http://schemas.openxmlformats.org/drawingml/2006/main">
            <a:pPr algn="l">
              <a:defRPr sz="1500" b="1">
                <a:solidFill>
                  <a:srgbClr val="203040"/>
                </a:solidFill>
                <a:latin typeface="Arial"/>
                <a:ea typeface="Arial"/>
                <a:cs typeface="Arial"/>
              </a:defRPr>
            </a:pPr>
            <a:r>
              <a:rPr sz="1500" b="1">
                <a:solidFill>
                  <a:srgbClr val="203040"/>
                </a:solidFill>
                <a:latin typeface="Arial"/>
                <a:ea typeface="Arial"/>
                <a:cs typeface="Arial"/>
              </a:rPr>
              <a:t>VM 0  |  VM 1</a:t>
            </a:r>
          </a:p>
        </p:txBody>
      </p:sp>
      <p:sp>
        <p:nvSpPr>
          <p:cNvPr id="9" name="">
            <a:extLst xmlns:a="http://schemas.openxmlformats.org/drawingml/2006/main">
              <a:ext uri="{FF2B5EF4-FFF2-40B4-BE49-F238E27FC236}">
                <a16:creationId xmlns:a16="http://schemas.microsoft.com/office/drawing/2014/main" id="{E60253C1-353F-4E57-9570-36904C9AB60F}"/>
              </a:ext>
            </a:extLst>
          </p:cNvPr>
          <p:cNvSpPr>
            <a:spLocks xmlns:a="http://schemas.openxmlformats.org/drawingml/2006/main" noGrp="1"/>
          </p:cNvSpPr>
          <p:nvPr/>
        </p:nvSpPr>
        <p:spPr>
          <a:xfrm xmlns:a="http://schemas.openxmlformats.org/drawingml/2006/main">
            <a:off x="1085850" y="33337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5B6770"/>
                </a:solidFill>
                <a:latin typeface="Arial"/>
                <a:ea typeface="Arial"/>
                <a:cs typeface="Arial"/>
              </a:defRPr>
            </a:defPPr>
          </a:lstStyle>
          <a:p xmlns:a="http://schemas.openxmlformats.org/drawingml/2006/main">
            <a:pPr algn="l">
              <a:defRPr sz="1125" b="0">
                <a:solidFill>
                  <a:srgbClr val="5B6770"/>
                </a:solidFill>
                <a:latin typeface="Arial"/>
                <a:ea typeface="Arial"/>
                <a:cs typeface="Arial"/>
              </a:defRPr>
            </a:pPr>
            <a:r>
              <a:rPr sz="1125" b="0">
                <a:solidFill>
                  <a:srgbClr val="5B6770"/>
                </a:solidFill>
                <a:latin typeface="Arial"/>
                <a:ea typeface="Arial"/>
                <a:cs typeface="Arial"/>
              </a:rPr>
              <a:t>2 VMs</a:t>
            </a:r>
          </a:p>
        </p:txBody>
      </p:sp>
      <p:sp>
        <p:nvSpPr>
          <p:cNvPr id="10" name="">
            <a:extLst xmlns:a="http://schemas.openxmlformats.org/drawingml/2006/main">
              <a:ext uri="{FF2B5EF4-FFF2-40B4-BE49-F238E27FC236}">
                <a16:creationId xmlns:a16="http://schemas.microsoft.com/office/drawing/2014/main" id="{96C404FD-82ED-4FE3-AAF0-F267E3018090}"/>
              </a:ext>
            </a:extLst>
          </p:cNvPr>
          <p:cNvSpPr>
            <a:spLocks xmlns:a="http://schemas.openxmlformats.org/drawingml/2006/main" noGrp="1"/>
          </p:cNvSpPr>
          <p:nvPr/>
        </p:nvSpPr>
        <p:spPr>
          <a:xfrm xmlns:a="http://schemas.openxmlformats.org/drawingml/2006/main">
            <a:off x="876300" y="3962400"/>
            <a:ext cx="47244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2F75B5"/>
            </a:solidFill>
          </a:ln>
        </p:spPr>
      </p:sp>
      <p:sp>
        <p:nvSpPr>
          <p:cNvPr id="11" name="">
            <a:extLst xmlns:a="http://schemas.openxmlformats.org/drawingml/2006/main">
              <a:ext uri="{FF2B5EF4-FFF2-40B4-BE49-F238E27FC236}">
                <a16:creationId xmlns:a16="http://schemas.microsoft.com/office/drawing/2014/main" id="{4CE2DBB7-06E2-4CE0-88E8-66E621631B8B}"/>
              </a:ext>
            </a:extLst>
          </p:cNvPr>
          <p:cNvSpPr>
            <a:spLocks xmlns:a="http://schemas.openxmlformats.org/drawingml/2006/main" noGrp="1"/>
          </p:cNvSpPr>
          <p:nvPr/>
        </p:nvSpPr>
        <p:spPr>
          <a:xfrm xmlns:a="http://schemas.openxmlformats.org/drawingml/2006/main">
            <a:off x="1085850" y="407670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2F75B5"/>
                </a:solidFill>
                <a:latin typeface="Arial"/>
                <a:ea typeface="Arial"/>
                <a:cs typeface="Arial"/>
              </a:defRPr>
            </a:defPPr>
          </a:lstStyle>
          <a:p xmlns:a="http://schemas.openxmlformats.org/drawingml/2006/main">
            <a:pPr algn="l">
              <a:defRPr sz="1500" b="1">
                <a:solidFill>
                  <a:srgbClr val="2F75B5"/>
                </a:solidFill>
                <a:latin typeface="Arial"/>
                <a:ea typeface="Arial"/>
                <a:cs typeface="Arial"/>
              </a:defRPr>
            </a:pPr>
            <a:r>
              <a:rPr sz="1500" b="1">
                <a:solidFill>
                  <a:srgbClr val="2F75B5"/>
                </a:solidFill>
                <a:latin typeface="Arial"/>
                <a:ea typeface="Arial"/>
                <a:cs typeface="Arial"/>
              </a:rPr>
              <a:t>Host 1</a:t>
            </a:r>
          </a:p>
        </p:txBody>
      </p:sp>
      <p:sp>
        <p:nvSpPr>
          <p:cNvPr id="12" name="">
            <a:extLst xmlns:a="http://schemas.openxmlformats.org/drawingml/2006/main">
              <a:ext uri="{FF2B5EF4-FFF2-40B4-BE49-F238E27FC236}">
                <a16:creationId xmlns:a16="http://schemas.microsoft.com/office/drawing/2014/main" id="{638E8966-0185-4D3C-AFA9-27E8BF5337CD}"/>
              </a:ext>
            </a:extLst>
          </p:cNvPr>
          <p:cNvSpPr>
            <a:spLocks xmlns:a="http://schemas.openxmlformats.org/drawingml/2006/main" noGrp="1"/>
          </p:cNvSpPr>
          <p:nvPr/>
        </p:nvSpPr>
        <p:spPr>
          <a:xfrm xmlns:a="http://schemas.openxmlformats.org/drawingml/2006/main">
            <a:off x="2800350" y="40767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203040"/>
                </a:solidFill>
                <a:latin typeface="Arial"/>
                <a:ea typeface="Arial"/>
                <a:cs typeface="Arial"/>
              </a:defRPr>
            </a:defPPr>
          </a:lstStyle>
          <a:p xmlns:a="http://schemas.openxmlformats.org/drawingml/2006/main">
            <a:pPr algn="l">
              <a:defRPr sz="1500" b="1">
                <a:solidFill>
                  <a:srgbClr val="203040"/>
                </a:solidFill>
                <a:latin typeface="Arial"/>
                <a:ea typeface="Arial"/>
                <a:cs typeface="Arial"/>
              </a:defRPr>
            </a:pPr>
            <a:r>
              <a:rPr sz="1500" b="1">
                <a:solidFill>
                  <a:srgbClr val="203040"/>
                </a:solidFill>
                <a:latin typeface="Arial"/>
                <a:ea typeface="Arial"/>
                <a:cs typeface="Arial"/>
              </a:rPr>
              <a:t>VM 2  |  VM 3</a:t>
            </a:r>
          </a:p>
        </p:txBody>
      </p:sp>
      <p:sp>
        <p:nvSpPr>
          <p:cNvPr id="13" name="">
            <a:extLst xmlns:a="http://schemas.openxmlformats.org/drawingml/2006/main">
              <a:ext uri="{FF2B5EF4-FFF2-40B4-BE49-F238E27FC236}">
                <a16:creationId xmlns:a16="http://schemas.microsoft.com/office/drawing/2014/main" id="{AD167711-73D0-46B4-AF98-C1ECD8892531}"/>
              </a:ext>
            </a:extLst>
          </p:cNvPr>
          <p:cNvSpPr>
            <a:spLocks xmlns:a="http://schemas.openxmlformats.org/drawingml/2006/main" noGrp="1"/>
          </p:cNvSpPr>
          <p:nvPr/>
        </p:nvSpPr>
        <p:spPr>
          <a:xfrm xmlns:a="http://schemas.openxmlformats.org/drawingml/2006/main">
            <a:off x="1085850" y="43624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5B6770"/>
                </a:solidFill>
                <a:latin typeface="Arial"/>
                <a:ea typeface="Arial"/>
                <a:cs typeface="Arial"/>
              </a:defRPr>
            </a:defPPr>
          </a:lstStyle>
          <a:p xmlns:a="http://schemas.openxmlformats.org/drawingml/2006/main">
            <a:pPr algn="l">
              <a:defRPr sz="1125" b="0">
                <a:solidFill>
                  <a:srgbClr val="5B6770"/>
                </a:solidFill>
                <a:latin typeface="Arial"/>
                <a:ea typeface="Arial"/>
                <a:cs typeface="Arial"/>
              </a:defRPr>
            </a:pPr>
            <a:r>
              <a:rPr sz="1125" b="0">
                <a:solidFill>
                  <a:srgbClr val="5B6770"/>
                </a:solidFill>
                <a:latin typeface="Arial"/>
                <a:ea typeface="Arial"/>
                <a:cs typeface="Arial"/>
              </a:rPr>
              <a:t>2 VMs</a:t>
            </a:r>
          </a:p>
        </p:txBody>
      </p:sp>
      <p:sp>
        <p:nvSpPr>
          <p:cNvPr id="14" name="">
            <a:extLst xmlns:a="http://schemas.openxmlformats.org/drawingml/2006/main">
              <a:ext uri="{FF2B5EF4-FFF2-40B4-BE49-F238E27FC236}">
                <a16:creationId xmlns:a16="http://schemas.microsoft.com/office/drawing/2014/main" id="{16267C2A-CAF3-4834-82EF-BD755F9D910D}"/>
              </a:ext>
            </a:extLst>
          </p:cNvPr>
          <p:cNvSpPr>
            <a:spLocks xmlns:a="http://schemas.openxmlformats.org/drawingml/2006/main" noGrp="1"/>
          </p:cNvSpPr>
          <p:nvPr/>
        </p:nvSpPr>
        <p:spPr>
          <a:xfrm xmlns:a="http://schemas.openxmlformats.org/drawingml/2006/main">
            <a:off x="6324600" y="2095500"/>
            <a:ext cx="5257800" cy="3143250"/>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15" name="">
            <a:extLst xmlns:a="http://schemas.openxmlformats.org/drawingml/2006/main">
              <a:ext uri="{FF2B5EF4-FFF2-40B4-BE49-F238E27FC236}">
                <a16:creationId xmlns:a16="http://schemas.microsoft.com/office/drawing/2014/main" id="{F0CC662C-86D6-4678-846E-366BC2536094}"/>
              </a:ext>
            </a:extLst>
          </p:cNvPr>
          <p:cNvSpPr>
            <a:spLocks xmlns:a="http://schemas.openxmlformats.org/drawingml/2006/main" noGrp="1"/>
          </p:cNvSpPr>
          <p:nvPr/>
        </p:nvSpPr>
        <p:spPr>
          <a:xfrm xmlns:a="http://schemas.openxmlformats.org/drawingml/2006/main">
            <a:off x="6591300" y="234315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12263A"/>
                </a:solidFill>
                <a:latin typeface="Arial"/>
                <a:ea typeface="Arial"/>
                <a:cs typeface="Arial"/>
              </a:defRPr>
            </a:defPPr>
          </a:lstStyle>
          <a:p xmlns:a="http://schemas.openxmlformats.org/drawingml/2006/main">
            <a:pPr algn="l">
              <a:defRPr sz="1800" b="1">
                <a:solidFill>
                  <a:srgbClr val="12263A"/>
                </a:solidFill>
                <a:latin typeface="Arial"/>
                <a:ea typeface="Arial"/>
                <a:cs typeface="Arial"/>
              </a:defRPr>
            </a:pPr>
            <a:r>
              <a:rPr sz="1800" b="1">
                <a:solidFill>
                  <a:srgbClr val="12263A"/>
                </a:solidFill>
                <a:latin typeface="Arial"/>
                <a:ea typeface="Arial"/>
                <a:cs typeface="Arial"/>
              </a:rPr>
              <a:t>Datacenter 2</a:t>
            </a:r>
          </a:p>
        </p:txBody>
      </p:sp>
      <p:sp>
        <p:nvSpPr>
          <p:cNvPr id="16" name="">
            <a:extLst xmlns:a="http://schemas.openxmlformats.org/drawingml/2006/main">
              <a:ext uri="{FF2B5EF4-FFF2-40B4-BE49-F238E27FC236}">
                <a16:creationId xmlns:a16="http://schemas.microsoft.com/office/drawing/2014/main" id="{43815DC5-B7CF-472B-A2F2-7E9432EB8EDB}"/>
              </a:ext>
            </a:extLst>
          </p:cNvPr>
          <p:cNvSpPr>
            <a:spLocks xmlns:a="http://schemas.openxmlformats.org/drawingml/2006/main" noGrp="1"/>
          </p:cNvSpPr>
          <p:nvPr/>
        </p:nvSpPr>
        <p:spPr>
          <a:xfrm xmlns:a="http://schemas.openxmlformats.org/drawingml/2006/main">
            <a:off x="6591300" y="2933700"/>
            <a:ext cx="47244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2F75B5"/>
            </a:solidFill>
          </a:ln>
        </p:spPr>
      </p:sp>
      <p:sp>
        <p:nvSpPr>
          <p:cNvPr id="17" name="">
            <a:extLst xmlns:a="http://schemas.openxmlformats.org/drawingml/2006/main">
              <a:ext uri="{FF2B5EF4-FFF2-40B4-BE49-F238E27FC236}">
                <a16:creationId xmlns:a16="http://schemas.microsoft.com/office/drawing/2014/main" id="{1424CD08-DCA7-49E4-9260-02D3B964986E}"/>
              </a:ext>
            </a:extLst>
          </p:cNvPr>
          <p:cNvSpPr>
            <a:spLocks xmlns:a="http://schemas.openxmlformats.org/drawingml/2006/main" noGrp="1"/>
          </p:cNvSpPr>
          <p:nvPr/>
        </p:nvSpPr>
        <p:spPr>
          <a:xfrm xmlns:a="http://schemas.openxmlformats.org/drawingml/2006/main">
            <a:off x="6800850" y="304800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2F75B5"/>
                </a:solidFill>
                <a:latin typeface="Arial"/>
                <a:ea typeface="Arial"/>
                <a:cs typeface="Arial"/>
              </a:defRPr>
            </a:defPPr>
          </a:lstStyle>
          <a:p xmlns:a="http://schemas.openxmlformats.org/drawingml/2006/main">
            <a:pPr algn="l">
              <a:defRPr sz="1500" b="1">
                <a:solidFill>
                  <a:srgbClr val="2F75B5"/>
                </a:solidFill>
                <a:latin typeface="Arial"/>
                <a:ea typeface="Arial"/>
                <a:cs typeface="Arial"/>
              </a:defRPr>
            </a:pPr>
            <a:r>
              <a:rPr sz="1500" b="1">
                <a:solidFill>
                  <a:srgbClr val="2F75B5"/>
                </a:solidFill>
                <a:latin typeface="Arial"/>
                <a:ea typeface="Arial"/>
                <a:cs typeface="Arial"/>
              </a:rPr>
              <a:t>Host 2</a:t>
            </a:r>
          </a:p>
        </p:txBody>
      </p:sp>
      <p:sp>
        <p:nvSpPr>
          <p:cNvPr id="18" name="">
            <a:extLst xmlns:a="http://schemas.openxmlformats.org/drawingml/2006/main">
              <a:ext uri="{FF2B5EF4-FFF2-40B4-BE49-F238E27FC236}">
                <a16:creationId xmlns:a16="http://schemas.microsoft.com/office/drawing/2014/main" id="{D834F078-3452-4EE6-9A6A-913BB07C1151}"/>
              </a:ext>
            </a:extLst>
          </p:cNvPr>
          <p:cNvSpPr>
            <a:spLocks xmlns:a="http://schemas.openxmlformats.org/drawingml/2006/main" noGrp="1"/>
          </p:cNvSpPr>
          <p:nvPr/>
        </p:nvSpPr>
        <p:spPr>
          <a:xfrm xmlns:a="http://schemas.openxmlformats.org/drawingml/2006/main">
            <a:off x="8515350" y="30480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203040"/>
                </a:solidFill>
                <a:latin typeface="Arial"/>
                <a:ea typeface="Arial"/>
                <a:cs typeface="Arial"/>
              </a:defRPr>
            </a:defPPr>
          </a:lstStyle>
          <a:p xmlns:a="http://schemas.openxmlformats.org/drawingml/2006/main">
            <a:pPr algn="l">
              <a:defRPr sz="1500" b="1">
                <a:solidFill>
                  <a:srgbClr val="203040"/>
                </a:solidFill>
                <a:latin typeface="Arial"/>
                <a:ea typeface="Arial"/>
                <a:cs typeface="Arial"/>
              </a:defRPr>
            </a:pPr>
            <a:r>
              <a:rPr sz="1500" b="1">
                <a:solidFill>
                  <a:srgbClr val="203040"/>
                </a:solidFill>
                <a:latin typeface="Arial"/>
                <a:ea typeface="Arial"/>
                <a:cs typeface="Arial"/>
              </a:rPr>
              <a:t>VM 4  |  VM 5</a:t>
            </a:r>
          </a:p>
        </p:txBody>
      </p:sp>
      <p:sp>
        <p:nvSpPr>
          <p:cNvPr id="19" name="">
            <a:extLst xmlns:a="http://schemas.openxmlformats.org/drawingml/2006/main">
              <a:ext uri="{FF2B5EF4-FFF2-40B4-BE49-F238E27FC236}">
                <a16:creationId xmlns:a16="http://schemas.microsoft.com/office/drawing/2014/main" id="{04FC81CB-2CBE-4F9D-8AE2-46AA18F048DC}"/>
              </a:ext>
            </a:extLst>
          </p:cNvPr>
          <p:cNvSpPr>
            <a:spLocks xmlns:a="http://schemas.openxmlformats.org/drawingml/2006/main" noGrp="1"/>
          </p:cNvSpPr>
          <p:nvPr/>
        </p:nvSpPr>
        <p:spPr>
          <a:xfrm xmlns:a="http://schemas.openxmlformats.org/drawingml/2006/main">
            <a:off x="6800850" y="33337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5B6770"/>
                </a:solidFill>
                <a:latin typeface="Arial"/>
                <a:ea typeface="Arial"/>
                <a:cs typeface="Arial"/>
              </a:defRPr>
            </a:defPPr>
          </a:lstStyle>
          <a:p xmlns:a="http://schemas.openxmlformats.org/drawingml/2006/main">
            <a:pPr algn="l">
              <a:defRPr sz="1125" b="0">
                <a:solidFill>
                  <a:srgbClr val="5B6770"/>
                </a:solidFill>
                <a:latin typeface="Arial"/>
                <a:ea typeface="Arial"/>
                <a:cs typeface="Arial"/>
              </a:defRPr>
            </a:pPr>
            <a:r>
              <a:rPr sz="1125" b="0">
                <a:solidFill>
                  <a:srgbClr val="5B6770"/>
                </a:solidFill>
                <a:latin typeface="Arial"/>
                <a:ea typeface="Arial"/>
                <a:cs typeface="Arial"/>
              </a:rPr>
              <a:t>2 VMs</a:t>
            </a:r>
          </a:p>
        </p:txBody>
      </p:sp>
      <p:sp>
        <p:nvSpPr>
          <p:cNvPr id="20" name="">
            <a:extLst xmlns:a="http://schemas.openxmlformats.org/drawingml/2006/main">
              <a:ext uri="{FF2B5EF4-FFF2-40B4-BE49-F238E27FC236}">
                <a16:creationId xmlns:a16="http://schemas.microsoft.com/office/drawing/2014/main" id="{011EB8D4-431B-4724-BC31-6218D70C2417}"/>
              </a:ext>
            </a:extLst>
          </p:cNvPr>
          <p:cNvSpPr>
            <a:spLocks xmlns:a="http://schemas.openxmlformats.org/drawingml/2006/main" noGrp="1"/>
          </p:cNvSpPr>
          <p:nvPr/>
        </p:nvSpPr>
        <p:spPr>
          <a:xfrm xmlns:a="http://schemas.openxmlformats.org/drawingml/2006/main">
            <a:off x="6591300" y="3962400"/>
            <a:ext cx="47244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2F75B5"/>
            </a:solidFill>
          </a:ln>
        </p:spPr>
      </p:sp>
      <p:sp>
        <p:nvSpPr>
          <p:cNvPr id="21" name="">
            <a:extLst xmlns:a="http://schemas.openxmlformats.org/drawingml/2006/main">
              <a:ext uri="{FF2B5EF4-FFF2-40B4-BE49-F238E27FC236}">
                <a16:creationId xmlns:a16="http://schemas.microsoft.com/office/drawing/2014/main" id="{0F90BD5F-028A-4F3A-B948-2E2CDB1B8F54}"/>
              </a:ext>
            </a:extLst>
          </p:cNvPr>
          <p:cNvSpPr>
            <a:spLocks xmlns:a="http://schemas.openxmlformats.org/drawingml/2006/main" noGrp="1"/>
          </p:cNvSpPr>
          <p:nvPr/>
        </p:nvSpPr>
        <p:spPr>
          <a:xfrm xmlns:a="http://schemas.openxmlformats.org/drawingml/2006/main">
            <a:off x="6800850" y="407670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2F75B5"/>
                </a:solidFill>
                <a:latin typeface="Arial"/>
                <a:ea typeface="Arial"/>
                <a:cs typeface="Arial"/>
              </a:defRPr>
            </a:defPPr>
          </a:lstStyle>
          <a:p xmlns:a="http://schemas.openxmlformats.org/drawingml/2006/main">
            <a:pPr algn="l">
              <a:defRPr sz="1500" b="1">
                <a:solidFill>
                  <a:srgbClr val="2F75B5"/>
                </a:solidFill>
                <a:latin typeface="Arial"/>
                <a:ea typeface="Arial"/>
                <a:cs typeface="Arial"/>
              </a:defRPr>
            </a:pPr>
            <a:r>
              <a:rPr sz="1500" b="1">
                <a:solidFill>
                  <a:srgbClr val="2F75B5"/>
                </a:solidFill>
                <a:latin typeface="Arial"/>
                <a:ea typeface="Arial"/>
                <a:cs typeface="Arial"/>
              </a:rPr>
              <a:t>Host 3</a:t>
            </a:r>
          </a:p>
        </p:txBody>
      </p:sp>
      <p:sp>
        <p:nvSpPr>
          <p:cNvPr id="22" name="">
            <a:extLst xmlns:a="http://schemas.openxmlformats.org/drawingml/2006/main">
              <a:ext uri="{FF2B5EF4-FFF2-40B4-BE49-F238E27FC236}">
                <a16:creationId xmlns:a16="http://schemas.microsoft.com/office/drawing/2014/main" id="{E39AE020-41A4-48CA-B89C-ADC9603E9745}"/>
              </a:ext>
            </a:extLst>
          </p:cNvPr>
          <p:cNvSpPr>
            <a:spLocks xmlns:a="http://schemas.openxmlformats.org/drawingml/2006/main" noGrp="1"/>
          </p:cNvSpPr>
          <p:nvPr/>
        </p:nvSpPr>
        <p:spPr>
          <a:xfrm xmlns:a="http://schemas.openxmlformats.org/drawingml/2006/main">
            <a:off x="8515350" y="40767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203040"/>
                </a:solidFill>
                <a:latin typeface="Arial"/>
                <a:ea typeface="Arial"/>
                <a:cs typeface="Arial"/>
              </a:defRPr>
            </a:defPPr>
          </a:lstStyle>
          <a:p xmlns:a="http://schemas.openxmlformats.org/drawingml/2006/main">
            <a:pPr algn="l">
              <a:defRPr sz="1500" b="1">
                <a:solidFill>
                  <a:srgbClr val="203040"/>
                </a:solidFill>
                <a:latin typeface="Arial"/>
                <a:ea typeface="Arial"/>
                <a:cs typeface="Arial"/>
              </a:defRPr>
            </a:pPr>
            <a:r>
              <a:rPr sz="1500" b="1">
                <a:solidFill>
                  <a:srgbClr val="203040"/>
                </a:solidFill>
                <a:latin typeface="Arial"/>
                <a:ea typeface="Arial"/>
                <a:cs typeface="Arial"/>
              </a:rPr>
              <a:t>VM 6  |  VM 7</a:t>
            </a:r>
          </a:p>
        </p:txBody>
      </p:sp>
      <p:sp>
        <p:nvSpPr>
          <p:cNvPr id="23" name="">
            <a:extLst xmlns:a="http://schemas.openxmlformats.org/drawingml/2006/main">
              <a:ext uri="{FF2B5EF4-FFF2-40B4-BE49-F238E27FC236}">
                <a16:creationId xmlns:a16="http://schemas.microsoft.com/office/drawing/2014/main" id="{373FA16A-02D9-402C-8BD2-CE0AD06C88F8}"/>
              </a:ext>
            </a:extLst>
          </p:cNvPr>
          <p:cNvSpPr>
            <a:spLocks xmlns:a="http://schemas.openxmlformats.org/drawingml/2006/main" noGrp="1"/>
          </p:cNvSpPr>
          <p:nvPr/>
        </p:nvSpPr>
        <p:spPr>
          <a:xfrm xmlns:a="http://schemas.openxmlformats.org/drawingml/2006/main">
            <a:off x="6800850" y="43624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5B6770"/>
                </a:solidFill>
                <a:latin typeface="Arial"/>
                <a:ea typeface="Arial"/>
                <a:cs typeface="Arial"/>
              </a:defRPr>
            </a:defPPr>
          </a:lstStyle>
          <a:p xmlns:a="http://schemas.openxmlformats.org/drawingml/2006/main">
            <a:pPr algn="l">
              <a:defRPr sz="1125" b="0">
                <a:solidFill>
                  <a:srgbClr val="5B6770"/>
                </a:solidFill>
                <a:latin typeface="Arial"/>
                <a:ea typeface="Arial"/>
                <a:cs typeface="Arial"/>
              </a:defRPr>
            </a:pPr>
            <a:r>
              <a:rPr sz="1125" b="0">
                <a:solidFill>
                  <a:srgbClr val="5B6770"/>
                </a:solidFill>
                <a:latin typeface="Arial"/>
                <a:ea typeface="Arial"/>
                <a:cs typeface="Arial"/>
              </a:rPr>
              <a:t>2 VMs</a:t>
            </a:r>
          </a:p>
        </p:txBody>
      </p:sp>
      <p:sp>
        <p:nvSpPr>
          <p:cNvPr id="24" name="">
            <a:extLst xmlns:a="http://schemas.openxmlformats.org/drawingml/2006/main">
              <a:ext uri="{FF2B5EF4-FFF2-40B4-BE49-F238E27FC236}">
                <a16:creationId xmlns:a16="http://schemas.microsoft.com/office/drawing/2014/main" id="{0C0873EA-98C2-416E-8C29-FA32F71AF348}"/>
              </a:ext>
            </a:extLst>
          </p:cNvPr>
          <p:cNvSpPr>
            <a:spLocks xmlns:a="http://schemas.openxmlformats.org/drawingml/2006/main" noGrp="1"/>
          </p:cNvSpPr>
          <p:nvPr/>
        </p:nvSpPr>
        <p:spPr>
          <a:xfrm xmlns:a="http://schemas.openxmlformats.org/drawingml/2006/main">
            <a:off x="609600" y="56197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0">
                <a:solidFill>
                  <a:srgbClr val="5B6770"/>
                </a:solidFill>
                <a:latin typeface="Arial"/>
                <a:ea typeface="Arial"/>
                <a:cs typeface="Arial"/>
              </a:defRPr>
            </a:defPPr>
          </a:lstStyle>
          <a:p xmlns:a="http://schemas.openxmlformats.org/drawingml/2006/main">
            <a:pPr algn="l">
              <a:defRPr sz="1500" b="0">
                <a:solidFill>
                  <a:srgbClr val="5B6770"/>
                </a:solidFill>
                <a:latin typeface="Arial"/>
                <a:ea typeface="Arial"/>
                <a:cs typeface="Arial"/>
              </a:defRPr>
            </a:pPr>
            <a:r>
              <a:rPr sz="1500" b="0">
                <a:solidFill>
                  <a:srgbClr val="5B6770"/>
                </a:solidFill>
                <a:latin typeface="Arial"/>
                <a:ea typeface="Arial"/>
                <a:cs typeface="Arial"/>
              </a:rPr>
              <a:t>Static policy maps VM IDs to host IDs. The VM placement does not change between algorithms.</a:t>
            </a:r>
          </a:p>
        </p:txBody>
      </p:sp>
      <p:sp>
        <p:nvSpPr>
          <p:cNvPr id="25" name="">
            <a:extLst xmlns:a="http://schemas.openxmlformats.org/drawingml/2006/main">
              <a:ext uri="{FF2B5EF4-FFF2-40B4-BE49-F238E27FC236}">
                <a16:creationId xmlns:a16="http://schemas.microsoft.com/office/drawing/2014/main" id="{F9A745F7-39DE-4CA8-AB5C-D6A3D299E24D}"/>
              </a:ext>
            </a:extLst>
          </p:cNvPr>
          <p:cNvSpPr>
            <a:spLocks xmlns:a="http://schemas.openxmlformats.org/drawingml/2006/main" noGrp="1"/>
          </p:cNvSpPr>
          <p:nvPr/>
        </p:nvSpPr>
        <p:spPr>
          <a:xfrm xmlns:a="http://schemas.openxmlformats.org/drawingml/2006/main">
            <a:off x="609600" y="6534150"/>
            <a:ext cx="1095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825" b="0">
                <a:solidFill>
                  <a:srgbClr val="5B6770"/>
                </a:solidFill>
                <a:latin typeface="Arial"/>
                <a:ea typeface="Arial"/>
                <a:cs typeface="Arial"/>
              </a:defRPr>
            </a:defPPr>
          </a:lstStyle>
          <a:p xmlns:a="http://schemas.openxmlformats.org/drawingml/2006/main">
            <a:pPr algn="l">
              <a:defRPr sz="825" b="0">
                <a:solidFill>
                  <a:srgbClr val="5B6770"/>
                </a:solidFill>
                <a:latin typeface="Arial"/>
                <a:ea typeface="Arial"/>
                <a:cs typeface="Arial"/>
              </a:defRPr>
            </a:pPr>
            <a:r>
              <a:rPr sz="825" b="0">
                <a:solidFill>
                  <a:srgbClr val="5B6770"/>
                </a:solidFill>
                <a:latin typeface="Arial"/>
                <a:ea typeface="Arial"/>
                <a:cs typeface="Arial"/>
              </a:rPr>
              <a:t>SOKA metaheuristic scheduling  |  3</a:t>
            </a:r>
          </a:p>
        </p:txBody>
      </p:sp>
    </p:spTree>
    <p:extLst>
      <p:ext uri="{BB962C8B-B14F-4D97-AF65-F5344CB8AC3E}">
        <p14:creationId xmlns:p14="http://schemas.microsoft.com/office/powerpoint/2010/main" val="46103876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 name="">
            <a:extLst xmlns:a="http://schemas.openxmlformats.org/drawingml/2006/main">
              <a:ext uri="{FF2B5EF4-FFF2-40B4-BE49-F238E27FC236}">
                <a16:creationId xmlns:a16="http://schemas.microsoft.com/office/drawing/2014/main" id="{CCC43CAE-3107-4C32-8EA6-A0B92773F295}"/>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050" b="1">
                <a:solidFill>
                  <a:srgbClr val="2F75B5"/>
                </a:solidFill>
                <a:latin typeface="Arial"/>
                <a:ea typeface="Arial"/>
                <a:cs typeface="Arial"/>
              </a:defRPr>
            </a:defPPr>
          </a:lstStyle>
          <a:p xmlns:a="http://schemas.openxmlformats.org/drawingml/2006/main">
            <a:pPr algn="l">
              <a:defRPr sz="1050" b="1">
                <a:solidFill>
                  <a:srgbClr val="2F75B5"/>
                </a:solidFill>
                <a:latin typeface="Arial"/>
                <a:ea typeface="Arial"/>
                <a:cs typeface="Arial"/>
              </a:defRPr>
            </a:pPr>
            <a:r>
              <a:rPr sz="1050" b="1">
                <a:solidFill>
                  <a:srgbClr val="2F75B5"/>
                </a:solidFill>
                <a:latin typeface="Arial"/>
                <a:ea typeface="Arial"/>
                <a:cs typeface="Arial"/>
              </a:rPr>
              <a:t>NON-OVERLAPPING INPUT RANGES</a:t>
            </a:r>
          </a:p>
        </p:txBody>
      </p:sp>
      <p:sp>
        <p:nvSpPr>
          <p:cNvPr id="2" name="">
            <a:extLst xmlns:a="http://schemas.openxmlformats.org/drawingml/2006/main">
              <a:ext uri="{FF2B5EF4-FFF2-40B4-BE49-F238E27FC236}">
                <a16:creationId xmlns:a16="http://schemas.microsoft.com/office/drawing/2014/main" id="{5C3E8906-1E6C-460F-99D6-62DF2147CFBA}"/>
              </a:ext>
            </a:extLst>
          </p:cNvPr>
          <p:cNvSpPr>
            <a:spLocks xmlns:a="http://schemas.openxmlformats.org/drawingml/2006/main" noGrp="1"/>
          </p:cNvSpPr>
          <p:nvPr/>
        </p:nvSpPr>
        <p:spPr>
          <a:xfrm xmlns:a="http://schemas.openxmlformats.org/drawingml/2006/main">
            <a:off x="609600" y="61912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1">
                <a:solidFill>
                  <a:srgbClr val="12263A"/>
                </a:solidFill>
                <a:latin typeface="Arial"/>
                <a:ea typeface="Arial"/>
                <a:cs typeface="Arial"/>
              </a:defRPr>
            </a:defPPr>
          </a:lstStyle>
          <a:p xmlns:a="http://schemas.openxmlformats.org/drawingml/2006/main">
            <a:pPr algn="l">
              <a:defRPr sz="2550" b="1">
                <a:solidFill>
                  <a:srgbClr val="12263A"/>
                </a:solidFill>
                <a:latin typeface="Arial"/>
                <a:ea typeface="Arial"/>
                <a:cs typeface="Arial"/>
              </a:defRPr>
            </a:pPr>
            <a:r>
              <a:rPr sz="2550" b="1">
                <a:solidFill>
                  <a:srgbClr val="12263A"/>
                </a:solidFill>
                <a:latin typeface="Arial"/>
                <a:ea typeface="Arial"/>
                <a:cs typeface="Arial"/>
              </a:rPr>
              <a:t>Workload schedule</a:t>
            </a:r>
          </a:p>
        </p:txBody>
      </p:sp>
      <p:sp>
        <p:nvSpPr>
          <p:cNvPr id="3" name="">
            <a:extLst xmlns:a="http://schemas.openxmlformats.org/drawingml/2006/main">
              <a:ext uri="{FF2B5EF4-FFF2-40B4-BE49-F238E27FC236}">
                <a16:creationId xmlns:a16="http://schemas.microsoft.com/office/drawing/2014/main" id="{D34A88BF-A79A-4C08-8250-DB8F3FAA4FF3}"/>
              </a:ext>
            </a:extLst>
          </p:cNvPr>
          <p:cNvSpPr>
            <a:spLocks xmlns:a="http://schemas.openxmlformats.org/drawingml/2006/main" noGrp="1"/>
          </p:cNvSpPr>
          <p:nvPr/>
        </p:nvSpPr>
        <p:spPr>
          <a:xfrm xmlns:a="http://schemas.openxmlformats.org/drawingml/2006/main">
            <a:off x="609600" y="13144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203040"/>
                </a:solidFill>
                <a:latin typeface="Arial"/>
                <a:ea typeface="Arial"/>
                <a:cs typeface="Arial"/>
              </a:defRPr>
            </a:defPPr>
          </a:lstStyle>
          <a:p xmlns:a="http://schemas.openxmlformats.org/drawingml/2006/main">
            <a:pPr algn="l">
              <a:defRPr sz="1725" b="1">
                <a:solidFill>
                  <a:srgbClr val="203040"/>
                </a:solidFill>
                <a:latin typeface="Arial"/>
                <a:ea typeface="Arial"/>
                <a:cs typeface="Arial"/>
              </a:defRPr>
            </a:pPr>
            <a:r>
              <a:rPr sz="1725" b="1">
                <a:solidFill>
                  <a:srgbClr val="203040"/>
                </a:solidFill>
                <a:latin typeface="Arial"/>
                <a:ea typeface="Arial"/>
                <a:cs typeface="Arial"/>
              </a:rPr>
              <a:t>The largest individual test contains 10,000 cloudlets. The complete experiment consumes 165,000 unique rows.</a:t>
            </a:r>
          </a:p>
        </p:txBody>
      </p:sp>
      <p:sp>
        <p:nvSpPr>
          <p:cNvPr id="4" name="">
            <a:extLst xmlns:a="http://schemas.openxmlformats.org/drawingml/2006/main">
              <a:ext uri="{FF2B5EF4-FFF2-40B4-BE49-F238E27FC236}">
                <a16:creationId xmlns:a16="http://schemas.microsoft.com/office/drawing/2014/main" id="{529B963B-56E1-403E-A2A3-F91E8FCF8BEA}"/>
              </a:ext>
            </a:extLst>
          </p:cNvPr>
          <p:cNvSpPr>
            <a:spLocks xmlns:a="http://schemas.openxmlformats.org/drawingml/2006/main" noGrp="1"/>
          </p:cNvSpPr>
          <p:nvPr/>
        </p:nvSpPr>
        <p:spPr>
          <a:xfrm xmlns:a="http://schemas.openxmlformats.org/drawingml/2006/main">
            <a:off x="609600" y="2076450"/>
            <a:ext cx="1238250" cy="457200"/>
          </a:xfrm>
          <a:prstGeom xmlns:a="http://schemas.openxmlformats.org/drawingml/2006/main" prst="rect">
            <a:avLst/>
          </a:prstGeom>
          <a:solidFill xmlns:a="http://schemas.openxmlformats.org/drawingml/2006/main">
            <a:srgbClr val="12263A"/>
          </a:solidFill>
          <a:ln xmlns:a="http://schemas.openxmlformats.org/drawingml/2006/main" w="9525">
            <a:solidFill>
              <a:srgbClr val="12263A"/>
            </a:solidFill>
          </a:ln>
        </p:spPr>
      </p:sp>
      <p:sp>
        <p:nvSpPr>
          <p:cNvPr id="5" name="">
            <a:extLst xmlns:a="http://schemas.openxmlformats.org/drawingml/2006/main">
              <a:ext uri="{FF2B5EF4-FFF2-40B4-BE49-F238E27FC236}">
                <a16:creationId xmlns:a16="http://schemas.microsoft.com/office/drawing/2014/main" id="{AD0509A1-9BC1-4F42-84C4-298582301014}"/>
              </a:ext>
            </a:extLst>
          </p:cNvPr>
          <p:cNvSpPr>
            <a:spLocks xmlns:a="http://schemas.openxmlformats.org/drawingml/2006/main" noGrp="1"/>
          </p:cNvSpPr>
          <p:nvPr/>
        </p:nvSpPr>
        <p:spPr>
          <a:xfrm xmlns:a="http://schemas.openxmlformats.org/drawingml/2006/main">
            <a:off x="742950" y="2190750"/>
            <a:ext cx="9715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FFFFFF"/>
                </a:solidFill>
                <a:latin typeface="Arial"/>
                <a:ea typeface="Arial"/>
                <a:cs typeface="Arial"/>
              </a:defRPr>
            </a:defPPr>
          </a:lstStyle>
          <a:p xmlns:a="http://schemas.openxmlformats.org/drawingml/2006/main">
            <a:pPr algn="l">
              <a:defRPr sz="1275" b="1">
                <a:solidFill>
                  <a:srgbClr val="FFFFFF"/>
                </a:solidFill>
                <a:latin typeface="Arial"/>
                <a:ea typeface="Arial"/>
                <a:cs typeface="Arial"/>
              </a:defRPr>
            </a:pPr>
            <a:r>
              <a:rPr sz="1275" b="1">
                <a:solidFill>
                  <a:srgbClr val="FFFFFF"/>
                </a:solidFill>
                <a:latin typeface="Arial"/>
                <a:ea typeface="Arial"/>
                <a:cs typeface="Arial"/>
              </a:rPr>
              <a:t>Dry run</a:t>
            </a:r>
          </a:p>
        </p:txBody>
      </p:sp>
      <p:sp>
        <p:nvSpPr>
          <p:cNvPr id="6" name="">
            <a:extLst xmlns:a="http://schemas.openxmlformats.org/drawingml/2006/main">
              <a:ext uri="{FF2B5EF4-FFF2-40B4-BE49-F238E27FC236}">
                <a16:creationId xmlns:a16="http://schemas.microsoft.com/office/drawing/2014/main" id="{13BA9103-3BD3-4B58-B431-371F3F9D1ADC}"/>
              </a:ext>
            </a:extLst>
          </p:cNvPr>
          <p:cNvSpPr>
            <a:spLocks xmlns:a="http://schemas.openxmlformats.org/drawingml/2006/main" noGrp="1"/>
          </p:cNvSpPr>
          <p:nvPr/>
        </p:nvSpPr>
        <p:spPr>
          <a:xfrm xmlns:a="http://schemas.openxmlformats.org/drawingml/2006/main">
            <a:off x="2000250" y="2076450"/>
            <a:ext cx="2190750" cy="457200"/>
          </a:xfrm>
          <a:prstGeom xmlns:a="http://schemas.openxmlformats.org/drawingml/2006/main" prst="rect">
            <a:avLst/>
          </a:prstGeom>
          <a:solidFill xmlns:a="http://schemas.openxmlformats.org/drawingml/2006/main">
            <a:srgbClr val="12263A"/>
          </a:solidFill>
          <a:ln xmlns:a="http://schemas.openxmlformats.org/drawingml/2006/main" w="9525">
            <a:solidFill>
              <a:srgbClr val="12263A"/>
            </a:solidFill>
          </a:ln>
        </p:spPr>
      </p:sp>
      <p:sp>
        <p:nvSpPr>
          <p:cNvPr id="7" name="">
            <a:extLst xmlns:a="http://schemas.openxmlformats.org/drawingml/2006/main">
              <a:ext uri="{FF2B5EF4-FFF2-40B4-BE49-F238E27FC236}">
                <a16:creationId xmlns:a16="http://schemas.microsoft.com/office/drawing/2014/main" id="{9E442E27-215E-4E1B-AA33-F2898906EA93}"/>
              </a:ext>
            </a:extLst>
          </p:cNvPr>
          <p:cNvSpPr>
            <a:spLocks xmlns:a="http://schemas.openxmlformats.org/drawingml/2006/main" noGrp="1"/>
          </p:cNvSpPr>
          <p:nvPr/>
        </p:nvSpPr>
        <p:spPr>
          <a:xfrm xmlns:a="http://schemas.openxmlformats.org/drawingml/2006/main">
            <a:off x="2133600" y="2190750"/>
            <a:ext cx="1924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FFFFFF"/>
                </a:solidFill>
                <a:latin typeface="Arial"/>
                <a:ea typeface="Arial"/>
                <a:cs typeface="Arial"/>
              </a:defRPr>
            </a:defPPr>
          </a:lstStyle>
          <a:p xmlns:a="http://schemas.openxmlformats.org/drawingml/2006/main">
            <a:pPr algn="l">
              <a:defRPr sz="1275" b="1">
                <a:solidFill>
                  <a:srgbClr val="FFFFFF"/>
                </a:solidFill>
                <a:latin typeface="Arial"/>
                <a:ea typeface="Arial"/>
                <a:cs typeface="Arial"/>
              </a:defRPr>
            </a:pPr>
            <a:r>
              <a:rPr sz="1275" b="1">
                <a:solidFill>
                  <a:srgbClr val="FFFFFF"/>
                </a:solidFill>
                <a:latin typeface="Arial"/>
                <a:ea typeface="Arial"/>
                <a:cs typeface="Arial"/>
              </a:rPr>
              <a:t>Cloudlets / repeat</a:t>
            </a:r>
          </a:p>
        </p:txBody>
      </p:sp>
      <p:sp>
        <p:nvSpPr>
          <p:cNvPr id="8" name="">
            <a:extLst xmlns:a="http://schemas.openxmlformats.org/drawingml/2006/main">
              <a:ext uri="{FF2B5EF4-FFF2-40B4-BE49-F238E27FC236}">
                <a16:creationId xmlns:a16="http://schemas.microsoft.com/office/drawing/2014/main" id="{62C4CC12-4F59-4728-BC4F-B5E03EAF24B7}"/>
              </a:ext>
            </a:extLst>
          </p:cNvPr>
          <p:cNvSpPr>
            <a:spLocks xmlns:a="http://schemas.openxmlformats.org/drawingml/2006/main" noGrp="1"/>
          </p:cNvSpPr>
          <p:nvPr/>
        </p:nvSpPr>
        <p:spPr>
          <a:xfrm xmlns:a="http://schemas.openxmlformats.org/drawingml/2006/main">
            <a:off x="4381500" y="2076450"/>
            <a:ext cx="7200900" cy="457200"/>
          </a:xfrm>
          <a:prstGeom xmlns:a="http://schemas.openxmlformats.org/drawingml/2006/main" prst="rect">
            <a:avLst/>
          </a:prstGeom>
          <a:solidFill xmlns:a="http://schemas.openxmlformats.org/drawingml/2006/main">
            <a:srgbClr val="12263A"/>
          </a:solidFill>
          <a:ln xmlns:a="http://schemas.openxmlformats.org/drawingml/2006/main" w="9525">
            <a:solidFill>
              <a:srgbClr val="12263A"/>
            </a:solidFill>
          </a:ln>
        </p:spPr>
      </p:sp>
      <p:sp>
        <p:nvSpPr>
          <p:cNvPr id="9" name="">
            <a:extLst xmlns:a="http://schemas.openxmlformats.org/drawingml/2006/main">
              <a:ext uri="{FF2B5EF4-FFF2-40B4-BE49-F238E27FC236}">
                <a16:creationId xmlns:a16="http://schemas.microsoft.com/office/drawing/2014/main" id="{45012F1C-E24C-4175-B00C-623B8024006F}"/>
              </a:ext>
            </a:extLst>
          </p:cNvPr>
          <p:cNvSpPr>
            <a:spLocks xmlns:a="http://schemas.openxmlformats.org/drawingml/2006/main" noGrp="1"/>
          </p:cNvSpPr>
          <p:nvPr/>
        </p:nvSpPr>
        <p:spPr>
          <a:xfrm xmlns:a="http://schemas.openxmlformats.org/drawingml/2006/main">
            <a:off x="4514850" y="2190750"/>
            <a:ext cx="6934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FFFFFF"/>
                </a:solidFill>
                <a:latin typeface="Arial"/>
                <a:ea typeface="Arial"/>
                <a:cs typeface="Arial"/>
              </a:defRPr>
            </a:defPPr>
          </a:lstStyle>
          <a:p xmlns:a="http://schemas.openxmlformats.org/drawingml/2006/main">
            <a:pPr algn="l">
              <a:defRPr sz="1275" b="1">
                <a:solidFill>
                  <a:srgbClr val="FFFFFF"/>
                </a:solidFill>
                <a:latin typeface="Arial"/>
                <a:ea typeface="Arial"/>
                <a:cs typeface="Arial"/>
              </a:defRPr>
            </a:pPr>
            <a:r>
              <a:rPr sz="1275" b="1">
                <a:solidFill>
                  <a:srgbClr val="FFFFFF"/>
                </a:solidFill>
                <a:latin typeface="Arial"/>
                <a:ea typeface="Arial"/>
                <a:cs typeface="Arial"/>
              </a:rPr>
              <a:t>Three contiguous ranges</a:t>
            </a:r>
          </a:p>
        </p:txBody>
      </p:sp>
      <p:sp>
        <p:nvSpPr>
          <p:cNvPr id="10" name="">
            <a:extLst xmlns:a="http://schemas.openxmlformats.org/drawingml/2006/main">
              <a:ext uri="{FF2B5EF4-FFF2-40B4-BE49-F238E27FC236}">
                <a16:creationId xmlns:a16="http://schemas.microsoft.com/office/drawing/2014/main" id="{02DEAC55-9AFF-4B35-BCBB-FCF368D61BAA}"/>
              </a:ext>
            </a:extLst>
          </p:cNvPr>
          <p:cNvSpPr>
            <a:spLocks xmlns:a="http://schemas.openxmlformats.org/drawingml/2006/main" noGrp="1"/>
          </p:cNvSpPr>
          <p:nvPr/>
        </p:nvSpPr>
        <p:spPr>
          <a:xfrm xmlns:a="http://schemas.openxmlformats.org/drawingml/2006/main">
            <a:off x="609600" y="2533650"/>
            <a:ext cx="12382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11" name="">
            <a:extLst xmlns:a="http://schemas.openxmlformats.org/drawingml/2006/main">
              <a:ext uri="{FF2B5EF4-FFF2-40B4-BE49-F238E27FC236}">
                <a16:creationId xmlns:a16="http://schemas.microsoft.com/office/drawing/2014/main" id="{79E98EA9-F9FA-44F2-86AB-5CC7B911D9F2}"/>
              </a:ext>
            </a:extLst>
          </p:cNvPr>
          <p:cNvSpPr>
            <a:spLocks xmlns:a="http://schemas.openxmlformats.org/drawingml/2006/main" noGrp="1"/>
          </p:cNvSpPr>
          <p:nvPr/>
        </p:nvSpPr>
        <p:spPr>
          <a:xfrm xmlns:a="http://schemas.openxmlformats.org/drawingml/2006/main">
            <a:off x="742950" y="2600325"/>
            <a:ext cx="97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1">
                <a:solidFill>
                  <a:srgbClr val="203040"/>
                </a:solidFill>
                <a:latin typeface="Arial"/>
                <a:ea typeface="Arial"/>
                <a:cs typeface="Arial"/>
              </a:defRPr>
            </a:defPPr>
          </a:lstStyle>
          <a:p xmlns:a="http://schemas.openxmlformats.org/drawingml/2006/main">
            <a:pPr algn="l">
              <a:defRPr sz="1125" b="1">
                <a:solidFill>
                  <a:srgbClr val="203040"/>
                </a:solidFill>
                <a:latin typeface="Arial"/>
                <a:ea typeface="Arial"/>
                <a:cs typeface="Arial"/>
              </a:defRPr>
            </a:pPr>
            <a:r>
              <a:rPr sz="1125" b="1">
                <a:solidFill>
                  <a:srgbClr val="203040"/>
                </a:solidFill>
                <a:latin typeface="Arial"/>
                <a:ea typeface="Arial"/>
                <a:cs typeface="Arial"/>
              </a:rPr>
              <a:t>1</a:t>
            </a:r>
          </a:p>
        </p:txBody>
      </p:sp>
      <p:sp>
        <p:nvSpPr>
          <p:cNvPr id="12" name="">
            <a:extLst xmlns:a="http://schemas.openxmlformats.org/drawingml/2006/main">
              <a:ext uri="{FF2B5EF4-FFF2-40B4-BE49-F238E27FC236}">
                <a16:creationId xmlns:a16="http://schemas.microsoft.com/office/drawing/2014/main" id="{00490ABF-3DD1-4AD7-A478-410EC4694AF4}"/>
              </a:ext>
            </a:extLst>
          </p:cNvPr>
          <p:cNvSpPr>
            <a:spLocks xmlns:a="http://schemas.openxmlformats.org/drawingml/2006/main" noGrp="1"/>
          </p:cNvSpPr>
          <p:nvPr/>
        </p:nvSpPr>
        <p:spPr>
          <a:xfrm xmlns:a="http://schemas.openxmlformats.org/drawingml/2006/main">
            <a:off x="2000250" y="2533650"/>
            <a:ext cx="21907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13" name="">
            <a:extLst xmlns:a="http://schemas.openxmlformats.org/drawingml/2006/main">
              <a:ext uri="{FF2B5EF4-FFF2-40B4-BE49-F238E27FC236}">
                <a16:creationId xmlns:a16="http://schemas.microsoft.com/office/drawing/2014/main" id="{01DB4CD4-1048-42AF-9C53-8E2A885B0E7B}"/>
              </a:ext>
            </a:extLst>
          </p:cNvPr>
          <p:cNvSpPr>
            <a:spLocks xmlns:a="http://schemas.openxmlformats.org/drawingml/2006/main" noGrp="1"/>
          </p:cNvSpPr>
          <p:nvPr/>
        </p:nvSpPr>
        <p:spPr>
          <a:xfrm xmlns:a="http://schemas.openxmlformats.org/drawingml/2006/main">
            <a:off x="2133600" y="2600325"/>
            <a:ext cx="1924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1,000</a:t>
            </a:r>
          </a:p>
        </p:txBody>
      </p:sp>
      <p:sp>
        <p:nvSpPr>
          <p:cNvPr id="14" name="">
            <a:extLst xmlns:a="http://schemas.openxmlformats.org/drawingml/2006/main">
              <a:ext uri="{FF2B5EF4-FFF2-40B4-BE49-F238E27FC236}">
                <a16:creationId xmlns:a16="http://schemas.microsoft.com/office/drawing/2014/main" id="{1A4F97EB-0E91-411A-88F4-B6BAA6AA9E96}"/>
              </a:ext>
            </a:extLst>
          </p:cNvPr>
          <p:cNvSpPr>
            <a:spLocks xmlns:a="http://schemas.openxmlformats.org/drawingml/2006/main" noGrp="1"/>
          </p:cNvSpPr>
          <p:nvPr/>
        </p:nvSpPr>
        <p:spPr>
          <a:xfrm xmlns:a="http://schemas.openxmlformats.org/drawingml/2006/main">
            <a:off x="4381500" y="2533650"/>
            <a:ext cx="720090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15" name="">
            <a:extLst xmlns:a="http://schemas.openxmlformats.org/drawingml/2006/main">
              <a:ext uri="{FF2B5EF4-FFF2-40B4-BE49-F238E27FC236}">
                <a16:creationId xmlns:a16="http://schemas.microsoft.com/office/drawing/2014/main" id="{F7F5C5B3-828D-472A-9CF1-54FF6EBBAFF5}"/>
              </a:ext>
            </a:extLst>
          </p:cNvPr>
          <p:cNvSpPr>
            <a:spLocks xmlns:a="http://schemas.openxmlformats.org/drawingml/2006/main" noGrp="1"/>
          </p:cNvSpPr>
          <p:nvPr/>
        </p:nvSpPr>
        <p:spPr>
          <a:xfrm xmlns:a="http://schemas.openxmlformats.org/drawingml/2006/main">
            <a:off x="4514850" y="2600325"/>
            <a:ext cx="6934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1–1,000; 1,001–2,000; 2,001–3,000</a:t>
            </a:r>
          </a:p>
        </p:txBody>
      </p:sp>
      <p:sp>
        <p:nvSpPr>
          <p:cNvPr id="16" name="">
            <a:extLst xmlns:a="http://schemas.openxmlformats.org/drawingml/2006/main">
              <a:ext uri="{FF2B5EF4-FFF2-40B4-BE49-F238E27FC236}">
                <a16:creationId xmlns:a16="http://schemas.microsoft.com/office/drawing/2014/main" id="{CA915599-FC6A-480F-BDBC-C638745838CD}"/>
              </a:ext>
            </a:extLst>
          </p:cNvPr>
          <p:cNvSpPr>
            <a:spLocks xmlns:a="http://schemas.openxmlformats.org/drawingml/2006/main" noGrp="1"/>
          </p:cNvSpPr>
          <p:nvPr/>
        </p:nvSpPr>
        <p:spPr>
          <a:xfrm xmlns:a="http://schemas.openxmlformats.org/drawingml/2006/main">
            <a:off x="609600" y="2867025"/>
            <a:ext cx="1238250" cy="333375"/>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17" name="">
            <a:extLst xmlns:a="http://schemas.openxmlformats.org/drawingml/2006/main">
              <a:ext uri="{FF2B5EF4-FFF2-40B4-BE49-F238E27FC236}">
                <a16:creationId xmlns:a16="http://schemas.microsoft.com/office/drawing/2014/main" id="{1E7951B6-F0A8-4FE8-BA1B-902528362170}"/>
              </a:ext>
            </a:extLst>
          </p:cNvPr>
          <p:cNvSpPr>
            <a:spLocks xmlns:a="http://schemas.openxmlformats.org/drawingml/2006/main" noGrp="1"/>
          </p:cNvSpPr>
          <p:nvPr/>
        </p:nvSpPr>
        <p:spPr>
          <a:xfrm xmlns:a="http://schemas.openxmlformats.org/drawingml/2006/main">
            <a:off x="742950" y="2933700"/>
            <a:ext cx="97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1">
                <a:solidFill>
                  <a:srgbClr val="203040"/>
                </a:solidFill>
                <a:latin typeface="Arial"/>
                <a:ea typeface="Arial"/>
                <a:cs typeface="Arial"/>
              </a:defRPr>
            </a:defPPr>
          </a:lstStyle>
          <a:p xmlns:a="http://schemas.openxmlformats.org/drawingml/2006/main">
            <a:pPr algn="l">
              <a:defRPr sz="1125" b="1">
                <a:solidFill>
                  <a:srgbClr val="203040"/>
                </a:solidFill>
                <a:latin typeface="Arial"/>
                <a:ea typeface="Arial"/>
                <a:cs typeface="Arial"/>
              </a:defRPr>
            </a:pPr>
            <a:r>
              <a:rPr sz="1125" b="1">
                <a:solidFill>
                  <a:srgbClr val="203040"/>
                </a:solidFill>
                <a:latin typeface="Arial"/>
                <a:ea typeface="Arial"/>
                <a:cs typeface="Arial"/>
              </a:rPr>
              <a:t>2</a:t>
            </a:r>
          </a:p>
        </p:txBody>
      </p:sp>
      <p:sp>
        <p:nvSpPr>
          <p:cNvPr id="18" name="">
            <a:extLst xmlns:a="http://schemas.openxmlformats.org/drawingml/2006/main">
              <a:ext uri="{FF2B5EF4-FFF2-40B4-BE49-F238E27FC236}">
                <a16:creationId xmlns:a16="http://schemas.microsoft.com/office/drawing/2014/main" id="{E3A751D0-0126-4606-B574-157E4EE5DB6D}"/>
              </a:ext>
            </a:extLst>
          </p:cNvPr>
          <p:cNvSpPr>
            <a:spLocks xmlns:a="http://schemas.openxmlformats.org/drawingml/2006/main" noGrp="1"/>
          </p:cNvSpPr>
          <p:nvPr/>
        </p:nvSpPr>
        <p:spPr>
          <a:xfrm xmlns:a="http://schemas.openxmlformats.org/drawingml/2006/main">
            <a:off x="2000250" y="2867025"/>
            <a:ext cx="2190750" cy="333375"/>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19" name="">
            <a:extLst xmlns:a="http://schemas.openxmlformats.org/drawingml/2006/main">
              <a:ext uri="{FF2B5EF4-FFF2-40B4-BE49-F238E27FC236}">
                <a16:creationId xmlns:a16="http://schemas.microsoft.com/office/drawing/2014/main" id="{50624002-01BA-48F8-93AB-471083762278}"/>
              </a:ext>
            </a:extLst>
          </p:cNvPr>
          <p:cNvSpPr>
            <a:spLocks xmlns:a="http://schemas.openxmlformats.org/drawingml/2006/main" noGrp="1"/>
          </p:cNvSpPr>
          <p:nvPr/>
        </p:nvSpPr>
        <p:spPr>
          <a:xfrm xmlns:a="http://schemas.openxmlformats.org/drawingml/2006/main">
            <a:off x="2133600" y="2933700"/>
            <a:ext cx="1924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2,000</a:t>
            </a:r>
          </a:p>
        </p:txBody>
      </p:sp>
      <p:sp>
        <p:nvSpPr>
          <p:cNvPr id="20" name="">
            <a:extLst xmlns:a="http://schemas.openxmlformats.org/drawingml/2006/main">
              <a:ext uri="{FF2B5EF4-FFF2-40B4-BE49-F238E27FC236}">
                <a16:creationId xmlns:a16="http://schemas.microsoft.com/office/drawing/2014/main" id="{40454FE3-0153-4439-9E51-A07A239B4D9E}"/>
              </a:ext>
            </a:extLst>
          </p:cNvPr>
          <p:cNvSpPr>
            <a:spLocks xmlns:a="http://schemas.openxmlformats.org/drawingml/2006/main" noGrp="1"/>
          </p:cNvSpPr>
          <p:nvPr/>
        </p:nvSpPr>
        <p:spPr>
          <a:xfrm xmlns:a="http://schemas.openxmlformats.org/drawingml/2006/main">
            <a:off x="4381500" y="2867025"/>
            <a:ext cx="7200900" cy="333375"/>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21" name="">
            <a:extLst xmlns:a="http://schemas.openxmlformats.org/drawingml/2006/main">
              <a:ext uri="{FF2B5EF4-FFF2-40B4-BE49-F238E27FC236}">
                <a16:creationId xmlns:a16="http://schemas.microsoft.com/office/drawing/2014/main" id="{CDD147D0-63F1-4C30-AE63-2E93A6DC9DA5}"/>
              </a:ext>
            </a:extLst>
          </p:cNvPr>
          <p:cNvSpPr>
            <a:spLocks xmlns:a="http://schemas.openxmlformats.org/drawingml/2006/main" noGrp="1"/>
          </p:cNvSpPr>
          <p:nvPr/>
        </p:nvSpPr>
        <p:spPr>
          <a:xfrm xmlns:a="http://schemas.openxmlformats.org/drawingml/2006/main">
            <a:off x="4514850" y="2933700"/>
            <a:ext cx="6934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3,001–5,000; 5,001–7,000; 7,001–9,000</a:t>
            </a:r>
          </a:p>
        </p:txBody>
      </p:sp>
      <p:sp>
        <p:nvSpPr>
          <p:cNvPr id="22" name="">
            <a:extLst xmlns:a="http://schemas.openxmlformats.org/drawingml/2006/main">
              <a:ext uri="{FF2B5EF4-FFF2-40B4-BE49-F238E27FC236}">
                <a16:creationId xmlns:a16="http://schemas.microsoft.com/office/drawing/2014/main" id="{D7F94765-AC26-4B0A-BE8B-6D9E01082594}"/>
              </a:ext>
            </a:extLst>
          </p:cNvPr>
          <p:cNvSpPr>
            <a:spLocks xmlns:a="http://schemas.openxmlformats.org/drawingml/2006/main" noGrp="1"/>
          </p:cNvSpPr>
          <p:nvPr/>
        </p:nvSpPr>
        <p:spPr>
          <a:xfrm xmlns:a="http://schemas.openxmlformats.org/drawingml/2006/main">
            <a:off x="609600" y="3200400"/>
            <a:ext cx="12382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23" name="">
            <a:extLst xmlns:a="http://schemas.openxmlformats.org/drawingml/2006/main">
              <a:ext uri="{FF2B5EF4-FFF2-40B4-BE49-F238E27FC236}">
                <a16:creationId xmlns:a16="http://schemas.microsoft.com/office/drawing/2014/main" id="{313A5526-C17D-4918-BDE2-A23363A2907F}"/>
              </a:ext>
            </a:extLst>
          </p:cNvPr>
          <p:cNvSpPr>
            <a:spLocks xmlns:a="http://schemas.openxmlformats.org/drawingml/2006/main" noGrp="1"/>
          </p:cNvSpPr>
          <p:nvPr/>
        </p:nvSpPr>
        <p:spPr>
          <a:xfrm xmlns:a="http://schemas.openxmlformats.org/drawingml/2006/main">
            <a:off x="742950" y="3267075"/>
            <a:ext cx="97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1">
                <a:solidFill>
                  <a:srgbClr val="203040"/>
                </a:solidFill>
                <a:latin typeface="Arial"/>
                <a:ea typeface="Arial"/>
                <a:cs typeface="Arial"/>
              </a:defRPr>
            </a:defPPr>
          </a:lstStyle>
          <a:p xmlns:a="http://schemas.openxmlformats.org/drawingml/2006/main">
            <a:pPr algn="l">
              <a:defRPr sz="1125" b="1">
                <a:solidFill>
                  <a:srgbClr val="203040"/>
                </a:solidFill>
                <a:latin typeface="Arial"/>
                <a:ea typeface="Arial"/>
                <a:cs typeface="Arial"/>
              </a:defRPr>
            </a:pPr>
            <a:r>
              <a:rPr sz="1125" b="1">
                <a:solidFill>
                  <a:srgbClr val="203040"/>
                </a:solidFill>
                <a:latin typeface="Arial"/>
                <a:ea typeface="Arial"/>
                <a:cs typeface="Arial"/>
              </a:rPr>
              <a:t>3</a:t>
            </a:r>
          </a:p>
        </p:txBody>
      </p:sp>
      <p:sp>
        <p:nvSpPr>
          <p:cNvPr id="24" name="">
            <a:extLst xmlns:a="http://schemas.openxmlformats.org/drawingml/2006/main">
              <a:ext uri="{FF2B5EF4-FFF2-40B4-BE49-F238E27FC236}">
                <a16:creationId xmlns:a16="http://schemas.microsoft.com/office/drawing/2014/main" id="{8F46B135-799C-47AC-93AC-ABD5A0E707C1}"/>
              </a:ext>
            </a:extLst>
          </p:cNvPr>
          <p:cNvSpPr>
            <a:spLocks xmlns:a="http://schemas.openxmlformats.org/drawingml/2006/main" noGrp="1"/>
          </p:cNvSpPr>
          <p:nvPr/>
        </p:nvSpPr>
        <p:spPr>
          <a:xfrm xmlns:a="http://schemas.openxmlformats.org/drawingml/2006/main">
            <a:off x="2000250" y="3200400"/>
            <a:ext cx="21907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25" name="">
            <a:extLst xmlns:a="http://schemas.openxmlformats.org/drawingml/2006/main">
              <a:ext uri="{FF2B5EF4-FFF2-40B4-BE49-F238E27FC236}">
                <a16:creationId xmlns:a16="http://schemas.microsoft.com/office/drawing/2014/main" id="{1C72EBC0-0CBD-497D-9012-47A38BFCEB59}"/>
              </a:ext>
            </a:extLst>
          </p:cNvPr>
          <p:cNvSpPr>
            <a:spLocks xmlns:a="http://schemas.openxmlformats.org/drawingml/2006/main" noGrp="1"/>
          </p:cNvSpPr>
          <p:nvPr/>
        </p:nvSpPr>
        <p:spPr>
          <a:xfrm xmlns:a="http://schemas.openxmlformats.org/drawingml/2006/main">
            <a:off x="2133600" y="3267075"/>
            <a:ext cx="1924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3,000</a:t>
            </a:r>
          </a:p>
        </p:txBody>
      </p:sp>
      <p:sp>
        <p:nvSpPr>
          <p:cNvPr id="26" name="">
            <a:extLst xmlns:a="http://schemas.openxmlformats.org/drawingml/2006/main">
              <a:ext uri="{FF2B5EF4-FFF2-40B4-BE49-F238E27FC236}">
                <a16:creationId xmlns:a16="http://schemas.microsoft.com/office/drawing/2014/main" id="{068CB055-4A8F-48DF-B56A-CDF067CC46EE}"/>
              </a:ext>
            </a:extLst>
          </p:cNvPr>
          <p:cNvSpPr>
            <a:spLocks xmlns:a="http://schemas.openxmlformats.org/drawingml/2006/main" noGrp="1"/>
          </p:cNvSpPr>
          <p:nvPr/>
        </p:nvSpPr>
        <p:spPr>
          <a:xfrm xmlns:a="http://schemas.openxmlformats.org/drawingml/2006/main">
            <a:off x="4381500" y="3200400"/>
            <a:ext cx="720090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27" name="">
            <a:extLst xmlns:a="http://schemas.openxmlformats.org/drawingml/2006/main">
              <a:ext uri="{FF2B5EF4-FFF2-40B4-BE49-F238E27FC236}">
                <a16:creationId xmlns:a16="http://schemas.microsoft.com/office/drawing/2014/main" id="{F4995BA4-4D9E-41D9-A0E1-C179EF529E8C}"/>
              </a:ext>
            </a:extLst>
          </p:cNvPr>
          <p:cNvSpPr>
            <a:spLocks xmlns:a="http://schemas.openxmlformats.org/drawingml/2006/main" noGrp="1"/>
          </p:cNvSpPr>
          <p:nvPr/>
        </p:nvSpPr>
        <p:spPr>
          <a:xfrm xmlns:a="http://schemas.openxmlformats.org/drawingml/2006/main">
            <a:off x="4514850" y="3267075"/>
            <a:ext cx="6934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9,001–12,000; 12,001–15,000; 15,001–18,000</a:t>
            </a:r>
          </a:p>
        </p:txBody>
      </p:sp>
      <p:sp>
        <p:nvSpPr>
          <p:cNvPr id="28" name="">
            <a:extLst xmlns:a="http://schemas.openxmlformats.org/drawingml/2006/main">
              <a:ext uri="{FF2B5EF4-FFF2-40B4-BE49-F238E27FC236}">
                <a16:creationId xmlns:a16="http://schemas.microsoft.com/office/drawing/2014/main" id="{45B054A1-2AC7-4078-B751-C3FCBBB5EF90}"/>
              </a:ext>
            </a:extLst>
          </p:cNvPr>
          <p:cNvSpPr>
            <a:spLocks xmlns:a="http://schemas.openxmlformats.org/drawingml/2006/main" noGrp="1"/>
          </p:cNvSpPr>
          <p:nvPr/>
        </p:nvSpPr>
        <p:spPr>
          <a:xfrm xmlns:a="http://schemas.openxmlformats.org/drawingml/2006/main">
            <a:off x="609600" y="3533775"/>
            <a:ext cx="1238250" cy="333375"/>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29" name="">
            <a:extLst xmlns:a="http://schemas.openxmlformats.org/drawingml/2006/main">
              <a:ext uri="{FF2B5EF4-FFF2-40B4-BE49-F238E27FC236}">
                <a16:creationId xmlns:a16="http://schemas.microsoft.com/office/drawing/2014/main" id="{BD0183F1-541A-466F-8E0A-326804FD0BDA}"/>
              </a:ext>
            </a:extLst>
          </p:cNvPr>
          <p:cNvSpPr>
            <a:spLocks xmlns:a="http://schemas.openxmlformats.org/drawingml/2006/main" noGrp="1"/>
          </p:cNvSpPr>
          <p:nvPr/>
        </p:nvSpPr>
        <p:spPr>
          <a:xfrm xmlns:a="http://schemas.openxmlformats.org/drawingml/2006/main">
            <a:off x="742950" y="3600450"/>
            <a:ext cx="97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1">
                <a:solidFill>
                  <a:srgbClr val="203040"/>
                </a:solidFill>
                <a:latin typeface="Arial"/>
                <a:ea typeface="Arial"/>
                <a:cs typeface="Arial"/>
              </a:defRPr>
            </a:defPPr>
          </a:lstStyle>
          <a:p xmlns:a="http://schemas.openxmlformats.org/drawingml/2006/main">
            <a:pPr algn="l">
              <a:defRPr sz="1125" b="1">
                <a:solidFill>
                  <a:srgbClr val="203040"/>
                </a:solidFill>
                <a:latin typeface="Arial"/>
                <a:ea typeface="Arial"/>
                <a:cs typeface="Arial"/>
              </a:defRPr>
            </a:pPr>
            <a:r>
              <a:rPr sz="1125" b="1">
                <a:solidFill>
                  <a:srgbClr val="203040"/>
                </a:solidFill>
                <a:latin typeface="Arial"/>
                <a:ea typeface="Arial"/>
                <a:cs typeface="Arial"/>
              </a:rPr>
              <a:t>4</a:t>
            </a:r>
          </a:p>
        </p:txBody>
      </p:sp>
      <p:sp>
        <p:nvSpPr>
          <p:cNvPr id="30" name="">
            <a:extLst xmlns:a="http://schemas.openxmlformats.org/drawingml/2006/main">
              <a:ext uri="{FF2B5EF4-FFF2-40B4-BE49-F238E27FC236}">
                <a16:creationId xmlns:a16="http://schemas.microsoft.com/office/drawing/2014/main" id="{F7A2E85E-A3A8-4A7A-9753-75A53E3BCA96}"/>
              </a:ext>
            </a:extLst>
          </p:cNvPr>
          <p:cNvSpPr>
            <a:spLocks xmlns:a="http://schemas.openxmlformats.org/drawingml/2006/main" noGrp="1"/>
          </p:cNvSpPr>
          <p:nvPr/>
        </p:nvSpPr>
        <p:spPr>
          <a:xfrm xmlns:a="http://schemas.openxmlformats.org/drawingml/2006/main">
            <a:off x="2000250" y="3533775"/>
            <a:ext cx="2190750" cy="333375"/>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31" name="">
            <a:extLst xmlns:a="http://schemas.openxmlformats.org/drawingml/2006/main">
              <a:ext uri="{FF2B5EF4-FFF2-40B4-BE49-F238E27FC236}">
                <a16:creationId xmlns:a16="http://schemas.microsoft.com/office/drawing/2014/main" id="{3B1F42B6-5DB9-403A-9774-503D86C85961}"/>
              </a:ext>
            </a:extLst>
          </p:cNvPr>
          <p:cNvSpPr>
            <a:spLocks xmlns:a="http://schemas.openxmlformats.org/drawingml/2006/main" noGrp="1"/>
          </p:cNvSpPr>
          <p:nvPr/>
        </p:nvSpPr>
        <p:spPr>
          <a:xfrm xmlns:a="http://schemas.openxmlformats.org/drawingml/2006/main">
            <a:off x="2133600" y="3600450"/>
            <a:ext cx="1924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4,000</a:t>
            </a:r>
          </a:p>
        </p:txBody>
      </p:sp>
      <p:sp>
        <p:nvSpPr>
          <p:cNvPr id="32" name="">
            <a:extLst xmlns:a="http://schemas.openxmlformats.org/drawingml/2006/main">
              <a:ext uri="{FF2B5EF4-FFF2-40B4-BE49-F238E27FC236}">
                <a16:creationId xmlns:a16="http://schemas.microsoft.com/office/drawing/2014/main" id="{63DCB295-BACE-4059-AB6B-874EDA212448}"/>
              </a:ext>
            </a:extLst>
          </p:cNvPr>
          <p:cNvSpPr>
            <a:spLocks xmlns:a="http://schemas.openxmlformats.org/drawingml/2006/main" noGrp="1"/>
          </p:cNvSpPr>
          <p:nvPr/>
        </p:nvSpPr>
        <p:spPr>
          <a:xfrm xmlns:a="http://schemas.openxmlformats.org/drawingml/2006/main">
            <a:off x="4381500" y="3533775"/>
            <a:ext cx="7200900" cy="333375"/>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33" name="">
            <a:extLst xmlns:a="http://schemas.openxmlformats.org/drawingml/2006/main">
              <a:ext uri="{FF2B5EF4-FFF2-40B4-BE49-F238E27FC236}">
                <a16:creationId xmlns:a16="http://schemas.microsoft.com/office/drawing/2014/main" id="{77C3DB6A-CD36-4906-9AB8-E75641B33FF4}"/>
              </a:ext>
            </a:extLst>
          </p:cNvPr>
          <p:cNvSpPr>
            <a:spLocks xmlns:a="http://schemas.openxmlformats.org/drawingml/2006/main" noGrp="1"/>
          </p:cNvSpPr>
          <p:nvPr/>
        </p:nvSpPr>
        <p:spPr>
          <a:xfrm xmlns:a="http://schemas.openxmlformats.org/drawingml/2006/main">
            <a:off x="4514850" y="3600450"/>
            <a:ext cx="6934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18,001–22,000; 22,001–26,000; 26,001–30,000</a:t>
            </a:r>
          </a:p>
        </p:txBody>
      </p:sp>
      <p:sp>
        <p:nvSpPr>
          <p:cNvPr id="34" name="">
            <a:extLst xmlns:a="http://schemas.openxmlformats.org/drawingml/2006/main">
              <a:ext uri="{FF2B5EF4-FFF2-40B4-BE49-F238E27FC236}">
                <a16:creationId xmlns:a16="http://schemas.microsoft.com/office/drawing/2014/main" id="{B99285D0-92A3-4D3D-8255-DAF0289371C9}"/>
              </a:ext>
            </a:extLst>
          </p:cNvPr>
          <p:cNvSpPr>
            <a:spLocks xmlns:a="http://schemas.openxmlformats.org/drawingml/2006/main" noGrp="1"/>
          </p:cNvSpPr>
          <p:nvPr/>
        </p:nvSpPr>
        <p:spPr>
          <a:xfrm xmlns:a="http://schemas.openxmlformats.org/drawingml/2006/main">
            <a:off x="609600" y="3867150"/>
            <a:ext cx="12382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35" name="">
            <a:extLst xmlns:a="http://schemas.openxmlformats.org/drawingml/2006/main">
              <a:ext uri="{FF2B5EF4-FFF2-40B4-BE49-F238E27FC236}">
                <a16:creationId xmlns:a16="http://schemas.microsoft.com/office/drawing/2014/main" id="{04216EC4-90F0-4F5D-8E29-ECBF841A30C1}"/>
              </a:ext>
            </a:extLst>
          </p:cNvPr>
          <p:cNvSpPr>
            <a:spLocks xmlns:a="http://schemas.openxmlformats.org/drawingml/2006/main" noGrp="1"/>
          </p:cNvSpPr>
          <p:nvPr/>
        </p:nvSpPr>
        <p:spPr>
          <a:xfrm xmlns:a="http://schemas.openxmlformats.org/drawingml/2006/main">
            <a:off x="742950" y="3933825"/>
            <a:ext cx="97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1">
                <a:solidFill>
                  <a:srgbClr val="203040"/>
                </a:solidFill>
                <a:latin typeface="Arial"/>
                <a:ea typeface="Arial"/>
                <a:cs typeface="Arial"/>
              </a:defRPr>
            </a:defPPr>
          </a:lstStyle>
          <a:p xmlns:a="http://schemas.openxmlformats.org/drawingml/2006/main">
            <a:pPr algn="l">
              <a:defRPr sz="1125" b="1">
                <a:solidFill>
                  <a:srgbClr val="203040"/>
                </a:solidFill>
                <a:latin typeface="Arial"/>
                <a:ea typeface="Arial"/>
                <a:cs typeface="Arial"/>
              </a:defRPr>
            </a:pPr>
            <a:r>
              <a:rPr sz="1125" b="1">
                <a:solidFill>
                  <a:srgbClr val="203040"/>
                </a:solidFill>
                <a:latin typeface="Arial"/>
                <a:ea typeface="Arial"/>
                <a:cs typeface="Arial"/>
              </a:rPr>
              <a:t>5</a:t>
            </a:r>
          </a:p>
        </p:txBody>
      </p:sp>
      <p:sp>
        <p:nvSpPr>
          <p:cNvPr id="36" name="">
            <a:extLst xmlns:a="http://schemas.openxmlformats.org/drawingml/2006/main">
              <a:ext uri="{FF2B5EF4-FFF2-40B4-BE49-F238E27FC236}">
                <a16:creationId xmlns:a16="http://schemas.microsoft.com/office/drawing/2014/main" id="{DDC03E22-7440-40C3-BFBE-225E0AD0DFC7}"/>
              </a:ext>
            </a:extLst>
          </p:cNvPr>
          <p:cNvSpPr>
            <a:spLocks xmlns:a="http://schemas.openxmlformats.org/drawingml/2006/main" noGrp="1"/>
          </p:cNvSpPr>
          <p:nvPr/>
        </p:nvSpPr>
        <p:spPr>
          <a:xfrm xmlns:a="http://schemas.openxmlformats.org/drawingml/2006/main">
            <a:off x="2000250" y="3867150"/>
            <a:ext cx="21907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37" name="">
            <a:extLst xmlns:a="http://schemas.openxmlformats.org/drawingml/2006/main">
              <a:ext uri="{FF2B5EF4-FFF2-40B4-BE49-F238E27FC236}">
                <a16:creationId xmlns:a16="http://schemas.microsoft.com/office/drawing/2014/main" id="{A4DEEB67-5283-4C65-8672-704A859088F3}"/>
              </a:ext>
            </a:extLst>
          </p:cNvPr>
          <p:cNvSpPr>
            <a:spLocks xmlns:a="http://schemas.openxmlformats.org/drawingml/2006/main" noGrp="1"/>
          </p:cNvSpPr>
          <p:nvPr/>
        </p:nvSpPr>
        <p:spPr>
          <a:xfrm xmlns:a="http://schemas.openxmlformats.org/drawingml/2006/main">
            <a:off x="2133600" y="3933825"/>
            <a:ext cx="1924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5,000</a:t>
            </a:r>
          </a:p>
        </p:txBody>
      </p:sp>
      <p:sp>
        <p:nvSpPr>
          <p:cNvPr id="38" name="">
            <a:extLst xmlns:a="http://schemas.openxmlformats.org/drawingml/2006/main">
              <a:ext uri="{FF2B5EF4-FFF2-40B4-BE49-F238E27FC236}">
                <a16:creationId xmlns:a16="http://schemas.microsoft.com/office/drawing/2014/main" id="{7239BF46-CE83-4269-AF3A-D5B1B9137297}"/>
              </a:ext>
            </a:extLst>
          </p:cNvPr>
          <p:cNvSpPr>
            <a:spLocks xmlns:a="http://schemas.openxmlformats.org/drawingml/2006/main" noGrp="1"/>
          </p:cNvSpPr>
          <p:nvPr/>
        </p:nvSpPr>
        <p:spPr>
          <a:xfrm xmlns:a="http://schemas.openxmlformats.org/drawingml/2006/main">
            <a:off x="4381500" y="3867150"/>
            <a:ext cx="720090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39" name="">
            <a:extLst xmlns:a="http://schemas.openxmlformats.org/drawingml/2006/main">
              <a:ext uri="{FF2B5EF4-FFF2-40B4-BE49-F238E27FC236}">
                <a16:creationId xmlns:a16="http://schemas.microsoft.com/office/drawing/2014/main" id="{3F02D0DB-8F3D-45BD-A9C8-9D2767D0C6D3}"/>
              </a:ext>
            </a:extLst>
          </p:cNvPr>
          <p:cNvSpPr>
            <a:spLocks xmlns:a="http://schemas.openxmlformats.org/drawingml/2006/main" noGrp="1"/>
          </p:cNvSpPr>
          <p:nvPr/>
        </p:nvSpPr>
        <p:spPr>
          <a:xfrm xmlns:a="http://schemas.openxmlformats.org/drawingml/2006/main">
            <a:off x="4514850" y="3933825"/>
            <a:ext cx="6934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30,001–35,000; 35,001–40,000; 40,001–45,000</a:t>
            </a:r>
          </a:p>
        </p:txBody>
      </p:sp>
      <p:sp>
        <p:nvSpPr>
          <p:cNvPr id="40" name="">
            <a:extLst xmlns:a="http://schemas.openxmlformats.org/drawingml/2006/main">
              <a:ext uri="{FF2B5EF4-FFF2-40B4-BE49-F238E27FC236}">
                <a16:creationId xmlns:a16="http://schemas.microsoft.com/office/drawing/2014/main" id="{7F14DCAB-A87E-47ED-B05D-836188F5A50C}"/>
              </a:ext>
            </a:extLst>
          </p:cNvPr>
          <p:cNvSpPr>
            <a:spLocks xmlns:a="http://schemas.openxmlformats.org/drawingml/2006/main" noGrp="1"/>
          </p:cNvSpPr>
          <p:nvPr/>
        </p:nvSpPr>
        <p:spPr>
          <a:xfrm xmlns:a="http://schemas.openxmlformats.org/drawingml/2006/main">
            <a:off x="609600" y="4200525"/>
            <a:ext cx="1238250" cy="333375"/>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41" name="">
            <a:extLst xmlns:a="http://schemas.openxmlformats.org/drawingml/2006/main">
              <a:ext uri="{FF2B5EF4-FFF2-40B4-BE49-F238E27FC236}">
                <a16:creationId xmlns:a16="http://schemas.microsoft.com/office/drawing/2014/main" id="{DF61B2CB-AAA2-4CBE-B013-71BAAF486853}"/>
              </a:ext>
            </a:extLst>
          </p:cNvPr>
          <p:cNvSpPr>
            <a:spLocks xmlns:a="http://schemas.openxmlformats.org/drawingml/2006/main" noGrp="1"/>
          </p:cNvSpPr>
          <p:nvPr/>
        </p:nvSpPr>
        <p:spPr>
          <a:xfrm xmlns:a="http://schemas.openxmlformats.org/drawingml/2006/main">
            <a:off x="742950" y="4267200"/>
            <a:ext cx="97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1">
                <a:solidFill>
                  <a:srgbClr val="203040"/>
                </a:solidFill>
                <a:latin typeface="Arial"/>
                <a:ea typeface="Arial"/>
                <a:cs typeface="Arial"/>
              </a:defRPr>
            </a:defPPr>
          </a:lstStyle>
          <a:p xmlns:a="http://schemas.openxmlformats.org/drawingml/2006/main">
            <a:pPr algn="l">
              <a:defRPr sz="1125" b="1">
                <a:solidFill>
                  <a:srgbClr val="203040"/>
                </a:solidFill>
                <a:latin typeface="Arial"/>
                <a:ea typeface="Arial"/>
                <a:cs typeface="Arial"/>
              </a:defRPr>
            </a:pPr>
            <a:r>
              <a:rPr sz="1125" b="1">
                <a:solidFill>
                  <a:srgbClr val="203040"/>
                </a:solidFill>
                <a:latin typeface="Arial"/>
                <a:ea typeface="Arial"/>
                <a:cs typeface="Arial"/>
              </a:rPr>
              <a:t>6</a:t>
            </a:r>
          </a:p>
        </p:txBody>
      </p:sp>
      <p:sp>
        <p:nvSpPr>
          <p:cNvPr id="42" name="">
            <a:extLst xmlns:a="http://schemas.openxmlformats.org/drawingml/2006/main">
              <a:ext uri="{FF2B5EF4-FFF2-40B4-BE49-F238E27FC236}">
                <a16:creationId xmlns:a16="http://schemas.microsoft.com/office/drawing/2014/main" id="{21180177-DE26-442D-952E-B12E2CFC0E23}"/>
              </a:ext>
            </a:extLst>
          </p:cNvPr>
          <p:cNvSpPr>
            <a:spLocks xmlns:a="http://schemas.openxmlformats.org/drawingml/2006/main" noGrp="1"/>
          </p:cNvSpPr>
          <p:nvPr/>
        </p:nvSpPr>
        <p:spPr>
          <a:xfrm xmlns:a="http://schemas.openxmlformats.org/drawingml/2006/main">
            <a:off x="2000250" y="4200525"/>
            <a:ext cx="2190750" cy="333375"/>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43" name="">
            <a:extLst xmlns:a="http://schemas.openxmlformats.org/drawingml/2006/main">
              <a:ext uri="{FF2B5EF4-FFF2-40B4-BE49-F238E27FC236}">
                <a16:creationId xmlns:a16="http://schemas.microsoft.com/office/drawing/2014/main" id="{C5EF7305-25BF-4F4B-8D6A-7E948A32EA9A}"/>
              </a:ext>
            </a:extLst>
          </p:cNvPr>
          <p:cNvSpPr>
            <a:spLocks xmlns:a="http://schemas.openxmlformats.org/drawingml/2006/main" noGrp="1"/>
          </p:cNvSpPr>
          <p:nvPr/>
        </p:nvSpPr>
        <p:spPr>
          <a:xfrm xmlns:a="http://schemas.openxmlformats.org/drawingml/2006/main">
            <a:off x="2133600" y="4267200"/>
            <a:ext cx="1924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6,000</a:t>
            </a:r>
          </a:p>
        </p:txBody>
      </p:sp>
      <p:sp>
        <p:nvSpPr>
          <p:cNvPr id="44" name="">
            <a:extLst xmlns:a="http://schemas.openxmlformats.org/drawingml/2006/main">
              <a:ext uri="{FF2B5EF4-FFF2-40B4-BE49-F238E27FC236}">
                <a16:creationId xmlns:a16="http://schemas.microsoft.com/office/drawing/2014/main" id="{F943A757-6FF8-4818-90F9-E624C03CCEF2}"/>
              </a:ext>
            </a:extLst>
          </p:cNvPr>
          <p:cNvSpPr>
            <a:spLocks xmlns:a="http://schemas.openxmlformats.org/drawingml/2006/main" noGrp="1"/>
          </p:cNvSpPr>
          <p:nvPr/>
        </p:nvSpPr>
        <p:spPr>
          <a:xfrm xmlns:a="http://schemas.openxmlformats.org/drawingml/2006/main">
            <a:off x="4381500" y="4200525"/>
            <a:ext cx="7200900" cy="333375"/>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45" name="">
            <a:extLst xmlns:a="http://schemas.openxmlformats.org/drawingml/2006/main">
              <a:ext uri="{FF2B5EF4-FFF2-40B4-BE49-F238E27FC236}">
                <a16:creationId xmlns:a16="http://schemas.microsoft.com/office/drawing/2014/main" id="{CE2ED00B-3128-4B81-8778-061373D61E96}"/>
              </a:ext>
            </a:extLst>
          </p:cNvPr>
          <p:cNvSpPr>
            <a:spLocks xmlns:a="http://schemas.openxmlformats.org/drawingml/2006/main" noGrp="1"/>
          </p:cNvSpPr>
          <p:nvPr/>
        </p:nvSpPr>
        <p:spPr>
          <a:xfrm xmlns:a="http://schemas.openxmlformats.org/drawingml/2006/main">
            <a:off x="4514850" y="4267200"/>
            <a:ext cx="6934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45,001–51,000; 51,001–57,000; 57,001–63,000</a:t>
            </a:r>
          </a:p>
        </p:txBody>
      </p:sp>
      <p:sp>
        <p:nvSpPr>
          <p:cNvPr id="46" name="">
            <a:extLst xmlns:a="http://schemas.openxmlformats.org/drawingml/2006/main">
              <a:ext uri="{FF2B5EF4-FFF2-40B4-BE49-F238E27FC236}">
                <a16:creationId xmlns:a16="http://schemas.microsoft.com/office/drawing/2014/main" id="{C538BB51-5EBD-4152-AF13-7AE928BA3BCB}"/>
              </a:ext>
            </a:extLst>
          </p:cNvPr>
          <p:cNvSpPr>
            <a:spLocks xmlns:a="http://schemas.openxmlformats.org/drawingml/2006/main" noGrp="1"/>
          </p:cNvSpPr>
          <p:nvPr/>
        </p:nvSpPr>
        <p:spPr>
          <a:xfrm xmlns:a="http://schemas.openxmlformats.org/drawingml/2006/main">
            <a:off x="609600" y="4533900"/>
            <a:ext cx="12382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47" name="">
            <a:extLst xmlns:a="http://schemas.openxmlformats.org/drawingml/2006/main">
              <a:ext uri="{FF2B5EF4-FFF2-40B4-BE49-F238E27FC236}">
                <a16:creationId xmlns:a16="http://schemas.microsoft.com/office/drawing/2014/main" id="{B0051CD8-7878-4301-84F0-E8FC0DFEBE84}"/>
              </a:ext>
            </a:extLst>
          </p:cNvPr>
          <p:cNvSpPr>
            <a:spLocks xmlns:a="http://schemas.openxmlformats.org/drawingml/2006/main" noGrp="1"/>
          </p:cNvSpPr>
          <p:nvPr/>
        </p:nvSpPr>
        <p:spPr>
          <a:xfrm xmlns:a="http://schemas.openxmlformats.org/drawingml/2006/main">
            <a:off x="742950" y="4600575"/>
            <a:ext cx="97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1">
                <a:solidFill>
                  <a:srgbClr val="203040"/>
                </a:solidFill>
                <a:latin typeface="Arial"/>
                <a:ea typeface="Arial"/>
                <a:cs typeface="Arial"/>
              </a:defRPr>
            </a:defPPr>
          </a:lstStyle>
          <a:p xmlns:a="http://schemas.openxmlformats.org/drawingml/2006/main">
            <a:pPr algn="l">
              <a:defRPr sz="1125" b="1">
                <a:solidFill>
                  <a:srgbClr val="203040"/>
                </a:solidFill>
                <a:latin typeface="Arial"/>
                <a:ea typeface="Arial"/>
                <a:cs typeface="Arial"/>
              </a:defRPr>
            </a:pPr>
            <a:r>
              <a:rPr sz="1125" b="1">
                <a:solidFill>
                  <a:srgbClr val="203040"/>
                </a:solidFill>
                <a:latin typeface="Arial"/>
                <a:ea typeface="Arial"/>
                <a:cs typeface="Arial"/>
              </a:rPr>
              <a:t>7</a:t>
            </a:r>
          </a:p>
        </p:txBody>
      </p:sp>
      <p:sp>
        <p:nvSpPr>
          <p:cNvPr id="48" name="">
            <a:extLst xmlns:a="http://schemas.openxmlformats.org/drawingml/2006/main">
              <a:ext uri="{FF2B5EF4-FFF2-40B4-BE49-F238E27FC236}">
                <a16:creationId xmlns:a16="http://schemas.microsoft.com/office/drawing/2014/main" id="{CA71F1B2-9558-46FB-B899-3F63FAF076EC}"/>
              </a:ext>
            </a:extLst>
          </p:cNvPr>
          <p:cNvSpPr>
            <a:spLocks xmlns:a="http://schemas.openxmlformats.org/drawingml/2006/main" noGrp="1"/>
          </p:cNvSpPr>
          <p:nvPr/>
        </p:nvSpPr>
        <p:spPr>
          <a:xfrm xmlns:a="http://schemas.openxmlformats.org/drawingml/2006/main">
            <a:off x="2000250" y="4533900"/>
            <a:ext cx="21907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49" name="">
            <a:extLst xmlns:a="http://schemas.openxmlformats.org/drawingml/2006/main">
              <a:ext uri="{FF2B5EF4-FFF2-40B4-BE49-F238E27FC236}">
                <a16:creationId xmlns:a16="http://schemas.microsoft.com/office/drawing/2014/main" id="{98CD050F-A60E-4703-8CDE-43D875ADA630}"/>
              </a:ext>
            </a:extLst>
          </p:cNvPr>
          <p:cNvSpPr>
            <a:spLocks xmlns:a="http://schemas.openxmlformats.org/drawingml/2006/main" noGrp="1"/>
          </p:cNvSpPr>
          <p:nvPr/>
        </p:nvSpPr>
        <p:spPr>
          <a:xfrm xmlns:a="http://schemas.openxmlformats.org/drawingml/2006/main">
            <a:off x="2133600" y="4600575"/>
            <a:ext cx="1924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7,000</a:t>
            </a:r>
          </a:p>
        </p:txBody>
      </p:sp>
      <p:sp>
        <p:nvSpPr>
          <p:cNvPr id="50" name="">
            <a:extLst xmlns:a="http://schemas.openxmlformats.org/drawingml/2006/main">
              <a:ext uri="{FF2B5EF4-FFF2-40B4-BE49-F238E27FC236}">
                <a16:creationId xmlns:a16="http://schemas.microsoft.com/office/drawing/2014/main" id="{1942F74E-90F8-49AD-B8B0-139773DBD470}"/>
              </a:ext>
            </a:extLst>
          </p:cNvPr>
          <p:cNvSpPr>
            <a:spLocks xmlns:a="http://schemas.openxmlformats.org/drawingml/2006/main" noGrp="1"/>
          </p:cNvSpPr>
          <p:nvPr/>
        </p:nvSpPr>
        <p:spPr>
          <a:xfrm xmlns:a="http://schemas.openxmlformats.org/drawingml/2006/main">
            <a:off x="4381500" y="4533900"/>
            <a:ext cx="720090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51" name="">
            <a:extLst xmlns:a="http://schemas.openxmlformats.org/drawingml/2006/main">
              <a:ext uri="{FF2B5EF4-FFF2-40B4-BE49-F238E27FC236}">
                <a16:creationId xmlns:a16="http://schemas.microsoft.com/office/drawing/2014/main" id="{7378A3F3-8A7A-4A38-B06C-CD651E8F71B8}"/>
              </a:ext>
            </a:extLst>
          </p:cNvPr>
          <p:cNvSpPr>
            <a:spLocks xmlns:a="http://schemas.openxmlformats.org/drawingml/2006/main" noGrp="1"/>
          </p:cNvSpPr>
          <p:nvPr/>
        </p:nvSpPr>
        <p:spPr>
          <a:xfrm xmlns:a="http://schemas.openxmlformats.org/drawingml/2006/main">
            <a:off x="4514850" y="4600575"/>
            <a:ext cx="6934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63,001–70,000; 70,001–77,000; 77,001–84,000</a:t>
            </a:r>
          </a:p>
        </p:txBody>
      </p:sp>
      <p:sp>
        <p:nvSpPr>
          <p:cNvPr id="52" name="">
            <a:extLst xmlns:a="http://schemas.openxmlformats.org/drawingml/2006/main">
              <a:ext uri="{FF2B5EF4-FFF2-40B4-BE49-F238E27FC236}">
                <a16:creationId xmlns:a16="http://schemas.microsoft.com/office/drawing/2014/main" id="{8088C975-399C-4719-94BE-624F70F59B46}"/>
              </a:ext>
            </a:extLst>
          </p:cNvPr>
          <p:cNvSpPr>
            <a:spLocks xmlns:a="http://schemas.openxmlformats.org/drawingml/2006/main" noGrp="1"/>
          </p:cNvSpPr>
          <p:nvPr/>
        </p:nvSpPr>
        <p:spPr>
          <a:xfrm xmlns:a="http://schemas.openxmlformats.org/drawingml/2006/main">
            <a:off x="609600" y="4867275"/>
            <a:ext cx="1238250" cy="333375"/>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53" name="">
            <a:extLst xmlns:a="http://schemas.openxmlformats.org/drawingml/2006/main">
              <a:ext uri="{FF2B5EF4-FFF2-40B4-BE49-F238E27FC236}">
                <a16:creationId xmlns:a16="http://schemas.microsoft.com/office/drawing/2014/main" id="{65C8ECB6-1283-4FDB-ABA6-9E9F04A35AE9}"/>
              </a:ext>
            </a:extLst>
          </p:cNvPr>
          <p:cNvSpPr>
            <a:spLocks xmlns:a="http://schemas.openxmlformats.org/drawingml/2006/main" noGrp="1"/>
          </p:cNvSpPr>
          <p:nvPr/>
        </p:nvSpPr>
        <p:spPr>
          <a:xfrm xmlns:a="http://schemas.openxmlformats.org/drawingml/2006/main">
            <a:off x="742950" y="4933950"/>
            <a:ext cx="97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1">
                <a:solidFill>
                  <a:srgbClr val="203040"/>
                </a:solidFill>
                <a:latin typeface="Arial"/>
                <a:ea typeface="Arial"/>
                <a:cs typeface="Arial"/>
              </a:defRPr>
            </a:defPPr>
          </a:lstStyle>
          <a:p xmlns:a="http://schemas.openxmlformats.org/drawingml/2006/main">
            <a:pPr algn="l">
              <a:defRPr sz="1125" b="1">
                <a:solidFill>
                  <a:srgbClr val="203040"/>
                </a:solidFill>
                <a:latin typeface="Arial"/>
                <a:ea typeface="Arial"/>
                <a:cs typeface="Arial"/>
              </a:defRPr>
            </a:pPr>
            <a:r>
              <a:rPr sz="1125" b="1">
                <a:solidFill>
                  <a:srgbClr val="203040"/>
                </a:solidFill>
                <a:latin typeface="Arial"/>
                <a:ea typeface="Arial"/>
                <a:cs typeface="Arial"/>
              </a:rPr>
              <a:t>8</a:t>
            </a:r>
          </a:p>
        </p:txBody>
      </p:sp>
      <p:sp>
        <p:nvSpPr>
          <p:cNvPr id="54" name="">
            <a:extLst xmlns:a="http://schemas.openxmlformats.org/drawingml/2006/main">
              <a:ext uri="{FF2B5EF4-FFF2-40B4-BE49-F238E27FC236}">
                <a16:creationId xmlns:a16="http://schemas.microsoft.com/office/drawing/2014/main" id="{8FAD8B64-A5E4-4376-BB12-C25D33BD2EF0}"/>
              </a:ext>
            </a:extLst>
          </p:cNvPr>
          <p:cNvSpPr>
            <a:spLocks xmlns:a="http://schemas.openxmlformats.org/drawingml/2006/main" noGrp="1"/>
          </p:cNvSpPr>
          <p:nvPr/>
        </p:nvSpPr>
        <p:spPr>
          <a:xfrm xmlns:a="http://schemas.openxmlformats.org/drawingml/2006/main">
            <a:off x="2000250" y="4867275"/>
            <a:ext cx="2190750" cy="333375"/>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55" name="">
            <a:extLst xmlns:a="http://schemas.openxmlformats.org/drawingml/2006/main">
              <a:ext uri="{FF2B5EF4-FFF2-40B4-BE49-F238E27FC236}">
                <a16:creationId xmlns:a16="http://schemas.microsoft.com/office/drawing/2014/main" id="{0858CD6A-9228-4BEF-994C-352D31BD2181}"/>
              </a:ext>
            </a:extLst>
          </p:cNvPr>
          <p:cNvSpPr>
            <a:spLocks xmlns:a="http://schemas.openxmlformats.org/drawingml/2006/main" noGrp="1"/>
          </p:cNvSpPr>
          <p:nvPr/>
        </p:nvSpPr>
        <p:spPr>
          <a:xfrm xmlns:a="http://schemas.openxmlformats.org/drawingml/2006/main">
            <a:off x="2133600" y="4933950"/>
            <a:ext cx="1924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8,000</a:t>
            </a:r>
          </a:p>
        </p:txBody>
      </p:sp>
      <p:sp>
        <p:nvSpPr>
          <p:cNvPr id="56" name="">
            <a:extLst xmlns:a="http://schemas.openxmlformats.org/drawingml/2006/main">
              <a:ext uri="{FF2B5EF4-FFF2-40B4-BE49-F238E27FC236}">
                <a16:creationId xmlns:a16="http://schemas.microsoft.com/office/drawing/2014/main" id="{054DCCD6-84A0-4537-8B37-BFD1DC91FDD5}"/>
              </a:ext>
            </a:extLst>
          </p:cNvPr>
          <p:cNvSpPr>
            <a:spLocks xmlns:a="http://schemas.openxmlformats.org/drawingml/2006/main" noGrp="1"/>
          </p:cNvSpPr>
          <p:nvPr/>
        </p:nvSpPr>
        <p:spPr>
          <a:xfrm xmlns:a="http://schemas.openxmlformats.org/drawingml/2006/main">
            <a:off x="4381500" y="4867275"/>
            <a:ext cx="7200900" cy="333375"/>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57" name="">
            <a:extLst xmlns:a="http://schemas.openxmlformats.org/drawingml/2006/main">
              <a:ext uri="{FF2B5EF4-FFF2-40B4-BE49-F238E27FC236}">
                <a16:creationId xmlns:a16="http://schemas.microsoft.com/office/drawing/2014/main" id="{B366559D-663B-47D5-8DFB-4403E8DBA298}"/>
              </a:ext>
            </a:extLst>
          </p:cNvPr>
          <p:cNvSpPr>
            <a:spLocks xmlns:a="http://schemas.openxmlformats.org/drawingml/2006/main" noGrp="1"/>
          </p:cNvSpPr>
          <p:nvPr/>
        </p:nvSpPr>
        <p:spPr>
          <a:xfrm xmlns:a="http://schemas.openxmlformats.org/drawingml/2006/main">
            <a:off x="4514850" y="4933950"/>
            <a:ext cx="6934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84,001–92,000; 92,001–100,000; 100,001–108,000</a:t>
            </a:r>
          </a:p>
        </p:txBody>
      </p:sp>
      <p:sp>
        <p:nvSpPr>
          <p:cNvPr id="58" name="">
            <a:extLst xmlns:a="http://schemas.openxmlformats.org/drawingml/2006/main">
              <a:ext uri="{FF2B5EF4-FFF2-40B4-BE49-F238E27FC236}">
                <a16:creationId xmlns:a16="http://schemas.microsoft.com/office/drawing/2014/main" id="{C0600894-CFBC-49C0-AED6-79525453338E}"/>
              </a:ext>
            </a:extLst>
          </p:cNvPr>
          <p:cNvSpPr>
            <a:spLocks xmlns:a="http://schemas.openxmlformats.org/drawingml/2006/main" noGrp="1"/>
          </p:cNvSpPr>
          <p:nvPr/>
        </p:nvSpPr>
        <p:spPr>
          <a:xfrm xmlns:a="http://schemas.openxmlformats.org/drawingml/2006/main">
            <a:off x="609600" y="5200650"/>
            <a:ext cx="12382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59" name="">
            <a:extLst xmlns:a="http://schemas.openxmlformats.org/drawingml/2006/main">
              <a:ext uri="{FF2B5EF4-FFF2-40B4-BE49-F238E27FC236}">
                <a16:creationId xmlns:a16="http://schemas.microsoft.com/office/drawing/2014/main" id="{E659A614-CDCE-4E28-BDAD-81458D4F3245}"/>
              </a:ext>
            </a:extLst>
          </p:cNvPr>
          <p:cNvSpPr>
            <a:spLocks xmlns:a="http://schemas.openxmlformats.org/drawingml/2006/main" noGrp="1"/>
          </p:cNvSpPr>
          <p:nvPr/>
        </p:nvSpPr>
        <p:spPr>
          <a:xfrm xmlns:a="http://schemas.openxmlformats.org/drawingml/2006/main">
            <a:off x="742950" y="5267325"/>
            <a:ext cx="97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1">
                <a:solidFill>
                  <a:srgbClr val="203040"/>
                </a:solidFill>
                <a:latin typeface="Arial"/>
                <a:ea typeface="Arial"/>
                <a:cs typeface="Arial"/>
              </a:defRPr>
            </a:defPPr>
          </a:lstStyle>
          <a:p xmlns:a="http://schemas.openxmlformats.org/drawingml/2006/main">
            <a:pPr algn="l">
              <a:defRPr sz="1125" b="1">
                <a:solidFill>
                  <a:srgbClr val="203040"/>
                </a:solidFill>
                <a:latin typeface="Arial"/>
                <a:ea typeface="Arial"/>
                <a:cs typeface="Arial"/>
              </a:defRPr>
            </a:pPr>
            <a:r>
              <a:rPr sz="1125" b="1">
                <a:solidFill>
                  <a:srgbClr val="203040"/>
                </a:solidFill>
                <a:latin typeface="Arial"/>
                <a:ea typeface="Arial"/>
                <a:cs typeface="Arial"/>
              </a:rPr>
              <a:t>9</a:t>
            </a:r>
          </a:p>
        </p:txBody>
      </p:sp>
      <p:sp>
        <p:nvSpPr>
          <p:cNvPr id="60" name="">
            <a:extLst xmlns:a="http://schemas.openxmlformats.org/drawingml/2006/main">
              <a:ext uri="{FF2B5EF4-FFF2-40B4-BE49-F238E27FC236}">
                <a16:creationId xmlns:a16="http://schemas.microsoft.com/office/drawing/2014/main" id="{D89DD3BC-F3AD-4681-9CA4-F6497E65FBD9}"/>
              </a:ext>
            </a:extLst>
          </p:cNvPr>
          <p:cNvSpPr>
            <a:spLocks xmlns:a="http://schemas.openxmlformats.org/drawingml/2006/main" noGrp="1"/>
          </p:cNvSpPr>
          <p:nvPr/>
        </p:nvSpPr>
        <p:spPr>
          <a:xfrm xmlns:a="http://schemas.openxmlformats.org/drawingml/2006/main">
            <a:off x="2000250" y="5200650"/>
            <a:ext cx="21907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61" name="">
            <a:extLst xmlns:a="http://schemas.openxmlformats.org/drawingml/2006/main">
              <a:ext uri="{FF2B5EF4-FFF2-40B4-BE49-F238E27FC236}">
                <a16:creationId xmlns:a16="http://schemas.microsoft.com/office/drawing/2014/main" id="{EDB09D4D-FFA4-46AE-9E2D-6668E13D1753}"/>
              </a:ext>
            </a:extLst>
          </p:cNvPr>
          <p:cNvSpPr>
            <a:spLocks xmlns:a="http://schemas.openxmlformats.org/drawingml/2006/main" noGrp="1"/>
          </p:cNvSpPr>
          <p:nvPr/>
        </p:nvSpPr>
        <p:spPr>
          <a:xfrm xmlns:a="http://schemas.openxmlformats.org/drawingml/2006/main">
            <a:off x="2133600" y="5267325"/>
            <a:ext cx="1924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9,000</a:t>
            </a:r>
          </a:p>
        </p:txBody>
      </p:sp>
      <p:sp>
        <p:nvSpPr>
          <p:cNvPr id="62" name="">
            <a:extLst xmlns:a="http://schemas.openxmlformats.org/drawingml/2006/main">
              <a:ext uri="{FF2B5EF4-FFF2-40B4-BE49-F238E27FC236}">
                <a16:creationId xmlns:a16="http://schemas.microsoft.com/office/drawing/2014/main" id="{124A9100-3345-456F-8542-DB4EC433E560}"/>
              </a:ext>
            </a:extLst>
          </p:cNvPr>
          <p:cNvSpPr>
            <a:spLocks xmlns:a="http://schemas.openxmlformats.org/drawingml/2006/main" noGrp="1"/>
          </p:cNvSpPr>
          <p:nvPr/>
        </p:nvSpPr>
        <p:spPr>
          <a:xfrm xmlns:a="http://schemas.openxmlformats.org/drawingml/2006/main">
            <a:off x="4381500" y="5200650"/>
            <a:ext cx="720090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63" name="">
            <a:extLst xmlns:a="http://schemas.openxmlformats.org/drawingml/2006/main">
              <a:ext uri="{FF2B5EF4-FFF2-40B4-BE49-F238E27FC236}">
                <a16:creationId xmlns:a16="http://schemas.microsoft.com/office/drawing/2014/main" id="{CAD1F3E4-4B08-451B-9B6A-50131A6C4954}"/>
              </a:ext>
            </a:extLst>
          </p:cNvPr>
          <p:cNvSpPr>
            <a:spLocks xmlns:a="http://schemas.openxmlformats.org/drawingml/2006/main" noGrp="1"/>
          </p:cNvSpPr>
          <p:nvPr/>
        </p:nvSpPr>
        <p:spPr>
          <a:xfrm xmlns:a="http://schemas.openxmlformats.org/drawingml/2006/main">
            <a:off x="4514850" y="5267325"/>
            <a:ext cx="6934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108,001–117,000; 117,001–126,000; 126,001–135,000</a:t>
            </a:r>
          </a:p>
        </p:txBody>
      </p:sp>
      <p:sp>
        <p:nvSpPr>
          <p:cNvPr id="64" name="">
            <a:extLst xmlns:a="http://schemas.openxmlformats.org/drawingml/2006/main">
              <a:ext uri="{FF2B5EF4-FFF2-40B4-BE49-F238E27FC236}">
                <a16:creationId xmlns:a16="http://schemas.microsoft.com/office/drawing/2014/main" id="{C885171F-AFF1-4A86-B3A4-074F77464DB9}"/>
              </a:ext>
            </a:extLst>
          </p:cNvPr>
          <p:cNvSpPr>
            <a:spLocks xmlns:a="http://schemas.openxmlformats.org/drawingml/2006/main" noGrp="1"/>
          </p:cNvSpPr>
          <p:nvPr/>
        </p:nvSpPr>
        <p:spPr>
          <a:xfrm xmlns:a="http://schemas.openxmlformats.org/drawingml/2006/main">
            <a:off x="609600" y="5534025"/>
            <a:ext cx="1238250" cy="333375"/>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65" name="">
            <a:extLst xmlns:a="http://schemas.openxmlformats.org/drawingml/2006/main">
              <a:ext uri="{FF2B5EF4-FFF2-40B4-BE49-F238E27FC236}">
                <a16:creationId xmlns:a16="http://schemas.microsoft.com/office/drawing/2014/main" id="{35AAD6FE-C5E4-4CE6-94BA-858A684A61E6}"/>
              </a:ext>
            </a:extLst>
          </p:cNvPr>
          <p:cNvSpPr>
            <a:spLocks xmlns:a="http://schemas.openxmlformats.org/drawingml/2006/main" noGrp="1"/>
          </p:cNvSpPr>
          <p:nvPr/>
        </p:nvSpPr>
        <p:spPr>
          <a:xfrm xmlns:a="http://schemas.openxmlformats.org/drawingml/2006/main">
            <a:off x="742950" y="5600700"/>
            <a:ext cx="97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1">
                <a:solidFill>
                  <a:srgbClr val="203040"/>
                </a:solidFill>
                <a:latin typeface="Arial"/>
                <a:ea typeface="Arial"/>
                <a:cs typeface="Arial"/>
              </a:defRPr>
            </a:defPPr>
          </a:lstStyle>
          <a:p xmlns:a="http://schemas.openxmlformats.org/drawingml/2006/main">
            <a:pPr algn="l">
              <a:defRPr sz="1125" b="1">
                <a:solidFill>
                  <a:srgbClr val="203040"/>
                </a:solidFill>
                <a:latin typeface="Arial"/>
                <a:ea typeface="Arial"/>
                <a:cs typeface="Arial"/>
              </a:defRPr>
            </a:pPr>
            <a:r>
              <a:rPr sz="1125" b="1">
                <a:solidFill>
                  <a:srgbClr val="203040"/>
                </a:solidFill>
                <a:latin typeface="Arial"/>
                <a:ea typeface="Arial"/>
                <a:cs typeface="Arial"/>
              </a:rPr>
              <a:t>10</a:t>
            </a:r>
          </a:p>
        </p:txBody>
      </p:sp>
      <p:sp>
        <p:nvSpPr>
          <p:cNvPr id="66" name="">
            <a:extLst xmlns:a="http://schemas.openxmlformats.org/drawingml/2006/main">
              <a:ext uri="{FF2B5EF4-FFF2-40B4-BE49-F238E27FC236}">
                <a16:creationId xmlns:a16="http://schemas.microsoft.com/office/drawing/2014/main" id="{AEC8159C-1758-49A9-A46B-EE74F19434A3}"/>
              </a:ext>
            </a:extLst>
          </p:cNvPr>
          <p:cNvSpPr>
            <a:spLocks xmlns:a="http://schemas.openxmlformats.org/drawingml/2006/main" noGrp="1"/>
          </p:cNvSpPr>
          <p:nvPr/>
        </p:nvSpPr>
        <p:spPr>
          <a:xfrm xmlns:a="http://schemas.openxmlformats.org/drawingml/2006/main">
            <a:off x="2000250" y="5534025"/>
            <a:ext cx="2190750" cy="333375"/>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67" name="">
            <a:extLst xmlns:a="http://schemas.openxmlformats.org/drawingml/2006/main">
              <a:ext uri="{FF2B5EF4-FFF2-40B4-BE49-F238E27FC236}">
                <a16:creationId xmlns:a16="http://schemas.microsoft.com/office/drawing/2014/main" id="{CB17A704-4385-43EE-AA70-672B7FFD39CC}"/>
              </a:ext>
            </a:extLst>
          </p:cNvPr>
          <p:cNvSpPr>
            <a:spLocks xmlns:a="http://schemas.openxmlformats.org/drawingml/2006/main" noGrp="1"/>
          </p:cNvSpPr>
          <p:nvPr/>
        </p:nvSpPr>
        <p:spPr>
          <a:xfrm xmlns:a="http://schemas.openxmlformats.org/drawingml/2006/main">
            <a:off x="2133600" y="5600700"/>
            <a:ext cx="1924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10,000</a:t>
            </a:r>
          </a:p>
        </p:txBody>
      </p:sp>
      <p:sp>
        <p:nvSpPr>
          <p:cNvPr id="68" name="">
            <a:extLst xmlns:a="http://schemas.openxmlformats.org/drawingml/2006/main">
              <a:ext uri="{FF2B5EF4-FFF2-40B4-BE49-F238E27FC236}">
                <a16:creationId xmlns:a16="http://schemas.microsoft.com/office/drawing/2014/main" id="{F779B358-75AE-4145-9F40-2F597A255207}"/>
              </a:ext>
            </a:extLst>
          </p:cNvPr>
          <p:cNvSpPr>
            <a:spLocks xmlns:a="http://schemas.openxmlformats.org/drawingml/2006/main" noGrp="1"/>
          </p:cNvSpPr>
          <p:nvPr/>
        </p:nvSpPr>
        <p:spPr>
          <a:xfrm xmlns:a="http://schemas.openxmlformats.org/drawingml/2006/main">
            <a:off x="4381500" y="5534025"/>
            <a:ext cx="7200900" cy="333375"/>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69" name="">
            <a:extLst xmlns:a="http://schemas.openxmlformats.org/drawingml/2006/main">
              <a:ext uri="{FF2B5EF4-FFF2-40B4-BE49-F238E27FC236}">
                <a16:creationId xmlns:a16="http://schemas.microsoft.com/office/drawing/2014/main" id="{B6BCEB42-F60F-4ABF-97FC-BF61A50E2770}"/>
              </a:ext>
            </a:extLst>
          </p:cNvPr>
          <p:cNvSpPr>
            <a:spLocks xmlns:a="http://schemas.openxmlformats.org/drawingml/2006/main" noGrp="1"/>
          </p:cNvSpPr>
          <p:nvPr/>
        </p:nvSpPr>
        <p:spPr>
          <a:xfrm xmlns:a="http://schemas.openxmlformats.org/drawingml/2006/main">
            <a:off x="4514850" y="5600700"/>
            <a:ext cx="6934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135,001–145,000; 145,001–155,000; 155,001–165,000</a:t>
            </a:r>
          </a:p>
        </p:txBody>
      </p:sp>
      <p:sp>
        <p:nvSpPr>
          <p:cNvPr id="70" name="">
            <a:extLst xmlns:a="http://schemas.openxmlformats.org/drawingml/2006/main">
              <a:ext uri="{FF2B5EF4-FFF2-40B4-BE49-F238E27FC236}">
                <a16:creationId xmlns:a16="http://schemas.microsoft.com/office/drawing/2014/main" id="{33DA150A-2746-4179-881F-672A6B5DC472}"/>
              </a:ext>
            </a:extLst>
          </p:cNvPr>
          <p:cNvSpPr>
            <a:spLocks xmlns:a="http://schemas.openxmlformats.org/drawingml/2006/main" noGrp="1"/>
          </p:cNvSpPr>
          <p:nvPr/>
        </p:nvSpPr>
        <p:spPr>
          <a:xfrm xmlns:a="http://schemas.openxmlformats.org/drawingml/2006/main">
            <a:off x="609600" y="6076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75" b="1">
                <a:solidFill>
                  <a:srgbClr val="2F75B5"/>
                </a:solidFill>
                <a:latin typeface="Arial"/>
                <a:ea typeface="Arial"/>
                <a:cs typeface="Arial"/>
              </a:defRPr>
            </a:defPPr>
          </a:lstStyle>
          <a:p xmlns:a="http://schemas.openxmlformats.org/drawingml/2006/main">
            <a:pPr algn="l">
              <a:defRPr sz="1575" b="1">
                <a:solidFill>
                  <a:srgbClr val="2F75B5"/>
                </a:solidFill>
                <a:latin typeface="Arial"/>
                <a:ea typeface="Arial"/>
                <a:cs typeface="Arial"/>
              </a:defRPr>
            </a:pPr>
            <a:r>
              <a:rPr sz="1575" b="1">
                <a:solidFill>
                  <a:srgbClr val="2F75B5"/>
                </a:solidFill>
                <a:latin typeface="Arial"/>
                <a:ea typeface="Arial"/>
                <a:cs typeface="Arial"/>
              </a:rPr>
              <a:t>Total unique rows: 3 × (1,000 + 2,000 + … + 10,000) = 165,000</a:t>
            </a:r>
          </a:p>
        </p:txBody>
      </p:sp>
      <p:sp>
        <p:nvSpPr>
          <p:cNvPr id="71" name="">
            <a:extLst xmlns:a="http://schemas.openxmlformats.org/drawingml/2006/main">
              <a:ext uri="{FF2B5EF4-FFF2-40B4-BE49-F238E27FC236}">
                <a16:creationId xmlns:a16="http://schemas.microsoft.com/office/drawing/2014/main" id="{4FCA561F-C03F-423E-BD4F-22AC43611679}"/>
              </a:ext>
            </a:extLst>
          </p:cNvPr>
          <p:cNvSpPr>
            <a:spLocks xmlns:a="http://schemas.openxmlformats.org/drawingml/2006/main" noGrp="1"/>
          </p:cNvSpPr>
          <p:nvPr/>
        </p:nvSpPr>
        <p:spPr>
          <a:xfrm xmlns:a="http://schemas.openxmlformats.org/drawingml/2006/main">
            <a:off x="609600" y="6534150"/>
            <a:ext cx="1095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825" b="0">
                <a:solidFill>
                  <a:srgbClr val="5B6770"/>
                </a:solidFill>
                <a:latin typeface="Arial"/>
                <a:ea typeface="Arial"/>
                <a:cs typeface="Arial"/>
              </a:defRPr>
            </a:defPPr>
          </a:lstStyle>
          <a:p xmlns:a="http://schemas.openxmlformats.org/drawingml/2006/main">
            <a:pPr algn="l">
              <a:defRPr sz="825" b="0">
                <a:solidFill>
                  <a:srgbClr val="5B6770"/>
                </a:solidFill>
                <a:latin typeface="Arial"/>
                <a:ea typeface="Arial"/>
                <a:cs typeface="Arial"/>
              </a:defRPr>
            </a:pPr>
            <a:r>
              <a:rPr sz="825" b="0">
                <a:solidFill>
                  <a:srgbClr val="5B6770"/>
                </a:solidFill>
                <a:latin typeface="Arial"/>
                <a:ea typeface="Arial"/>
                <a:cs typeface="Arial"/>
              </a:rPr>
              <a:t>SOKA metaheuristic scheduling  |  4</a:t>
            </a:r>
          </a:p>
        </p:txBody>
      </p:sp>
    </p:spTree>
    <p:extLst>
      <p:ext uri="{BB962C8B-B14F-4D97-AF65-F5344CB8AC3E}">
        <p14:creationId xmlns:p14="http://schemas.microsoft.com/office/powerpoint/2010/main" val="151200393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28C8A25B-1C49-441D-B567-B71BBDF935F0}"/>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050" b="1">
                <a:solidFill>
                  <a:srgbClr val="2F75B5"/>
                </a:solidFill>
                <a:latin typeface="Arial"/>
                <a:ea typeface="Arial"/>
                <a:cs typeface="Arial"/>
              </a:defRPr>
            </a:defPPr>
          </a:lstStyle>
          <a:p xmlns:a="http://schemas.openxmlformats.org/drawingml/2006/main">
            <a:pPr algn="l">
              <a:defRPr sz="1050" b="1">
                <a:solidFill>
                  <a:srgbClr val="2F75B5"/>
                </a:solidFill>
                <a:latin typeface="Arial"/>
                <a:ea typeface="Arial"/>
                <a:cs typeface="Arial"/>
              </a:defRPr>
            </a:pPr>
            <a:r>
              <a:rPr sz="1050" b="1">
                <a:solidFill>
                  <a:srgbClr val="2F75B5"/>
                </a:solidFill>
                <a:latin typeface="Arial"/>
                <a:ea typeface="Arial"/>
                <a:cs typeface="Arial"/>
              </a:rPr>
              <a:t>DISCRETE METAHEURISTIC SEARCH</a:t>
            </a:r>
          </a:p>
        </p:txBody>
      </p:sp>
      <p:sp>
        <p:nvSpPr>
          <p:cNvPr id="2" name="">
            <a:extLst xmlns:a="http://schemas.openxmlformats.org/drawingml/2006/main">
              <a:ext uri="{FF2B5EF4-FFF2-40B4-BE49-F238E27FC236}">
                <a16:creationId xmlns:a16="http://schemas.microsoft.com/office/drawing/2014/main" id="{0F9D5EDB-D504-4A4E-BC1B-005CDED215F3}"/>
              </a:ext>
            </a:extLst>
          </p:cNvPr>
          <p:cNvSpPr>
            <a:spLocks xmlns:a="http://schemas.openxmlformats.org/drawingml/2006/main" noGrp="1"/>
          </p:cNvSpPr>
          <p:nvPr/>
        </p:nvSpPr>
        <p:spPr>
          <a:xfrm xmlns:a="http://schemas.openxmlformats.org/drawingml/2006/main">
            <a:off x="609600" y="61912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1">
                <a:solidFill>
                  <a:srgbClr val="12263A"/>
                </a:solidFill>
                <a:latin typeface="Arial"/>
                <a:ea typeface="Arial"/>
                <a:cs typeface="Arial"/>
              </a:defRPr>
            </a:defPPr>
          </a:lstStyle>
          <a:p xmlns:a="http://schemas.openxmlformats.org/drawingml/2006/main">
            <a:pPr algn="l">
              <a:defRPr sz="2550" b="1">
                <a:solidFill>
                  <a:srgbClr val="12263A"/>
                </a:solidFill>
                <a:latin typeface="Arial"/>
                <a:ea typeface="Arial"/>
                <a:cs typeface="Arial"/>
              </a:defRPr>
            </a:pPr>
            <a:r>
              <a:rPr sz="2550" b="1">
                <a:solidFill>
                  <a:srgbClr val="12263A"/>
                </a:solidFill>
                <a:latin typeface="Arial"/>
                <a:ea typeface="Arial"/>
                <a:cs typeface="Arial"/>
              </a:rPr>
              <a:t>How SMA and AO assign cloudlets</a:t>
            </a:r>
          </a:p>
        </p:txBody>
      </p:sp>
      <p:sp>
        <p:nvSpPr>
          <p:cNvPr id="3" name="">
            <a:extLst xmlns:a="http://schemas.openxmlformats.org/drawingml/2006/main">
              <a:ext uri="{FF2B5EF4-FFF2-40B4-BE49-F238E27FC236}">
                <a16:creationId xmlns:a16="http://schemas.microsoft.com/office/drawing/2014/main" id="{1EF04A40-E8EA-49D3-8073-8A85009255F6}"/>
              </a:ext>
            </a:extLst>
          </p:cNvPr>
          <p:cNvSpPr>
            <a:spLocks xmlns:a="http://schemas.openxmlformats.org/drawingml/2006/main" noGrp="1"/>
          </p:cNvSpPr>
          <p:nvPr/>
        </p:nvSpPr>
        <p:spPr>
          <a:xfrm xmlns:a="http://schemas.openxmlformats.org/drawingml/2006/main">
            <a:off x="609600" y="1314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203040"/>
                </a:solidFill>
                <a:latin typeface="Arial"/>
                <a:ea typeface="Arial"/>
                <a:cs typeface="Arial"/>
              </a:defRPr>
            </a:defPPr>
          </a:lstStyle>
          <a:p xmlns:a="http://schemas.openxmlformats.org/drawingml/2006/main">
            <a:pPr algn="l">
              <a:defRPr sz="1800" b="1">
                <a:solidFill>
                  <a:srgbClr val="203040"/>
                </a:solidFill>
                <a:latin typeface="Arial"/>
                <a:ea typeface="Arial"/>
                <a:cs typeface="Arial"/>
              </a:defRPr>
            </a:pPr>
            <a:r>
              <a:rPr sz="1800" b="1">
                <a:solidFill>
                  <a:srgbClr val="203040"/>
                </a:solidFill>
                <a:latin typeface="Arial"/>
                <a:ea typeface="Arial"/>
                <a:cs typeface="Arial"/>
              </a:rPr>
              <a:t>Each candidate solution assigns every cloudlet to one of eight VMs.</a:t>
            </a:r>
          </a:p>
        </p:txBody>
      </p:sp>
      <p:sp>
        <p:nvSpPr>
          <p:cNvPr id="4" name="">
            <a:extLst xmlns:a="http://schemas.openxmlformats.org/drawingml/2006/main">
              <a:ext uri="{FF2B5EF4-FFF2-40B4-BE49-F238E27FC236}">
                <a16:creationId xmlns:a16="http://schemas.microsoft.com/office/drawing/2014/main" id="{EA92741C-A222-4DC3-ADE6-8A4C34994B02}"/>
              </a:ext>
            </a:extLst>
          </p:cNvPr>
          <p:cNvSpPr>
            <a:spLocks xmlns:a="http://schemas.openxmlformats.org/drawingml/2006/main" noGrp="1"/>
          </p:cNvSpPr>
          <p:nvPr/>
        </p:nvSpPr>
        <p:spPr>
          <a:xfrm xmlns:a="http://schemas.openxmlformats.org/drawingml/2006/main">
            <a:off x="609600" y="2266950"/>
            <a:ext cx="2400300" cy="1809750"/>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5" name="">
            <a:extLst xmlns:a="http://schemas.openxmlformats.org/drawingml/2006/main">
              <a:ext uri="{FF2B5EF4-FFF2-40B4-BE49-F238E27FC236}">
                <a16:creationId xmlns:a16="http://schemas.microsoft.com/office/drawing/2014/main" id="{4E67C335-EB95-4193-93A2-4367E8DE0783}"/>
              </a:ext>
            </a:extLst>
          </p:cNvPr>
          <p:cNvSpPr>
            <a:spLocks xmlns:a="http://schemas.openxmlformats.org/drawingml/2006/main" noGrp="1"/>
          </p:cNvSpPr>
          <p:nvPr/>
        </p:nvSpPr>
        <p:spPr>
          <a:xfrm xmlns:a="http://schemas.openxmlformats.org/drawingml/2006/main">
            <a:off x="819150" y="245745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00" b="1">
                <a:solidFill>
                  <a:srgbClr val="2F75B5"/>
                </a:solidFill>
                <a:latin typeface="Arial"/>
                <a:ea typeface="Arial"/>
                <a:cs typeface="Arial"/>
              </a:defRPr>
            </a:defPPr>
          </a:lstStyle>
          <a:p xmlns:a="http://schemas.openxmlformats.org/drawingml/2006/main">
            <a:pPr algn="l">
              <a:defRPr sz="2100" b="1">
                <a:solidFill>
                  <a:srgbClr val="2F75B5"/>
                </a:solidFill>
                <a:latin typeface="Arial"/>
                <a:ea typeface="Arial"/>
                <a:cs typeface="Arial"/>
              </a:defRPr>
            </a:pPr>
            <a:r>
              <a:rPr sz="2100" b="1">
                <a:solidFill>
                  <a:srgbClr val="2F75B5"/>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0BAF22D5-7BAE-40EA-88E6-75346FBF2F63}"/>
              </a:ext>
            </a:extLst>
          </p:cNvPr>
          <p:cNvSpPr>
            <a:spLocks xmlns:a="http://schemas.openxmlformats.org/drawingml/2006/main" noGrp="1"/>
          </p:cNvSpPr>
          <p:nvPr/>
        </p:nvSpPr>
        <p:spPr>
          <a:xfrm xmlns:a="http://schemas.openxmlformats.org/drawingml/2006/main">
            <a:off x="819150" y="29908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12263A"/>
                </a:solidFill>
                <a:latin typeface="Arial"/>
                <a:ea typeface="Arial"/>
                <a:cs typeface="Arial"/>
              </a:defRPr>
            </a:defPPr>
          </a:lstStyle>
          <a:p xmlns:a="http://schemas.openxmlformats.org/drawingml/2006/main">
            <a:pPr algn="l">
              <a:defRPr sz="1500" b="1">
                <a:solidFill>
                  <a:srgbClr val="12263A"/>
                </a:solidFill>
                <a:latin typeface="Arial"/>
                <a:ea typeface="Arial"/>
                <a:cs typeface="Arial"/>
              </a:defRPr>
            </a:pPr>
            <a:r>
              <a:rPr sz="1500" b="1">
                <a:solidFill>
                  <a:srgbClr val="12263A"/>
                </a:solidFill>
                <a:latin typeface="Arial"/>
                <a:ea typeface="Arial"/>
                <a:cs typeface="Arial"/>
              </a:rPr>
              <a:t>Candidate</a:t>
            </a:r>
          </a:p>
        </p:txBody>
      </p:sp>
      <p:sp>
        <p:nvSpPr>
          <p:cNvPr id="7" name="">
            <a:extLst xmlns:a="http://schemas.openxmlformats.org/drawingml/2006/main">
              <a:ext uri="{FF2B5EF4-FFF2-40B4-BE49-F238E27FC236}">
                <a16:creationId xmlns:a16="http://schemas.microsoft.com/office/drawing/2014/main" id="{2A272B36-2404-4FC2-8E92-517D1230F14F}"/>
              </a:ext>
            </a:extLst>
          </p:cNvPr>
          <p:cNvSpPr>
            <a:spLocks xmlns:a="http://schemas.openxmlformats.org/drawingml/2006/main" noGrp="1"/>
          </p:cNvSpPr>
          <p:nvPr/>
        </p:nvSpPr>
        <p:spPr>
          <a:xfrm xmlns:a="http://schemas.openxmlformats.org/drawingml/2006/main">
            <a:off x="819150" y="3371850"/>
            <a:ext cx="195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0">
                <a:solidFill>
                  <a:srgbClr val="203040"/>
                </a:solidFill>
                <a:latin typeface="Arial"/>
                <a:ea typeface="Arial"/>
                <a:cs typeface="Arial"/>
              </a:defRPr>
            </a:defPPr>
          </a:lstStyle>
          <a:p xmlns:a="http://schemas.openxmlformats.org/drawingml/2006/main">
            <a:pPr algn="l">
              <a:defRPr sz="1275" b="0">
                <a:solidFill>
                  <a:srgbClr val="203040"/>
                </a:solidFill>
                <a:latin typeface="Arial"/>
                <a:ea typeface="Arial"/>
                <a:cs typeface="Arial"/>
              </a:defRPr>
            </a:pPr>
            <a:r>
              <a:rPr sz="1275" b="0">
                <a:solidFill>
                  <a:srgbClr val="203040"/>
                </a:solidFill>
                <a:latin typeface="Arial"/>
                <a:ea typeface="Arial"/>
                <a:cs typeface="Arial"/>
              </a:rPr>
              <a:t>A VM ID is proposed for each cloudlet</a:t>
            </a:r>
          </a:p>
        </p:txBody>
      </p:sp>
      <p:sp>
        <p:nvSpPr>
          <p:cNvPr id="8" name="">
            <a:extLst xmlns:a="http://schemas.openxmlformats.org/drawingml/2006/main">
              <a:ext uri="{FF2B5EF4-FFF2-40B4-BE49-F238E27FC236}">
                <a16:creationId xmlns:a16="http://schemas.microsoft.com/office/drawing/2014/main" id="{6397E800-2003-46CE-8566-141B21F4004F}"/>
              </a:ext>
            </a:extLst>
          </p:cNvPr>
          <p:cNvSpPr>
            <a:spLocks xmlns:a="http://schemas.openxmlformats.org/drawingml/2006/main" noGrp="1"/>
          </p:cNvSpPr>
          <p:nvPr/>
        </p:nvSpPr>
        <p:spPr>
          <a:xfrm xmlns:a="http://schemas.openxmlformats.org/drawingml/2006/main">
            <a:off x="3390900" y="2266950"/>
            <a:ext cx="2400300" cy="1809750"/>
          </a:xfrm>
          <a:prstGeom xmlns:a="http://schemas.openxmlformats.org/drawingml/2006/main" prst="rect">
            <a:avLst/>
          </a:prstGeom>
          <a:solidFill xmlns:a="http://schemas.openxmlformats.org/drawingml/2006/main">
            <a:srgbClr val="FFF5ED"/>
          </a:solidFill>
          <a:ln xmlns:a="http://schemas.openxmlformats.org/drawingml/2006/main" w="9525">
            <a:solidFill>
              <a:srgbClr val="F3C7A2"/>
            </a:solidFill>
          </a:ln>
        </p:spPr>
      </p:sp>
      <p:sp>
        <p:nvSpPr>
          <p:cNvPr id="9" name="">
            <a:extLst xmlns:a="http://schemas.openxmlformats.org/drawingml/2006/main">
              <a:ext uri="{FF2B5EF4-FFF2-40B4-BE49-F238E27FC236}">
                <a16:creationId xmlns:a16="http://schemas.microsoft.com/office/drawing/2014/main" id="{CA71B85A-8112-4E63-8612-011FC9FD2743}"/>
              </a:ext>
            </a:extLst>
          </p:cNvPr>
          <p:cNvSpPr>
            <a:spLocks xmlns:a="http://schemas.openxmlformats.org/drawingml/2006/main" noGrp="1"/>
          </p:cNvSpPr>
          <p:nvPr/>
        </p:nvSpPr>
        <p:spPr>
          <a:xfrm xmlns:a="http://schemas.openxmlformats.org/drawingml/2006/main">
            <a:off x="3600450" y="245745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00" b="1">
                <a:solidFill>
                  <a:srgbClr val="ED7D31"/>
                </a:solidFill>
                <a:latin typeface="Arial"/>
                <a:ea typeface="Arial"/>
                <a:cs typeface="Arial"/>
              </a:defRPr>
            </a:defPPr>
          </a:lstStyle>
          <a:p xmlns:a="http://schemas.openxmlformats.org/drawingml/2006/main">
            <a:pPr algn="l">
              <a:defRPr sz="2100" b="1">
                <a:solidFill>
                  <a:srgbClr val="ED7D31"/>
                </a:solidFill>
                <a:latin typeface="Arial"/>
                <a:ea typeface="Arial"/>
                <a:cs typeface="Arial"/>
              </a:defRPr>
            </a:pPr>
            <a:r>
              <a:rPr sz="2100" b="1">
                <a:solidFill>
                  <a:srgbClr val="ED7D31"/>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7C151A06-8269-4F87-A161-FB448A46C75A}"/>
              </a:ext>
            </a:extLst>
          </p:cNvPr>
          <p:cNvSpPr>
            <a:spLocks xmlns:a="http://schemas.openxmlformats.org/drawingml/2006/main" noGrp="1"/>
          </p:cNvSpPr>
          <p:nvPr/>
        </p:nvSpPr>
        <p:spPr>
          <a:xfrm xmlns:a="http://schemas.openxmlformats.org/drawingml/2006/main">
            <a:off x="3600450" y="29908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12263A"/>
                </a:solidFill>
                <a:latin typeface="Arial"/>
                <a:ea typeface="Arial"/>
                <a:cs typeface="Arial"/>
              </a:defRPr>
            </a:defPPr>
          </a:lstStyle>
          <a:p xmlns:a="http://schemas.openxmlformats.org/drawingml/2006/main">
            <a:pPr algn="l">
              <a:defRPr sz="1500" b="1">
                <a:solidFill>
                  <a:srgbClr val="12263A"/>
                </a:solidFill>
                <a:latin typeface="Arial"/>
                <a:ea typeface="Arial"/>
                <a:cs typeface="Arial"/>
              </a:defRPr>
            </a:pPr>
            <a:r>
              <a:rPr sz="1500" b="1">
                <a:solidFill>
                  <a:srgbClr val="12263A"/>
                </a:solidFill>
                <a:latin typeface="Arial"/>
                <a:ea typeface="Arial"/>
                <a:cs typeface="Arial"/>
              </a:rPr>
              <a:t>Repair</a:t>
            </a:r>
          </a:p>
        </p:txBody>
      </p:sp>
      <p:sp>
        <p:nvSpPr>
          <p:cNvPr id="11" name="">
            <a:extLst xmlns:a="http://schemas.openxmlformats.org/drawingml/2006/main">
              <a:ext uri="{FF2B5EF4-FFF2-40B4-BE49-F238E27FC236}">
                <a16:creationId xmlns:a16="http://schemas.microsoft.com/office/drawing/2014/main" id="{5A99785A-3B2B-4CDD-9B1C-7CC14CB84830}"/>
              </a:ext>
            </a:extLst>
          </p:cNvPr>
          <p:cNvSpPr>
            <a:spLocks xmlns:a="http://schemas.openxmlformats.org/drawingml/2006/main" noGrp="1"/>
          </p:cNvSpPr>
          <p:nvPr/>
        </p:nvSpPr>
        <p:spPr>
          <a:xfrm xmlns:a="http://schemas.openxmlformats.org/drawingml/2006/main">
            <a:off x="3600450" y="3371850"/>
            <a:ext cx="195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0">
                <a:solidFill>
                  <a:srgbClr val="203040"/>
                </a:solidFill>
                <a:latin typeface="Arial"/>
                <a:ea typeface="Arial"/>
                <a:cs typeface="Arial"/>
              </a:defRPr>
            </a:defPPr>
          </a:lstStyle>
          <a:p xmlns:a="http://schemas.openxmlformats.org/drawingml/2006/main">
            <a:pPr algn="l">
              <a:defRPr sz="1275" b="0">
                <a:solidFill>
                  <a:srgbClr val="203040"/>
                </a:solidFill>
                <a:latin typeface="Arial"/>
                <a:ea typeface="Arial"/>
                <a:cs typeface="Arial"/>
              </a:defRPr>
            </a:pPr>
            <a:r>
              <a:rPr sz="1275" b="0">
                <a:solidFill>
                  <a:srgbClr val="203040"/>
                </a:solidFill>
                <a:latin typeface="Arial"/>
                <a:ea typeface="Arial"/>
                <a:cs typeface="Arial"/>
              </a:rPr>
              <a:t>CPU and RAM violations move to a feasible VM</a:t>
            </a:r>
          </a:p>
        </p:txBody>
      </p:sp>
      <p:sp>
        <p:nvSpPr>
          <p:cNvPr id="12" name="">
            <a:extLst xmlns:a="http://schemas.openxmlformats.org/drawingml/2006/main">
              <a:ext uri="{FF2B5EF4-FFF2-40B4-BE49-F238E27FC236}">
                <a16:creationId xmlns:a16="http://schemas.microsoft.com/office/drawing/2014/main" id="{0288E52D-3231-48C7-9BEC-8182A70B4587}"/>
              </a:ext>
            </a:extLst>
          </p:cNvPr>
          <p:cNvSpPr>
            <a:spLocks xmlns:a="http://schemas.openxmlformats.org/drawingml/2006/main" noGrp="1"/>
          </p:cNvSpPr>
          <p:nvPr/>
        </p:nvSpPr>
        <p:spPr>
          <a:xfrm xmlns:a="http://schemas.openxmlformats.org/drawingml/2006/main">
            <a:off x="6172200" y="2266950"/>
            <a:ext cx="2400300" cy="1809750"/>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13" name="">
            <a:extLst xmlns:a="http://schemas.openxmlformats.org/drawingml/2006/main">
              <a:ext uri="{FF2B5EF4-FFF2-40B4-BE49-F238E27FC236}">
                <a16:creationId xmlns:a16="http://schemas.microsoft.com/office/drawing/2014/main" id="{387A1544-633F-4F3C-9EF4-824F41EEF987}"/>
              </a:ext>
            </a:extLst>
          </p:cNvPr>
          <p:cNvSpPr>
            <a:spLocks xmlns:a="http://schemas.openxmlformats.org/drawingml/2006/main" noGrp="1"/>
          </p:cNvSpPr>
          <p:nvPr/>
        </p:nvSpPr>
        <p:spPr>
          <a:xfrm xmlns:a="http://schemas.openxmlformats.org/drawingml/2006/main">
            <a:off x="6381750" y="245745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00" b="1">
                <a:solidFill>
                  <a:srgbClr val="2F75B5"/>
                </a:solidFill>
                <a:latin typeface="Arial"/>
                <a:ea typeface="Arial"/>
                <a:cs typeface="Arial"/>
              </a:defRPr>
            </a:defPPr>
          </a:lstStyle>
          <a:p xmlns:a="http://schemas.openxmlformats.org/drawingml/2006/main">
            <a:pPr algn="l">
              <a:defRPr sz="2100" b="1">
                <a:solidFill>
                  <a:srgbClr val="2F75B5"/>
                </a:solidFill>
                <a:latin typeface="Arial"/>
                <a:ea typeface="Arial"/>
                <a:cs typeface="Arial"/>
              </a:defRPr>
            </a:pPr>
            <a:r>
              <a:rPr sz="2100" b="1">
                <a:solidFill>
                  <a:srgbClr val="2F75B5"/>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6CBDEB25-A7B3-4E06-B650-1F584F937F54}"/>
              </a:ext>
            </a:extLst>
          </p:cNvPr>
          <p:cNvSpPr>
            <a:spLocks xmlns:a="http://schemas.openxmlformats.org/drawingml/2006/main" noGrp="1"/>
          </p:cNvSpPr>
          <p:nvPr/>
        </p:nvSpPr>
        <p:spPr>
          <a:xfrm xmlns:a="http://schemas.openxmlformats.org/drawingml/2006/main">
            <a:off x="6381750" y="29908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12263A"/>
                </a:solidFill>
                <a:latin typeface="Arial"/>
                <a:ea typeface="Arial"/>
                <a:cs typeface="Arial"/>
              </a:defRPr>
            </a:defPPr>
          </a:lstStyle>
          <a:p xmlns:a="http://schemas.openxmlformats.org/drawingml/2006/main">
            <a:pPr algn="l">
              <a:defRPr sz="1500" b="1">
                <a:solidFill>
                  <a:srgbClr val="12263A"/>
                </a:solidFill>
                <a:latin typeface="Arial"/>
                <a:ea typeface="Arial"/>
                <a:cs typeface="Arial"/>
              </a:defRPr>
            </a:pPr>
            <a:r>
              <a:rPr sz="1500" b="1">
                <a:solidFill>
                  <a:srgbClr val="12263A"/>
                </a:solidFill>
                <a:latin typeface="Arial"/>
                <a:ea typeface="Arial"/>
                <a:cs typeface="Arial"/>
              </a:rPr>
              <a:t>Evaluate</a:t>
            </a:r>
          </a:p>
        </p:txBody>
      </p:sp>
      <p:sp>
        <p:nvSpPr>
          <p:cNvPr id="15" name="">
            <a:extLst xmlns:a="http://schemas.openxmlformats.org/drawingml/2006/main">
              <a:ext uri="{FF2B5EF4-FFF2-40B4-BE49-F238E27FC236}">
                <a16:creationId xmlns:a16="http://schemas.microsoft.com/office/drawing/2014/main" id="{7886DC47-017F-4D6D-A724-EA319154AA1D}"/>
              </a:ext>
            </a:extLst>
          </p:cNvPr>
          <p:cNvSpPr>
            <a:spLocks xmlns:a="http://schemas.openxmlformats.org/drawingml/2006/main" noGrp="1"/>
          </p:cNvSpPr>
          <p:nvPr/>
        </p:nvSpPr>
        <p:spPr>
          <a:xfrm xmlns:a="http://schemas.openxmlformats.org/drawingml/2006/main">
            <a:off x="6381750" y="3371850"/>
            <a:ext cx="195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0">
                <a:solidFill>
                  <a:srgbClr val="203040"/>
                </a:solidFill>
                <a:latin typeface="Arial"/>
                <a:ea typeface="Arial"/>
                <a:cs typeface="Arial"/>
              </a:defRPr>
            </a:defPPr>
          </a:lstStyle>
          <a:p xmlns:a="http://schemas.openxmlformats.org/drawingml/2006/main">
            <a:pPr algn="l">
              <a:defRPr sz="1275" b="0">
                <a:solidFill>
                  <a:srgbClr val="203040"/>
                </a:solidFill>
                <a:latin typeface="Arial"/>
                <a:ea typeface="Arial"/>
                <a:cs typeface="Arial"/>
              </a:defRPr>
            </a:pPr>
            <a:r>
              <a:rPr sz="1275" b="0">
                <a:solidFill>
                  <a:srgbClr val="203040"/>
                </a:solidFill>
                <a:latin typeface="Arial"/>
                <a:ea typeface="Arial"/>
                <a:cs typeface="Arial"/>
              </a:rPr>
              <a:t>Makespan and execution cost form the score</a:t>
            </a:r>
          </a:p>
        </p:txBody>
      </p:sp>
      <p:sp>
        <p:nvSpPr>
          <p:cNvPr id="16" name="">
            <a:extLst xmlns:a="http://schemas.openxmlformats.org/drawingml/2006/main">
              <a:ext uri="{FF2B5EF4-FFF2-40B4-BE49-F238E27FC236}">
                <a16:creationId xmlns:a16="http://schemas.microsoft.com/office/drawing/2014/main" id="{03C58F2E-B560-4766-B770-0FBE759308D2}"/>
              </a:ext>
            </a:extLst>
          </p:cNvPr>
          <p:cNvSpPr>
            <a:spLocks xmlns:a="http://schemas.openxmlformats.org/drawingml/2006/main" noGrp="1"/>
          </p:cNvSpPr>
          <p:nvPr/>
        </p:nvSpPr>
        <p:spPr>
          <a:xfrm xmlns:a="http://schemas.openxmlformats.org/drawingml/2006/main">
            <a:off x="8953500" y="2266950"/>
            <a:ext cx="2400300" cy="1809750"/>
          </a:xfrm>
          <a:prstGeom xmlns:a="http://schemas.openxmlformats.org/drawingml/2006/main" prst="rect">
            <a:avLst/>
          </a:prstGeom>
          <a:solidFill xmlns:a="http://schemas.openxmlformats.org/drawingml/2006/main">
            <a:srgbClr val="FFF5ED"/>
          </a:solidFill>
          <a:ln xmlns:a="http://schemas.openxmlformats.org/drawingml/2006/main" w="9525">
            <a:solidFill>
              <a:srgbClr val="F3C7A2"/>
            </a:solidFill>
          </a:ln>
        </p:spPr>
      </p:sp>
      <p:sp>
        <p:nvSpPr>
          <p:cNvPr id="17" name="">
            <a:extLst xmlns:a="http://schemas.openxmlformats.org/drawingml/2006/main">
              <a:ext uri="{FF2B5EF4-FFF2-40B4-BE49-F238E27FC236}">
                <a16:creationId xmlns:a16="http://schemas.microsoft.com/office/drawing/2014/main" id="{6C8C00BE-32D1-4318-935F-56DF9E90B205}"/>
              </a:ext>
            </a:extLst>
          </p:cNvPr>
          <p:cNvSpPr>
            <a:spLocks xmlns:a="http://schemas.openxmlformats.org/drawingml/2006/main" noGrp="1"/>
          </p:cNvSpPr>
          <p:nvPr/>
        </p:nvSpPr>
        <p:spPr>
          <a:xfrm xmlns:a="http://schemas.openxmlformats.org/drawingml/2006/main">
            <a:off x="9163050" y="245745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00" b="1">
                <a:solidFill>
                  <a:srgbClr val="ED7D31"/>
                </a:solidFill>
                <a:latin typeface="Arial"/>
                <a:ea typeface="Arial"/>
                <a:cs typeface="Arial"/>
              </a:defRPr>
            </a:defPPr>
          </a:lstStyle>
          <a:p xmlns:a="http://schemas.openxmlformats.org/drawingml/2006/main">
            <a:pPr algn="l">
              <a:defRPr sz="2100" b="1">
                <a:solidFill>
                  <a:srgbClr val="ED7D31"/>
                </a:solidFill>
                <a:latin typeface="Arial"/>
                <a:ea typeface="Arial"/>
                <a:cs typeface="Arial"/>
              </a:defRPr>
            </a:pPr>
            <a:r>
              <a:rPr sz="2100" b="1">
                <a:solidFill>
                  <a:srgbClr val="ED7D31"/>
                </a:solidFill>
                <a:latin typeface="Arial"/>
                <a:ea typeface="Arial"/>
                <a:cs typeface="Arial"/>
              </a:rPr>
              <a:t>4</a:t>
            </a:r>
          </a:p>
        </p:txBody>
      </p:sp>
      <p:sp>
        <p:nvSpPr>
          <p:cNvPr id="18" name="">
            <a:extLst xmlns:a="http://schemas.openxmlformats.org/drawingml/2006/main">
              <a:ext uri="{FF2B5EF4-FFF2-40B4-BE49-F238E27FC236}">
                <a16:creationId xmlns:a16="http://schemas.microsoft.com/office/drawing/2014/main" id="{C7F05E80-7EB2-4880-A6AF-B82FF2CDA753}"/>
              </a:ext>
            </a:extLst>
          </p:cNvPr>
          <p:cNvSpPr>
            <a:spLocks xmlns:a="http://schemas.openxmlformats.org/drawingml/2006/main" noGrp="1"/>
          </p:cNvSpPr>
          <p:nvPr/>
        </p:nvSpPr>
        <p:spPr>
          <a:xfrm xmlns:a="http://schemas.openxmlformats.org/drawingml/2006/main">
            <a:off x="9163050" y="29908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12263A"/>
                </a:solidFill>
                <a:latin typeface="Arial"/>
                <a:ea typeface="Arial"/>
                <a:cs typeface="Arial"/>
              </a:defRPr>
            </a:defPPr>
          </a:lstStyle>
          <a:p xmlns:a="http://schemas.openxmlformats.org/drawingml/2006/main">
            <a:pPr algn="l">
              <a:defRPr sz="1500" b="1">
                <a:solidFill>
                  <a:srgbClr val="12263A"/>
                </a:solidFill>
                <a:latin typeface="Arial"/>
                <a:ea typeface="Arial"/>
                <a:cs typeface="Arial"/>
              </a:defRPr>
            </a:pPr>
            <a:r>
              <a:rPr sz="1500" b="1">
                <a:solidFill>
                  <a:srgbClr val="12263A"/>
                </a:solidFill>
                <a:latin typeface="Arial"/>
                <a:ea typeface="Arial"/>
                <a:cs typeface="Arial"/>
              </a:rPr>
              <a:t>Update</a:t>
            </a:r>
          </a:p>
        </p:txBody>
      </p:sp>
      <p:sp>
        <p:nvSpPr>
          <p:cNvPr id="19" name="">
            <a:extLst xmlns:a="http://schemas.openxmlformats.org/drawingml/2006/main">
              <a:ext uri="{FF2B5EF4-FFF2-40B4-BE49-F238E27FC236}">
                <a16:creationId xmlns:a16="http://schemas.microsoft.com/office/drawing/2014/main" id="{96D2BF5F-E1E3-4072-8404-6BA2F2857C38}"/>
              </a:ext>
            </a:extLst>
          </p:cNvPr>
          <p:cNvSpPr>
            <a:spLocks xmlns:a="http://schemas.openxmlformats.org/drawingml/2006/main" noGrp="1"/>
          </p:cNvSpPr>
          <p:nvPr/>
        </p:nvSpPr>
        <p:spPr>
          <a:xfrm xmlns:a="http://schemas.openxmlformats.org/drawingml/2006/main">
            <a:off x="9163050" y="3371850"/>
            <a:ext cx="195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0">
                <a:solidFill>
                  <a:srgbClr val="203040"/>
                </a:solidFill>
                <a:latin typeface="Arial"/>
                <a:ea typeface="Arial"/>
                <a:cs typeface="Arial"/>
              </a:defRPr>
            </a:defPPr>
          </a:lstStyle>
          <a:p xmlns:a="http://schemas.openxmlformats.org/drawingml/2006/main">
            <a:pPr algn="l">
              <a:defRPr sz="1275" b="0">
                <a:solidFill>
                  <a:srgbClr val="203040"/>
                </a:solidFill>
                <a:latin typeface="Arial"/>
                <a:ea typeface="Arial"/>
                <a:cs typeface="Arial"/>
              </a:defRPr>
            </a:pPr>
            <a:r>
              <a:rPr sz="1275" b="0">
                <a:solidFill>
                  <a:srgbClr val="203040"/>
                </a:solidFill>
                <a:latin typeface="Arial"/>
                <a:ea typeface="Arial"/>
                <a:cs typeface="Arial"/>
              </a:rPr>
              <a:t>SMA or AO moves the population toward better solutions</a:t>
            </a:r>
          </a:p>
        </p:txBody>
      </p:sp>
      <p:sp>
        <p:nvSpPr>
          <p:cNvPr id="20" name="">
            <a:extLst xmlns:a="http://schemas.openxmlformats.org/drawingml/2006/main">
              <a:ext uri="{FF2B5EF4-FFF2-40B4-BE49-F238E27FC236}">
                <a16:creationId xmlns:a16="http://schemas.microsoft.com/office/drawing/2014/main" id="{6D3DC9FF-5B75-4701-8BCE-4BFED0919712}"/>
              </a:ext>
            </a:extLst>
          </p:cNvPr>
          <p:cNvSpPr>
            <a:spLocks xmlns:a="http://schemas.openxmlformats.org/drawingml/2006/main" noGrp="1"/>
          </p:cNvSpPr>
          <p:nvPr/>
        </p:nvSpPr>
        <p:spPr>
          <a:xfrm xmlns:a="http://schemas.openxmlformats.org/drawingml/2006/main">
            <a:off x="609600" y="4667250"/>
            <a:ext cx="5257800" cy="1066800"/>
          </a:xfrm>
          <a:prstGeom xmlns:a="http://schemas.openxmlformats.org/drawingml/2006/main" prst="rect">
            <a:avLst/>
          </a:prstGeom>
          <a:solidFill xmlns:a="http://schemas.openxmlformats.org/drawingml/2006/main">
            <a:srgbClr val="12263A"/>
          </a:solidFill>
          <a:ln xmlns:a="http://schemas.openxmlformats.org/drawingml/2006/main" w="9525">
            <a:solidFill>
              <a:srgbClr val="12263A"/>
            </a:solidFill>
          </a:ln>
        </p:spPr>
      </p:sp>
      <p:sp>
        <p:nvSpPr>
          <p:cNvPr id="21" name="">
            <a:extLst xmlns:a="http://schemas.openxmlformats.org/drawingml/2006/main">
              <a:ext uri="{FF2B5EF4-FFF2-40B4-BE49-F238E27FC236}">
                <a16:creationId xmlns:a16="http://schemas.microsoft.com/office/drawing/2014/main" id="{6CFD840B-5DF7-4149-9870-3AB4358E4C0E}"/>
              </a:ext>
            </a:extLst>
          </p:cNvPr>
          <p:cNvSpPr>
            <a:spLocks xmlns:a="http://schemas.openxmlformats.org/drawingml/2006/main" noGrp="1"/>
          </p:cNvSpPr>
          <p:nvPr/>
        </p:nvSpPr>
        <p:spPr>
          <a:xfrm xmlns:a="http://schemas.openxmlformats.org/drawingml/2006/main">
            <a:off x="857250" y="487680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350" b="1">
                <a:solidFill>
                  <a:srgbClr val="B9D9F2"/>
                </a:solidFill>
                <a:latin typeface="Arial"/>
                <a:ea typeface="Arial"/>
                <a:cs typeface="Arial"/>
              </a:defRPr>
            </a:defPPr>
          </a:lstStyle>
          <a:p xmlns:a="http://schemas.openxmlformats.org/drawingml/2006/main">
            <a:pPr algn="l">
              <a:defRPr sz="1350" b="1">
                <a:solidFill>
                  <a:srgbClr val="B9D9F2"/>
                </a:solidFill>
                <a:latin typeface="Arial"/>
                <a:ea typeface="Arial"/>
                <a:cs typeface="Arial"/>
              </a:defRPr>
            </a:pPr>
            <a:r>
              <a:rPr sz="1350" b="1">
                <a:solidFill>
                  <a:srgbClr val="B9D9F2"/>
                </a:solidFill>
                <a:latin typeface="Arial"/>
                <a:ea typeface="Arial"/>
                <a:cs typeface="Arial"/>
              </a:rPr>
              <a:t>Objective score</a:t>
            </a:r>
          </a:p>
        </p:txBody>
      </p:sp>
      <p:sp>
        <p:nvSpPr>
          <p:cNvPr id="22" name="">
            <a:extLst xmlns:a="http://schemas.openxmlformats.org/drawingml/2006/main">
              <a:ext uri="{FF2B5EF4-FFF2-40B4-BE49-F238E27FC236}">
                <a16:creationId xmlns:a16="http://schemas.microsoft.com/office/drawing/2014/main" id="{91685FAD-8DC5-4F8A-82B4-B07375881750}"/>
              </a:ext>
            </a:extLst>
          </p:cNvPr>
          <p:cNvSpPr>
            <a:spLocks xmlns:a="http://schemas.openxmlformats.org/drawingml/2006/main" noGrp="1"/>
          </p:cNvSpPr>
          <p:nvPr/>
        </p:nvSpPr>
        <p:spPr>
          <a:xfrm xmlns:a="http://schemas.openxmlformats.org/drawingml/2006/main">
            <a:off x="857250" y="521970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FFFFFF"/>
                </a:solidFill>
                <a:latin typeface="Arial"/>
                <a:ea typeface="Arial"/>
                <a:cs typeface="Arial"/>
              </a:defRPr>
            </a:defPPr>
          </a:lstStyle>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0.60 × normalized makespan + 0.40 × normalized cost</a:t>
            </a:r>
          </a:p>
        </p:txBody>
      </p:sp>
      <p:sp>
        <p:nvSpPr>
          <p:cNvPr id="23" name="">
            <a:extLst xmlns:a="http://schemas.openxmlformats.org/drawingml/2006/main">
              <a:ext uri="{FF2B5EF4-FFF2-40B4-BE49-F238E27FC236}">
                <a16:creationId xmlns:a16="http://schemas.microsoft.com/office/drawing/2014/main" id="{E1520874-3A61-4FDF-939F-BCEE251DC0A6}"/>
              </a:ext>
            </a:extLst>
          </p:cNvPr>
          <p:cNvSpPr>
            <a:spLocks xmlns:a="http://schemas.openxmlformats.org/drawingml/2006/main" noGrp="1"/>
          </p:cNvSpPr>
          <p:nvPr/>
        </p:nvSpPr>
        <p:spPr>
          <a:xfrm xmlns:a="http://schemas.openxmlformats.org/drawingml/2006/main">
            <a:off x="6324600" y="4667250"/>
            <a:ext cx="5257800" cy="1066800"/>
          </a:xfrm>
          <a:prstGeom xmlns:a="http://schemas.openxmlformats.org/drawingml/2006/main" prst="rect">
            <a:avLst/>
          </a:prstGeom>
          <a:solidFill xmlns:a="http://schemas.openxmlformats.org/drawingml/2006/main">
            <a:srgbClr val="2A9D8F"/>
          </a:solidFill>
          <a:ln xmlns:a="http://schemas.openxmlformats.org/drawingml/2006/main" w="9525">
            <a:solidFill>
              <a:srgbClr val="2A9D8F"/>
            </a:solidFill>
          </a:ln>
        </p:spPr>
      </p:sp>
      <p:sp>
        <p:nvSpPr>
          <p:cNvPr id="24" name="">
            <a:extLst xmlns:a="http://schemas.openxmlformats.org/drawingml/2006/main">
              <a:ext uri="{FF2B5EF4-FFF2-40B4-BE49-F238E27FC236}">
                <a16:creationId xmlns:a16="http://schemas.microsoft.com/office/drawing/2014/main" id="{A847A571-2E94-40FC-89A0-2BF76A2E2E02}"/>
              </a:ext>
            </a:extLst>
          </p:cNvPr>
          <p:cNvSpPr>
            <a:spLocks xmlns:a="http://schemas.openxmlformats.org/drawingml/2006/main" noGrp="1"/>
          </p:cNvSpPr>
          <p:nvPr/>
        </p:nvSpPr>
        <p:spPr>
          <a:xfrm xmlns:a="http://schemas.openxmlformats.org/drawingml/2006/main">
            <a:off x="6572250" y="487680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350" b="1">
                <a:solidFill>
                  <a:srgbClr val="D8F2EF"/>
                </a:solidFill>
                <a:latin typeface="Arial"/>
                <a:ea typeface="Arial"/>
                <a:cs typeface="Arial"/>
              </a:defRPr>
            </a:defPPr>
          </a:lstStyle>
          <a:p xmlns:a="http://schemas.openxmlformats.org/drawingml/2006/main">
            <a:pPr algn="l">
              <a:defRPr sz="1350" b="1">
                <a:solidFill>
                  <a:srgbClr val="D8F2EF"/>
                </a:solidFill>
                <a:latin typeface="Arial"/>
                <a:ea typeface="Arial"/>
                <a:cs typeface="Arial"/>
              </a:defRPr>
            </a:pPr>
            <a:r>
              <a:rPr sz="1350" b="1">
                <a:solidFill>
                  <a:srgbClr val="D8F2EF"/>
                </a:solidFill>
                <a:latin typeface="Arial"/>
                <a:ea typeface="Arial"/>
                <a:cs typeface="Arial"/>
              </a:rPr>
              <a:t>Cost model</a:t>
            </a:r>
          </a:p>
        </p:txBody>
      </p:sp>
      <p:sp>
        <p:nvSpPr>
          <p:cNvPr id="25" name="">
            <a:extLst xmlns:a="http://schemas.openxmlformats.org/drawingml/2006/main">
              <a:ext uri="{FF2B5EF4-FFF2-40B4-BE49-F238E27FC236}">
                <a16:creationId xmlns:a16="http://schemas.microsoft.com/office/drawing/2014/main" id="{C2F97B73-F97B-4EBB-AF59-AE75BB4413F7}"/>
              </a:ext>
            </a:extLst>
          </p:cNvPr>
          <p:cNvSpPr>
            <a:spLocks xmlns:a="http://schemas.openxmlformats.org/drawingml/2006/main" noGrp="1"/>
          </p:cNvSpPr>
          <p:nvPr/>
        </p:nvSpPr>
        <p:spPr>
          <a:xfrm xmlns:a="http://schemas.openxmlformats.org/drawingml/2006/main">
            <a:off x="6572250" y="521970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FFFFFF"/>
                </a:solidFill>
                <a:latin typeface="Arial"/>
                <a:ea typeface="Arial"/>
                <a:cs typeface="Arial"/>
              </a:defRPr>
            </a:defPPr>
          </a:lstStyle>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Σ(actual CPU time × VM price)</a:t>
            </a:r>
          </a:p>
        </p:txBody>
      </p:sp>
      <p:sp>
        <p:nvSpPr>
          <p:cNvPr id="26" name="">
            <a:extLst xmlns:a="http://schemas.openxmlformats.org/drawingml/2006/main">
              <a:ext uri="{FF2B5EF4-FFF2-40B4-BE49-F238E27FC236}">
                <a16:creationId xmlns:a16="http://schemas.microsoft.com/office/drawing/2014/main" id="{9A8BEA18-51E8-4ED5-9617-E4E24980A3D3}"/>
              </a:ext>
            </a:extLst>
          </p:cNvPr>
          <p:cNvSpPr>
            <a:spLocks xmlns:a="http://schemas.openxmlformats.org/drawingml/2006/main" noGrp="1"/>
          </p:cNvSpPr>
          <p:nvPr/>
        </p:nvSpPr>
        <p:spPr>
          <a:xfrm xmlns:a="http://schemas.openxmlformats.org/drawingml/2006/main">
            <a:off x="609600" y="6534150"/>
            <a:ext cx="1095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825" b="0">
                <a:solidFill>
                  <a:srgbClr val="5B6770"/>
                </a:solidFill>
                <a:latin typeface="Arial"/>
                <a:ea typeface="Arial"/>
                <a:cs typeface="Arial"/>
              </a:defRPr>
            </a:defPPr>
          </a:lstStyle>
          <a:p xmlns:a="http://schemas.openxmlformats.org/drawingml/2006/main">
            <a:pPr algn="l">
              <a:defRPr sz="825" b="0">
                <a:solidFill>
                  <a:srgbClr val="5B6770"/>
                </a:solidFill>
                <a:latin typeface="Arial"/>
                <a:ea typeface="Arial"/>
                <a:cs typeface="Arial"/>
              </a:defRPr>
            </a:pPr>
            <a:r>
              <a:rPr sz="825" b="0">
                <a:solidFill>
                  <a:srgbClr val="5B6770"/>
                </a:solidFill>
                <a:latin typeface="Arial"/>
                <a:ea typeface="Arial"/>
                <a:cs typeface="Arial"/>
              </a:rPr>
              <a:t>SOKA metaheuristic scheduling  |  5</a:t>
            </a:r>
          </a:p>
        </p:txBody>
      </p:sp>
    </p:spTree>
    <p:extLst>
      <p:ext uri="{BB962C8B-B14F-4D97-AF65-F5344CB8AC3E}">
        <p14:creationId xmlns:p14="http://schemas.microsoft.com/office/powerpoint/2010/main" val="15861748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5420027-8AA0-4CAA-972C-9853B89696C7}"/>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050" b="1">
                <a:solidFill>
                  <a:srgbClr val="2F75B5"/>
                </a:solidFill>
                <a:latin typeface="Arial"/>
                <a:ea typeface="Arial"/>
                <a:cs typeface="Arial"/>
              </a:defRPr>
            </a:defPPr>
          </a:lstStyle>
          <a:p xmlns:a="http://schemas.openxmlformats.org/drawingml/2006/main">
            <a:pPr algn="l">
              <a:defRPr sz="1050" b="1">
                <a:solidFill>
                  <a:srgbClr val="2F75B5"/>
                </a:solidFill>
                <a:latin typeface="Arial"/>
                <a:ea typeface="Arial"/>
                <a:cs typeface="Arial"/>
              </a:defRPr>
            </a:pPr>
            <a:r>
              <a:rPr sz="1050" b="1">
                <a:solidFill>
                  <a:srgbClr val="2F75B5"/>
                </a:solidFill>
                <a:latin typeface="Arial"/>
                <a:ea typeface="Arial"/>
                <a:cs typeface="Arial"/>
              </a:rPr>
              <a:t>WHAT THE COMPLETED RUN WILL PROVIDE</a:t>
            </a:r>
          </a:p>
        </p:txBody>
      </p:sp>
      <p:sp>
        <p:nvSpPr>
          <p:cNvPr id="2" name="">
            <a:extLst xmlns:a="http://schemas.openxmlformats.org/drawingml/2006/main">
              <a:ext uri="{FF2B5EF4-FFF2-40B4-BE49-F238E27FC236}">
                <a16:creationId xmlns:a16="http://schemas.microsoft.com/office/drawing/2014/main" id="{F3A6030B-B7D6-4ADF-9FA3-D83D8802D48A}"/>
              </a:ext>
            </a:extLst>
          </p:cNvPr>
          <p:cNvSpPr>
            <a:spLocks xmlns:a="http://schemas.openxmlformats.org/drawingml/2006/main" noGrp="1"/>
          </p:cNvSpPr>
          <p:nvPr/>
        </p:nvSpPr>
        <p:spPr>
          <a:xfrm xmlns:a="http://schemas.openxmlformats.org/drawingml/2006/main">
            <a:off x="609600" y="61912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1">
                <a:solidFill>
                  <a:srgbClr val="12263A"/>
                </a:solidFill>
                <a:latin typeface="Arial"/>
                <a:ea typeface="Arial"/>
                <a:cs typeface="Arial"/>
              </a:defRPr>
            </a:defPPr>
          </a:lstStyle>
          <a:p xmlns:a="http://schemas.openxmlformats.org/drawingml/2006/main">
            <a:pPr algn="l">
              <a:defRPr sz="2550" b="1">
                <a:solidFill>
                  <a:srgbClr val="12263A"/>
                </a:solidFill>
                <a:latin typeface="Arial"/>
                <a:ea typeface="Arial"/>
                <a:cs typeface="Arial"/>
              </a:defRPr>
            </a:pPr>
            <a:r>
              <a:rPr sz="2550" b="1">
                <a:solidFill>
                  <a:srgbClr val="12263A"/>
                </a:solidFill>
                <a:latin typeface="Arial"/>
                <a:ea typeface="Arial"/>
                <a:cs typeface="Arial"/>
              </a:rPr>
              <a:t>Outputs and interpretation</a:t>
            </a:r>
          </a:p>
        </p:txBody>
      </p:sp>
      <p:sp>
        <p:nvSpPr>
          <p:cNvPr id="3" name="">
            <a:extLst xmlns:a="http://schemas.openxmlformats.org/drawingml/2006/main">
              <a:ext uri="{FF2B5EF4-FFF2-40B4-BE49-F238E27FC236}">
                <a16:creationId xmlns:a16="http://schemas.microsoft.com/office/drawing/2014/main" id="{D9D2D7A8-E2EA-4176-B087-FFEC4631197F}"/>
              </a:ext>
            </a:extLst>
          </p:cNvPr>
          <p:cNvSpPr>
            <a:spLocks xmlns:a="http://schemas.openxmlformats.org/drawingml/2006/main" noGrp="1"/>
          </p:cNvSpPr>
          <p:nvPr/>
        </p:nvSpPr>
        <p:spPr>
          <a:xfrm xmlns:a="http://schemas.openxmlformats.org/drawingml/2006/main">
            <a:off x="609600" y="1352550"/>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2F75B5"/>
                </a:solidFill>
                <a:latin typeface="Arial"/>
                <a:ea typeface="Arial"/>
                <a:cs typeface="Arial"/>
              </a:defRPr>
            </a:defPPr>
          </a:lstStyle>
          <a:p xmlns:a="http://schemas.openxmlformats.org/drawingml/2006/main">
            <a:pPr algn="l">
              <a:defRPr sz="1800" b="1">
                <a:solidFill>
                  <a:srgbClr val="2F75B5"/>
                </a:solidFill>
                <a:latin typeface="Arial"/>
                <a:ea typeface="Arial"/>
                <a:cs typeface="Arial"/>
              </a:defRPr>
            </a:pPr>
            <a:r>
              <a:rPr sz="1800" b="1">
                <a:solidFill>
                  <a:srgbClr val="2F75B5"/>
                </a:solidFill>
                <a:latin typeface="Arial"/>
                <a:ea typeface="Arial"/>
                <a:cs typeface="Arial"/>
              </a:rPr>
              <a:t>Result files</a:t>
            </a:r>
          </a:p>
        </p:txBody>
      </p:sp>
      <p:sp>
        <p:nvSpPr>
          <p:cNvPr id="4" name="">
            <a:extLst xmlns:a="http://schemas.openxmlformats.org/drawingml/2006/main">
              <a:ext uri="{FF2B5EF4-FFF2-40B4-BE49-F238E27FC236}">
                <a16:creationId xmlns:a16="http://schemas.microsoft.com/office/drawing/2014/main" id="{B18FC898-0E39-41B2-A0E0-02980B3BA19A}"/>
              </a:ext>
            </a:extLst>
          </p:cNvPr>
          <p:cNvSpPr>
            <a:spLocks xmlns:a="http://schemas.openxmlformats.org/drawingml/2006/main" noGrp="1"/>
          </p:cNvSpPr>
          <p:nvPr/>
        </p:nvSpPr>
        <p:spPr>
          <a:xfrm xmlns:a="http://schemas.openxmlformats.org/drawingml/2006/main">
            <a:off x="609600" y="1809750"/>
            <a:ext cx="409575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5" name="">
            <a:extLst xmlns:a="http://schemas.openxmlformats.org/drawingml/2006/main">
              <a:ext uri="{FF2B5EF4-FFF2-40B4-BE49-F238E27FC236}">
                <a16:creationId xmlns:a16="http://schemas.microsoft.com/office/drawing/2014/main" id="{DED199A5-3ACA-45FB-8C74-8B09F3F69E10}"/>
              </a:ext>
            </a:extLst>
          </p:cNvPr>
          <p:cNvSpPr>
            <a:spLocks xmlns:a="http://schemas.openxmlformats.org/drawingml/2006/main" noGrp="1"/>
          </p:cNvSpPr>
          <p:nvPr/>
        </p:nvSpPr>
        <p:spPr>
          <a:xfrm xmlns:a="http://schemas.openxmlformats.org/drawingml/2006/main">
            <a:off x="800100" y="1914525"/>
            <a:ext cx="3714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b="1">
                <a:solidFill>
                  <a:srgbClr val="203040"/>
                </a:solidFill>
                <a:latin typeface="Arial"/>
                <a:ea typeface="Arial"/>
                <a:cs typeface="Arial"/>
              </a:defRPr>
            </a:defPPr>
          </a:lstStyle>
          <a:p xmlns:a="http://schemas.openxmlformats.org/drawingml/2006/main">
            <a:pPr algn="l">
              <a:defRPr sz="1425" b="1">
                <a:solidFill>
                  <a:srgbClr val="203040"/>
                </a:solidFill>
                <a:latin typeface="Arial"/>
                <a:ea typeface="Arial"/>
                <a:cs typeface="Arial"/>
              </a:defRPr>
            </a:pPr>
            <a:r>
              <a:rPr sz="1425" b="1">
                <a:solidFill>
                  <a:srgbClr val="203040"/>
                </a:solidFill>
                <a:latin typeface="Arial"/>
                <a:ea typeface="Arial"/>
                <a:cs typeface="Arial"/>
              </a:rPr>
              <a:t>runs.csv</a:t>
            </a:r>
          </a:p>
        </p:txBody>
      </p:sp>
      <p:sp>
        <p:nvSpPr>
          <p:cNvPr id="6" name="">
            <a:extLst xmlns:a="http://schemas.openxmlformats.org/drawingml/2006/main">
              <a:ext uri="{FF2B5EF4-FFF2-40B4-BE49-F238E27FC236}">
                <a16:creationId xmlns:a16="http://schemas.microsoft.com/office/drawing/2014/main" id="{D6568293-428C-43FD-A306-969721CC9496}"/>
              </a:ext>
            </a:extLst>
          </p:cNvPr>
          <p:cNvSpPr>
            <a:spLocks xmlns:a="http://schemas.openxmlformats.org/drawingml/2006/main" noGrp="1"/>
          </p:cNvSpPr>
          <p:nvPr/>
        </p:nvSpPr>
        <p:spPr>
          <a:xfrm xmlns:a="http://schemas.openxmlformats.org/drawingml/2006/main">
            <a:off x="609600" y="2333625"/>
            <a:ext cx="4095750" cy="400050"/>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7" name="">
            <a:extLst xmlns:a="http://schemas.openxmlformats.org/drawingml/2006/main">
              <a:ext uri="{FF2B5EF4-FFF2-40B4-BE49-F238E27FC236}">
                <a16:creationId xmlns:a16="http://schemas.microsoft.com/office/drawing/2014/main" id="{AB7A31D5-B72B-4EA6-97D7-CAA23A7FC21B}"/>
              </a:ext>
            </a:extLst>
          </p:cNvPr>
          <p:cNvSpPr>
            <a:spLocks xmlns:a="http://schemas.openxmlformats.org/drawingml/2006/main" noGrp="1"/>
          </p:cNvSpPr>
          <p:nvPr/>
        </p:nvSpPr>
        <p:spPr>
          <a:xfrm xmlns:a="http://schemas.openxmlformats.org/drawingml/2006/main">
            <a:off x="800100" y="2438400"/>
            <a:ext cx="3714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b="1">
                <a:solidFill>
                  <a:srgbClr val="203040"/>
                </a:solidFill>
                <a:latin typeface="Arial"/>
                <a:ea typeface="Arial"/>
                <a:cs typeface="Arial"/>
              </a:defRPr>
            </a:defPPr>
          </a:lstStyle>
          <a:p xmlns:a="http://schemas.openxmlformats.org/drawingml/2006/main">
            <a:pPr algn="l">
              <a:defRPr sz="1425" b="1">
                <a:solidFill>
                  <a:srgbClr val="203040"/>
                </a:solidFill>
                <a:latin typeface="Arial"/>
                <a:ea typeface="Arial"/>
                <a:cs typeface="Arial"/>
              </a:defRPr>
            </a:pPr>
            <a:r>
              <a:rPr sz="1425" b="1">
                <a:solidFill>
                  <a:srgbClr val="203040"/>
                </a:solidFill>
                <a:latin typeface="Arial"/>
                <a:ea typeface="Arial"/>
                <a:cs typeface="Arial"/>
              </a:rPr>
              <a:t>summary.csv</a:t>
            </a:r>
          </a:p>
        </p:txBody>
      </p:sp>
      <p:sp>
        <p:nvSpPr>
          <p:cNvPr id="8" name="">
            <a:extLst xmlns:a="http://schemas.openxmlformats.org/drawingml/2006/main">
              <a:ext uri="{FF2B5EF4-FFF2-40B4-BE49-F238E27FC236}">
                <a16:creationId xmlns:a16="http://schemas.microsoft.com/office/drawing/2014/main" id="{8D3E2B09-52E4-41ED-B463-B12E300DFF0F}"/>
              </a:ext>
            </a:extLst>
          </p:cNvPr>
          <p:cNvSpPr>
            <a:spLocks xmlns:a="http://schemas.openxmlformats.org/drawingml/2006/main" noGrp="1"/>
          </p:cNvSpPr>
          <p:nvPr/>
        </p:nvSpPr>
        <p:spPr>
          <a:xfrm xmlns:a="http://schemas.openxmlformats.org/drawingml/2006/main">
            <a:off x="609600" y="2857500"/>
            <a:ext cx="409575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9" name="">
            <a:extLst xmlns:a="http://schemas.openxmlformats.org/drawingml/2006/main">
              <a:ext uri="{FF2B5EF4-FFF2-40B4-BE49-F238E27FC236}">
                <a16:creationId xmlns:a16="http://schemas.microsoft.com/office/drawing/2014/main" id="{83D7FEEC-E818-4401-B637-B4AF537D0FA0}"/>
              </a:ext>
            </a:extLst>
          </p:cNvPr>
          <p:cNvSpPr>
            <a:spLocks xmlns:a="http://schemas.openxmlformats.org/drawingml/2006/main" noGrp="1"/>
          </p:cNvSpPr>
          <p:nvPr/>
        </p:nvSpPr>
        <p:spPr>
          <a:xfrm xmlns:a="http://schemas.openxmlformats.org/drawingml/2006/main">
            <a:off x="800100" y="2962275"/>
            <a:ext cx="3714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b="1">
                <a:solidFill>
                  <a:srgbClr val="203040"/>
                </a:solidFill>
                <a:latin typeface="Arial"/>
                <a:ea typeface="Arial"/>
                <a:cs typeface="Arial"/>
              </a:defRPr>
            </a:defPPr>
          </a:lstStyle>
          <a:p xmlns:a="http://schemas.openxmlformats.org/drawingml/2006/main">
            <a:pPr algn="l">
              <a:defRPr sz="1425" b="1">
                <a:solidFill>
                  <a:srgbClr val="203040"/>
                </a:solidFill>
                <a:latin typeface="Arial"/>
                <a:ea typeface="Arial"/>
                <a:cs typeface="Arial"/>
              </a:defRPr>
            </a:pPr>
            <a:r>
              <a:rPr sz="1425" b="1">
                <a:solidFill>
                  <a:srgbClr val="203040"/>
                </a:solidFill>
                <a:latin typeface="Arial"/>
                <a:ea typeface="Arial"/>
                <a:cs typeface="Arial"/>
              </a:rPr>
              <a:t>comparison.png</a:t>
            </a:r>
          </a:p>
        </p:txBody>
      </p:sp>
      <p:sp>
        <p:nvSpPr>
          <p:cNvPr id="10" name="">
            <a:extLst xmlns:a="http://schemas.openxmlformats.org/drawingml/2006/main">
              <a:ext uri="{FF2B5EF4-FFF2-40B4-BE49-F238E27FC236}">
                <a16:creationId xmlns:a16="http://schemas.microsoft.com/office/drawing/2014/main" id="{F0F80699-7C53-49D7-9BEF-F2AD6ED6C38C}"/>
              </a:ext>
            </a:extLst>
          </p:cNvPr>
          <p:cNvSpPr>
            <a:spLocks xmlns:a="http://schemas.openxmlformats.org/drawingml/2006/main" noGrp="1"/>
          </p:cNvSpPr>
          <p:nvPr/>
        </p:nvSpPr>
        <p:spPr>
          <a:xfrm xmlns:a="http://schemas.openxmlformats.org/drawingml/2006/main">
            <a:off x="609600" y="3381375"/>
            <a:ext cx="4095750" cy="400050"/>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11" name="">
            <a:extLst xmlns:a="http://schemas.openxmlformats.org/drawingml/2006/main">
              <a:ext uri="{FF2B5EF4-FFF2-40B4-BE49-F238E27FC236}">
                <a16:creationId xmlns:a16="http://schemas.microsoft.com/office/drawing/2014/main" id="{7D6DDD04-40AE-4E55-85A6-B7A45AA03744}"/>
              </a:ext>
            </a:extLst>
          </p:cNvPr>
          <p:cNvSpPr>
            <a:spLocks xmlns:a="http://schemas.openxmlformats.org/drawingml/2006/main" noGrp="1"/>
          </p:cNvSpPr>
          <p:nvPr/>
        </p:nvSpPr>
        <p:spPr>
          <a:xfrm xmlns:a="http://schemas.openxmlformats.org/drawingml/2006/main">
            <a:off x="800100" y="3486150"/>
            <a:ext cx="3714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b="1">
                <a:solidFill>
                  <a:srgbClr val="203040"/>
                </a:solidFill>
                <a:latin typeface="Arial"/>
                <a:ea typeface="Arial"/>
                <a:cs typeface="Arial"/>
              </a:defRPr>
            </a:defPPr>
          </a:lstStyle>
          <a:p xmlns:a="http://schemas.openxmlformats.org/drawingml/2006/main">
            <a:pPr algn="l">
              <a:defRPr sz="1425" b="1">
                <a:solidFill>
                  <a:srgbClr val="203040"/>
                </a:solidFill>
                <a:latin typeface="Arial"/>
                <a:ea typeface="Arial"/>
                <a:cs typeface="Arial"/>
              </a:defRPr>
            </a:pPr>
            <a:r>
              <a:rPr sz="1425" b="1">
                <a:solidFill>
                  <a:srgbClr val="203040"/>
                </a:solidFill>
                <a:latin typeface="Arial"/>
                <a:ea typeface="Arial"/>
                <a:cs typeface="Arial"/>
              </a:rPr>
              <a:t>overall.png</a:t>
            </a:r>
          </a:p>
        </p:txBody>
      </p:sp>
      <p:sp>
        <p:nvSpPr>
          <p:cNvPr id="12" name="">
            <a:extLst xmlns:a="http://schemas.openxmlformats.org/drawingml/2006/main">
              <a:ext uri="{FF2B5EF4-FFF2-40B4-BE49-F238E27FC236}">
                <a16:creationId xmlns:a16="http://schemas.microsoft.com/office/drawing/2014/main" id="{CB860130-CEB0-4A43-B868-A2B9A5076083}"/>
              </a:ext>
            </a:extLst>
          </p:cNvPr>
          <p:cNvSpPr>
            <a:spLocks xmlns:a="http://schemas.openxmlformats.org/drawingml/2006/main" noGrp="1"/>
          </p:cNvSpPr>
          <p:nvPr/>
        </p:nvSpPr>
        <p:spPr>
          <a:xfrm xmlns:a="http://schemas.openxmlformats.org/drawingml/2006/main">
            <a:off x="609600" y="3905250"/>
            <a:ext cx="409575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13" name="">
            <a:extLst xmlns:a="http://schemas.openxmlformats.org/drawingml/2006/main">
              <a:ext uri="{FF2B5EF4-FFF2-40B4-BE49-F238E27FC236}">
                <a16:creationId xmlns:a16="http://schemas.microsoft.com/office/drawing/2014/main" id="{746051BC-F552-4B03-9530-F9615EEAD5CA}"/>
              </a:ext>
            </a:extLst>
          </p:cNvPr>
          <p:cNvSpPr>
            <a:spLocks xmlns:a="http://schemas.openxmlformats.org/drawingml/2006/main" noGrp="1"/>
          </p:cNvSpPr>
          <p:nvPr/>
        </p:nvSpPr>
        <p:spPr>
          <a:xfrm xmlns:a="http://schemas.openxmlformats.org/drawingml/2006/main">
            <a:off x="800100" y="4010025"/>
            <a:ext cx="3714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b="1">
                <a:solidFill>
                  <a:srgbClr val="203040"/>
                </a:solidFill>
                <a:latin typeface="Arial"/>
                <a:ea typeface="Arial"/>
                <a:cs typeface="Arial"/>
              </a:defRPr>
            </a:defPPr>
          </a:lstStyle>
          <a:p xmlns:a="http://schemas.openxmlformats.org/drawingml/2006/main">
            <a:pPr algn="l">
              <a:defRPr sz="1425" b="1">
                <a:solidFill>
                  <a:srgbClr val="203040"/>
                </a:solidFill>
                <a:latin typeface="Arial"/>
                <a:ea typeface="Arial"/>
                <a:cs typeface="Arial"/>
              </a:defRPr>
            </a:pPr>
            <a:r>
              <a:rPr sz="1425" b="1">
                <a:solidFill>
                  <a:srgbClr val="203040"/>
                </a:solidFill>
                <a:latin typeface="Arial"/>
                <a:ea typeface="Arial"/>
                <a:cs typeface="Arial"/>
              </a:rPr>
              <a:t>configuration.txt</a:t>
            </a:r>
          </a:p>
        </p:txBody>
      </p:sp>
      <p:sp>
        <p:nvSpPr>
          <p:cNvPr id="14" name="">
            <a:extLst xmlns:a="http://schemas.openxmlformats.org/drawingml/2006/main">
              <a:ext uri="{FF2B5EF4-FFF2-40B4-BE49-F238E27FC236}">
                <a16:creationId xmlns:a16="http://schemas.microsoft.com/office/drawing/2014/main" id="{6E760C1A-08AB-49E3-ACE5-172149441378}"/>
              </a:ext>
            </a:extLst>
          </p:cNvPr>
          <p:cNvSpPr>
            <a:spLocks xmlns:a="http://schemas.openxmlformats.org/drawingml/2006/main" noGrp="1"/>
          </p:cNvSpPr>
          <p:nvPr/>
        </p:nvSpPr>
        <p:spPr>
          <a:xfrm xmlns:a="http://schemas.openxmlformats.org/drawingml/2006/main">
            <a:off x="5810250" y="13525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ED7D31"/>
                </a:solidFill>
                <a:latin typeface="Arial"/>
                <a:ea typeface="Arial"/>
                <a:cs typeface="Arial"/>
              </a:defRPr>
            </a:defPPr>
          </a:lstStyle>
          <a:p xmlns:a="http://schemas.openxmlformats.org/drawingml/2006/main">
            <a:pPr algn="l">
              <a:defRPr sz="1800" b="1">
                <a:solidFill>
                  <a:srgbClr val="ED7D31"/>
                </a:solidFill>
                <a:latin typeface="Arial"/>
                <a:ea typeface="Arial"/>
                <a:cs typeface="Arial"/>
              </a:defRPr>
            </a:pPr>
            <a:r>
              <a:rPr sz="1800" b="1">
                <a:solidFill>
                  <a:srgbClr val="ED7D31"/>
                </a:solidFill>
                <a:latin typeface="Arial"/>
                <a:ea typeface="Arial"/>
                <a:cs typeface="Arial"/>
              </a:rPr>
              <a:t>Read the comparison</a:t>
            </a:r>
          </a:p>
        </p:txBody>
      </p:sp>
      <p:sp>
        <p:nvSpPr>
          <p:cNvPr id="15" name="">
            <a:extLst xmlns:a="http://schemas.openxmlformats.org/drawingml/2006/main">
              <a:ext uri="{FF2B5EF4-FFF2-40B4-BE49-F238E27FC236}">
                <a16:creationId xmlns:a16="http://schemas.microsoft.com/office/drawing/2014/main" id="{502D444D-E5C2-4A2E-8D05-F932A1C41F3C}"/>
              </a:ext>
            </a:extLst>
          </p:cNvPr>
          <p:cNvSpPr>
            <a:spLocks xmlns:a="http://schemas.openxmlformats.org/drawingml/2006/main" noGrp="1"/>
          </p:cNvSpPr>
          <p:nvPr/>
        </p:nvSpPr>
        <p:spPr>
          <a:xfrm xmlns:a="http://schemas.openxmlformats.org/drawingml/2006/main">
            <a:off x="5810250" y="188595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75" b="0">
                <a:solidFill>
                  <a:srgbClr val="203040"/>
                </a:solidFill>
                <a:latin typeface="Arial"/>
                <a:ea typeface="Arial"/>
                <a:cs typeface="Arial"/>
              </a:defRPr>
            </a:defPPr>
          </a:lstStyle>
          <a:p xmlns:a="http://schemas.openxmlformats.org/drawingml/2006/main">
            <a:pPr algn="l">
              <a:defRPr sz="1575" b="0">
                <a:solidFill>
                  <a:srgbClr val="203040"/>
                </a:solidFill>
                <a:latin typeface="Arial"/>
                <a:ea typeface="Arial"/>
                <a:cs typeface="Arial"/>
              </a:defRPr>
            </a:pPr>
            <a:r>
              <a:rPr sz="1575" b="0">
                <a:solidFill>
                  <a:srgbClr val="203040"/>
                </a:solidFill>
                <a:latin typeface="Arial"/>
                <a:ea typeface="Arial"/>
                <a:cs typeface="Arial"/>
              </a:rPr>
              <a:t>• Lower makespan means faster completion</a:t>
            </a:r>
          </a:p>
        </p:txBody>
      </p:sp>
      <p:sp>
        <p:nvSpPr>
          <p:cNvPr id="16" name="">
            <a:extLst xmlns:a="http://schemas.openxmlformats.org/drawingml/2006/main">
              <a:ext uri="{FF2B5EF4-FFF2-40B4-BE49-F238E27FC236}">
                <a16:creationId xmlns:a16="http://schemas.microsoft.com/office/drawing/2014/main" id="{0EDC5F37-39F6-42D9-B6FC-96FFC03FBFD3}"/>
              </a:ext>
            </a:extLst>
          </p:cNvPr>
          <p:cNvSpPr>
            <a:spLocks xmlns:a="http://schemas.openxmlformats.org/drawingml/2006/main" noGrp="1"/>
          </p:cNvSpPr>
          <p:nvPr/>
        </p:nvSpPr>
        <p:spPr>
          <a:xfrm xmlns:a="http://schemas.openxmlformats.org/drawingml/2006/main">
            <a:off x="5810250" y="230505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75" b="0">
                <a:solidFill>
                  <a:srgbClr val="203040"/>
                </a:solidFill>
                <a:latin typeface="Arial"/>
                <a:ea typeface="Arial"/>
                <a:cs typeface="Arial"/>
              </a:defRPr>
            </a:defPPr>
          </a:lstStyle>
          <a:p xmlns:a="http://schemas.openxmlformats.org/drawingml/2006/main">
            <a:pPr algn="l">
              <a:defRPr sz="1575" b="0">
                <a:solidFill>
                  <a:srgbClr val="203040"/>
                </a:solidFill>
                <a:latin typeface="Arial"/>
                <a:ea typeface="Arial"/>
                <a:cs typeface="Arial"/>
              </a:defRPr>
            </a:pPr>
            <a:r>
              <a:rPr sz="1575" b="0">
                <a:solidFill>
                  <a:srgbClr val="203040"/>
                </a:solidFill>
                <a:latin typeface="Arial"/>
                <a:ea typeface="Arial"/>
                <a:cs typeface="Arial"/>
              </a:rPr>
              <a:t>• Lower total cost means cheaper execution</a:t>
            </a:r>
          </a:p>
        </p:txBody>
      </p:sp>
      <p:sp>
        <p:nvSpPr>
          <p:cNvPr id="17" name="">
            <a:extLst xmlns:a="http://schemas.openxmlformats.org/drawingml/2006/main">
              <a:ext uri="{FF2B5EF4-FFF2-40B4-BE49-F238E27FC236}">
                <a16:creationId xmlns:a16="http://schemas.microsoft.com/office/drawing/2014/main" id="{F8E698B7-02C6-4051-A055-1BB098F8B564}"/>
              </a:ext>
            </a:extLst>
          </p:cNvPr>
          <p:cNvSpPr>
            <a:spLocks xmlns:a="http://schemas.openxmlformats.org/drawingml/2006/main" noGrp="1"/>
          </p:cNvSpPr>
          <p:nvPr/>
        </p:nvSpPr>
        <p:spPr>
          <a:xfrm xmlns:a="http://schemas.openxmlformats.org/drawingml/2006/main">
            <a:off x="5810250" y="272415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75" b="0">
                <a:solidFill>
                  <a:srgbClr val="203040"/>
                </a:solidFill>
                <a:latin typeface="Arial"/>
                <a:ea typeface="Arial"/>
                <a:cs typeface="Arial"/>
              </a:defRPr>
            </a:defPPr>
          </a:lstStyle>
          <a:p xmlns:a="http://schemas.openxmlformats.org/drawingml/2006/main">
            <a:pPr algn="l">
              <a:defRPr sz="1575" b="0">
                <a:solidFill>
                  <a:srgbClr val="203040"/>
                </a:solidFill>
                <a:latin typeface="Arial"/>
                <a:ea typeface="Arial"/>
                <a:cs typeface="Arial"/>
              </a:defRPr>
            </a:pPr>
            <a:r>
              <a:rPr sz="1575" b="0">
                <a:solidFill>
                  <a:srgbClr val="203040"/>
                </a:solidFill>
                <a:latin typeface="Arial"/>
                <a:ea typeface="Arial"/>
                <a:cs typeface="Arial"/>
              </a:rPr>
              <a:t>• Higher throughput means more completed tasks per time</a:t>
            </a:r>
          </a:p>
        </p:txBody>
      </p:sp>
      <p:sp>
        <p:nvSpPr>
          <p:cNvPr id="18" name="">
            <a:extLst xmlns:a="http://schemas.openxmlformats.org/drawingml/2006/main">
              <a:ext uri="{FF2B5EF4-FFF2-40B4-BE49-F238E27FC236}">
                <a16:creationId xmlns:a16="http://schemas.microsoft.com/office/drawing/2014/main" id="{1CAE21DE-F2AD-4835-B2A7-0401A243BF2F}"/>
              </a:ext>
            </a:extLst>
          </p:cNvPr>
          <p:cNvSpPr>
            <a:spLocks xmlns:a="http://schemas.openxmlformats.org/drawingml/2006/main" noGrp="1"/>
          </p:cNvSpPr>
          <p:nvPr/>
        </p:nvSpPr>
        <p:spPr>
          <a:xfrm xmlns:a="http://schemas.openxmlformats.org/drawingml/2006/main">
            <a:off x="5810250" y="314325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75" b="0">
                <a:solidFill>
                  <a:srgbClr val="203040"/>
                </a:solidFill>
                <a:latin typeface="Arial"/>
                <a:ea typeface="Arial"/>
                <a:cs typeface="Arial"/>
              </a:defRPr>
            </a:defPPr>
          </a:lstStyle>
          <a:p xmlns:a="http://schemas.openxmlformats.org/drawingml/2006/main">
            <a:pPr algn="l">
              <a:defRPr sz="1575" b="0">
                <a:solidFill>
                  <a:srgbClr val="203040"/>
                </a:solidFill>
                <a:latin typeface="Arial"/>
                <a:ea typeface="Arial"/>
                <a:cs typeface="Arial"/>
              </a:defRPr>
            </a:pPr>
            <a:r>
              <a:rPr sz="1575" b="0">
                <a:solidFill>
                  <a:srgbClr val="203040"/>
                </a:solidFill>
                <a:latin typeface="Arial"/>
                <a:ea typeface="Arial"/>
                <a:cs typeface="Arial"/>
              </a:rPr>
              <a:t>• Lower imbalance and deadline misses indicate better distribution</a:t>
            </a:r>
          </a:p>
        </p:txBody>
      </p:sp>
      <p:sp>
        <p:nvSpPr>
          <p:cNvPr id="19" name="">
            <a:extLst xmlns:a="http://schemas.openxmlformats.org/drawingml/2006/main">
              <a:ext uri="{FF2B5EF4-FFF2-40B4-BE49-F238E27FC236}">
                <a16:creationId xmlns:a16="http://schemas.microsoft.com/office/drawing/2014/main" id="{63666F87-8F88-4D67-8F25-DFBBB8AD26AB}"/>
              </a:ext>
            </a:extLst>
          </p:cNvPr>
          <p:cNvSpPr>
            <a:spLocks xmlns:a="http://schemas.openxmlformats.org/drawingml/2006/main" noGrp="1"/>
          </p:cNvSpPr>
          <p:nvPr/>
        </p:nvSpPr>
        <p:spPr>
          <a:xfrm xmlns:a="http://schemas.openxmlformats.org/drawingml/2006/main">
            <a:off x="5810250" y="3905250"/>
            <a:ext cx="5429250" cy="1333500"/>
          </a:xfrm>
          <a:prstGeom xmlns:a="http://schemas.openxmlformats.org/drawingml/2006/main" prst="rect">
            <a:avLst/>
          </a:prstGeom>
          <a:solidFill xmlns:a="http://schemas.openxmlformats.org/drawingml/2006/main">
            <a:srgbClr val="FFF5ED"/>
          </a:solidFill>
          <a:ln xmlns:a="http://schemas.openxmlformats.org/drawingml/2006/main" w="9525">
            <a:solidFill>
              <a:srgbClr val="F3C7A2"/>
            </a:solidFill>
          </a:ln>
        </p:spPr>
      </p:sp>
      <p:sp>
        <p:nvSpPr>
          <p:cNvPr id="20" name="">
            <a:extLst xmlns:a="http://schemas.openxmlformats.org/drawingml/2006/main">
              <a:ext uri="{FF2B5EF4-FFF2-40B4-BE49-F238E27FC236}">
                <a16:creationId xmlns:a16="http://schemas.microsoft.com/office/drawing/2014/main" id="{8FB79011-3180-45AB-A967-9061F7082B1F}"/>
              </a:ext>
            </a:extLst>
          </p:cNvPr>
          <p:cNvSpPr>
            <a:spLocks xmlns:a="http://schemas.openxmlformats.org/drawingml/2006/main" noGrp="1"/>
          </p:cNvSpPr>
          <p:nvPr/>
        </p:nvSpPr>
        <p:spPr>
          <a:xfrm xmlns:a="http://schemas.openxmlformats.org/drawingml/2006/main">
            <a:off x="6076950" y="4114800"/>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b="1">
                <a:solidFill>
                  <a:srgbClr val="12263A"/>
                </a:solidFill>
                <a:latin typeface="Arial"/>
                <a:ea typeface="Arial"/>
                <a:cs typeface="Arial"/>
              </a:defRPr>
            </a:defPPr>
          </a:lstStyle>
          <a:p xmlns:a="http://schemas.openxmlformats.org/drawingml/2006/main">
            <a:pPr algn="l">
              <a:defRPr sz="1425" b="1">
                <a:solidFill>
                  <a:srgbClr val="12263A"/>
                </a:solidFill>
                <a:latin typeface="Arial"/>
                <a:ea typeface="Arial"/>
                <a:cs typeface="Arial"/>
              </a:defRPr>
            </a:pPr>
            <a:r>
              <a:rPr sz="1425" b="1">
                <a:solidFill>
                  <a:srgbClr val="12263A"/>
                </a:solidFill>
                <a:latin typeface="Arial"/>
                <a:ea typeface="Arial"/>
                <a:cs typeface="Arial"/>
              </a:rPr>
              <a:t>Run after the dataset is ready</a:t>
            </a:r>
          </a:p>
        </p:txBody>
      </p:sp>
      <p:sp>
        <p:nvSpPr>
          <p:cNvPr id="21" name="">
            <a:extLst xmlns:a="http://schemas.openxmlformats.org/drawingml/2006/main">
              <a:ext uri="{FF2B5EF4-FFF2-40B4-BE49-F238E27FC236}">
                <a16:creationId xmlns:a16="http://schemas.microsoft.com/office/drawing/2014/main" id="{9D2C594D-3E32-416B-9D5E-B26B65521034}"/>
              </a:ext>
            </a:extLst>
          </p:cNvPr>
          <p:cNvSpPr>
            <a:spLocks xmlns:a="http://schemas.openxmlformats.org/drawingml/2006/main" noGrp="1"/>
          </p:cNvSpPr>
          <p:nvPr/>
        </p:nvSpPr>
        <p:spPr>
          <a:xfrm xmlns:a="http://schemas.openxmlformats.org/drawingml/2006/main">
            <a:off x="6076950" y="45339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ED7D31"/>
                </a:solidFill>
                <a:latin typeface="Arial"/>
                <a:ea typeface="Arial"/>
                <a:cs typeface="Arial"/>
              </a:defRPr>
            </a:defPPr>
          </a:lstStyle>
          <a:p xmlns:a="http://schemas.openxmlformats.org/drawingml/2006/main">
            <a:pPr algn="l">
              <a:defRPr sz="1725" b="1">
                <a:solidFill>
                  <a:srgbClr val="ED7D31"/>
                </a:solidFill>
                <a:latin typeface="Arial"/>
                <a:ea typeface="Arial"/>
                <a:cs typeface="Arial"/>
              </a:defRPr>
            </a:pPr>
            <a:r>
              <a:rPr sz="1725" b="1">
                <a:solidFill>
                  <a:srgbClr val="ED7D31"/>
                </a:solidFill>
                <a:latin typeface="Arial"/>
                <a:ea typeface="Arial"/>
                <a:cs typeface="Arial"/>
              </a:rPr>
              <a:t>./run.sh --algorithm SMA,AO</a:t>
            </a:r>
          </a:p>
        </p:txBody>
      </p:sp>
      <p:sp>
        <p:nvSpPr>
          <p:cNvPr id="22" name="">
            <a:extLst xmlns:a="http://schemas.openxmlformats.org/drawingml/2006/main">
              <a:ext uri="{FF2B5EF4-FFF2-40B4-BE49-F238E27FC236}">
                <a16:creationId xmlns:a16="http://schemas.microsoft.com/office/drawing/2014/main" id="{9437EA2D-CE11-4237-BF22-AB8D5DA6C833}"/>
              </a:ext>
            </a:extLst>
          </p:cNvPr>
          <p:cNvSpPr>
            <a:spLocks xmlns:a="http://schemas.openxmlformats.org/drawingml/2006/main" noGrp="1"/>
          </p:cNvSpPr>
          <p:nvPr/>
        </p:nvSpPr>
        <p:spPr>
          <a:xfrm xmlns:a="http://schemas.openxmlformats.org/drawingml/2006/main">
            <a:off x="6076950" y="4933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0">
                <a:solidFill>
                  <a:srgbClr val="5B6770"/>
                </a:solidFill>
                <a:latin typeface="Arial"/>
                <a:ea typeface="Arial"/>
                <a:cs typeface="Arial"/>
              </a:defRPr>
            </a:defPPr>
          </a:lstStyle>
          <a:p xmlns:a="http://schemas.openxmlformats.org/drawingml/2006/main">
            <a:pPr algn="l">
              <a:defRPr sz="1275" b="0">
                <a:solidFill>
                  <a:srgbClr val="5B6770"/>
                </a:solidFill>
                <a:latin typeface="Arial"/>
                <a:ea typeface="Arial"/>
                <a:cs typeface="Arial"/>
              </a:defRPr>
            </a:pPr>
            <a:r>
              <a:rPr sz="1275" b="0">
                <a:solidFill>
                  <a:srgbClr val="5B6770"/>
                </a:solidFill>
                <a:latin typeface="Arial"/>
                <a:ea typeface="Arial"/>
                <a:cs typeface="Arial"/>
              </a:rPr>
              <a:t>The runner validates duplicates before simulation.</a:t>
            </a:r>
          </a:p>
        </p:txBody>
      </p:sp>
      <p:sp>
        <p:nvSpPr>
          <p:cNvPr id="23" name="">
            <a:extLst xmlns:a="http://schemas.openxmlformats.org/drawingml/2006/main">
              <a:ext uri="{FF2B5EF4-FFF2-40B4-BE49-F238E27FC236}">
                <a16:creationId xmlns:a16="http://schemas.microsoft.com/office/drawing/2014/main" id="{B4E357CB-69AD-43FC-BE75-B48E85A4C587}"/>
              </a:ext>
            </a:extLst>
          </p:cNvPr>
          <p:cNvSpPr>
            <a:spLocks xmlns:a="http://schemas.openxmlformats.org/drawingml/2006/main" noGrp="1"/>
          </p:cNvSpPr>
          <p:nvPr/>
        </p:nvSpPr>
        <p:spPr>
          <a:xfrm xmlns:a="http://schemas.openxmlformats.org/drawingml/2006/main">
            <a:off x="609600" y="6534150"/>
            <a:ext cx="1095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825" b="0">
                <a:solidFill>
                  <a:srgbClr val="5B6770"/>
                </a:solidFill>
                <a:latin typeface="Arial"/>
                <a:ea typeface="Arial"/>
                <a:cs typeface="Arial"/>
              </a:defRPr>
            </a:defPPr>
          </a:lstStyle>
          <a:p xmlns:a="http://schemas.openxmlformats.org/drawingml/2006/main">
            <a:pPr algn="l">
              <a:defRPr sz="825" b="0">
                <a:solidFill>
                  <a:srgbClr val="5B6770"/>
                </a:solidFill>
                <a:latin typeface="Arial"/>
                <a:ea typeface="Arial"/>
                <a:cs typeface="Arial"/>
              </a:defRPr>
            </a:pPr>
            <a:r>
              <a:rPr sz="825" b="0">
                <a:solidFill>
                  <a:srgbClr val="5B6770"/>
                </a:solidFill>
                <a:latin typeface="Arial"/>
                <a:ea typeface="Arial"/>
                <a:cs typeface="Arial"/>
              </a:rPr>
              <a:t>SOKA metaheuristic scheduling  |  6</a:t>
            </a:r>
          </a:p>
        </p:txBody>
      </p:sp>
    </p:spTree>
    <p:extLst>
      <p:ext uri="{BB962C8B-B14F-4D97-AF65-F5344CB8AC3E}">
        <p14:creationId xmlns:p14="http://schemas.microsoft.com/office/powerpoint/2010/main" val="2115002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2026-10-06T09:43:56.4950000Z</dcterms:created>
  <dcterms:modified xsi:type="dcterms:W3CDTF">2026-10-06T09:43:56.4950000Z</dcterms:modified>
</coreProperties>
</file>