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83149e70184cf0" /><Relationship Type="http://schemas.openxmlformats.org/officeDocument/2006/relationships/extended-properties" Target="/docProps/app.xml" Id="Re4fa564b285a47c2" /><Relationship Type="http://schemas.openxmlformats.org/officeDocument/2006/relationships/officeDocument" Target="/ppt/presentation.xml" Id="Rb4b37d21256f4c70" /></Relationships>
</file>

<file path=ppt/presentation.xml><?xml version="1.0" encoding="utf-8"?>
<p:presentation xmlns:p="http://schemas.openxmlformats.org/presentationml/2006/main">
  <p:sldMasterIdLst>
    <p:sldMasterId xmlns:r="http://schemas.openxmlformats.org/officeDocument/2006/relationships" id="2147483648" r:id="R79004bb53318435f"/>
  </p:sldMasterIdLst>
  <p:notesMasterIdLst>
    <p:notesMasterId xmlns:r="http://schemas.openxmlformats.org/officeDocument/2006/relationships" r:id="Ra67e284a32f74173"/>
  </p:notesMasterIdLst>
  <p:sldIdLst>
    <p:sldId xmlns:r="http://schemas.openxmlformats.org/officeDocument/2006/relationships" id="256" r:id="R0cbc55694e6441db"/>
    <p:sldId xmlns:r="http://schemas.openxmlformats.org/officeDocument/2006/relationships" id="257" r:id="R58c5bd94cfef4770"/>
    <p:sldId xmlns:r="http://schemas.openxmlformats.org/officeDocument/2006/relationships" id="258" r:id="R65768f51cc56406e"/>
    <p:sldId xmlns:r="http://schemas.openxmlformats.org/officeDocument/2006/relationships" id="259" r:id="Rfff7e612a32a476e"/>
    <p:sldId xmlns:r="http://schemas.openxmlformats.org/officeDocument/2006/relationships" id="260" r:id="R87414dbf66a64c73"/>
    <p:sldId xmlns:r="http://schemas.openxmlformats.org/officeDocument/2006/relationships" id="261" r:id="R97ff2b813fb3493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9c2a56702a449c" /><Relationship Type="http://schemas.openxmlformats.org/officeDocument/2006/relationships/slideMaster" Target="/ppt/slideMasters/slideMaster1.xml" Id="R79004bb53318435f" /><Relationship Type="http://schemas.openxmlformats.org/officeDocument/2006/relationships/notesMaster" Target="/ppt/notesMasters/notesMaster1.xml" Id="Ra67e284a32f74173" /><Relationship Type="http://schemas.openxmlformats.org/officeDocument/2006/relationships/presProps" Target="/ppt/presProps.xml" Id="R54b8c2ea7e2449eb" /><Relationship Type="http://schemas.openxmlformats.org/officeDocument/2006/relationships/tableStyles" Target="/ppt/tableStyles.xml" Id="R512cf1e6897c4841" /><Relationship Type="http://schemas.openxmlformats.org/officeDocument/2006/relationships/slide" Target="/ppt/slides/slide1.xml" Id="R0cbc55694e6441db" /><Relationship Type="http://schemas.openxmlformats.org/officeDocument/2006/relationships/slide" Target="/ppt/slides/slide2.xml" Id="R58c5bd94cfef4770" /><Relationship Type="http://schemas.openxmlformats.org/officeDocument/2006/relationships/slide" Target="/ppt/slides/slide3.xml" Id="R65768f51cc56406e" /><Relationship Type="http://schemas.openxmlformats.org/officeDocument/2006/relationships/slide" Target="/ppt/slides/slide4.xml" Id="Rfff7e612a32a476e" /><Relationship Type="http://schemas.openxmlformats.org/officeDocument/2006/relationships/slide" Target="/ppt/slides/slide5.xml" Id="R87414dbf66a64c73" /><Relationship Type="http://schemas.openxmlformats.org/officeDocument/2006/relationships/slide" Target="/ppt/slides/slide6.xml" Id="R97ff2b813fb3493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83f934c39546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943c54672946f9" /><Relationship Type="http://schemas.openxmlformats.org/officeDocument/2006/relationships/notesMaster" Target="/ppt/notesMasters/notesMaster1.xml" Id="Re564fa70d5fb4a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7a7e9af3f64e59" /><Relationship Type="http://schemas.openxmlformats.org/officeDocument/2006/relationships/notesMaster" Target="/ppt/notesMasters/notesMaster1.xml" Id="Rc20bed035c814c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a7b10c7fac4b48" /><Relationship Type="http://schemas.openxmlformats.org/officeDocument/2006/relationships/notesMaster" Target="/ppt/notesMasters/notesMaster1.xml" Id="R9d9d7526d78848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a01f47be494007" /><Relationship Type="http://schemas.openxmlformats.org/officeDocument/2006/relationships/notesMaster" Target="/ppt/notesMasters/notesMaster1.xml" Id="R6dad9f04df8341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4ac367596a411e" /><Relationship Type="http://schemas.openxmlformats.org/officeDocument/2006/relationships/notesMaster" Target="/ppt/notesMasters/notesMaster1.xml" Id="R002715cab96141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0054f21ce547fb" /><Relationship Type="http://schemas.openxmlformats.org/officeDocument/2006/relationships/notesMaster" Target="/ppt/notesMasters/notesMaster1.xml" Id="R25005fb338794b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explains the implemented soka-metaheuristic project. Numerical result slides are intentionally omitted until the 165,000-row source dataset is available and the 60-run experiment completes.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accepts SMA, AO, or SMA,AO through run.sh. The server build passed. The public trace download did not yet produce the required 165,000 clean rows, so this deck does not invent performance numbers.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Java implementation defines VM hostId and datacenter fields, then uses StaticVmAllocationPolicy to map VM IDs 0-1 to Host 0, 2-3 to Host 1, 4-5 to Host 2, and 6-7 to Host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Java loop advances one global cursor after every chunk. The validator checks that each algorithm has 30 unique ranges and that every range remains within rows 1 through 165,000.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uses a population of eight candidates and twelve iterations. SMA and AO use different update rules but share the same repair function, objective, VM specifications, and CloudSim execution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was compiled successfully on the server. The numerical comparison remains pending because the server does not yet contain the required 165,000-row workload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e328d31aef4e3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18135949ad644f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2088a066de5478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8b05bc1ebca4bd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ee0aaa571da437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f9ea100401f4c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5E54A9-C365-433D-9B62-0C1220660D7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C080EEB-6AE5-41F0-8855-31ECE4F59D7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95CAEB0-8388-4ADB-BACB-4F36A1354BF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AA146F1-CCDD-4A96-8DD0-C1AE7B1ED7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685F03A-DC01-4981-ABE5-5892E941AAE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0FD6352-D219-4CB8-831C-D7D9512BF9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758DC0-62A3-4775-8027-CCCD2DDB39F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1DBA4C4-7EC7-4BB1-BB73-3C0359ABF3D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7C93A9-57F0-4B47-8CA1-866DC245A9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0D94A3-B6E3-4B64-97F4-2758351BC6A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d92cf47a5e4041" /><Relationship Type="http://schemas.openxmlformats.org/officeDocument/2006/relationships/slideLayout" Target="/ppt/slideLayouts/slideLayout1.xml" Id="R7a9f4377a00049e5" /><Relationship Type="http://schemas.openxmlformats.org/officeDocument/2006/relationships/slideLayout" Target="/ppt/slideLayouts/slideLayout2.xml" Id="R6ff6d1d0d53e4c4c" /><Relationship Type="http://schemas.openxmlformats.org/officeDocument/2006/relationships/slideLayout" Target="/ppt/slideLayouts/slideLayout3.xml" Id="R2f19c197dec54fa1" /><Relationship Type="http://schemas.openxmlformats.org/officeDocument/2006/relationships/slideLayout" Target="/ppt/slideLayouts/slideLayout4.xml" Id="R2bf4fcf6b6004985" /><Relationship Type="http://schemas.openxmlformats.org/officeDocument/2006/relationships/slideLayout" Target="/ppt/slideLayouts/slideLayout5.xml" Id="Rb50d1c2521f1403d" /><Relationship Type="http://schemas.openxmlformats.org/officeDocument/2006/relationships/slideLayout" Target="/ppt/slideLayouts/slideLayout6.xml" Id="R974d1a046c7d45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9f4377a00049e5"/>
    <p:sldLayoutId xmlns:r="http://schemas.openxmlformats.org/officeDocument/2006/relationships" id="2147483650" r:id="R6ff6d1d0d53e4c4c"/>
    <p:sldLayoutId xmlns:r="http://schemas.openxmlformats.org/officeDocument/2006/relationships" id="2147483651" r:id="R2f19c197dec54fa1"/>
    <p:sldLayoutId xmlns:r="http://schemas.openxmlformats.org/officeDocument/2006/relationships" id="2147483652" r:id="R2bf4fcf6b6004985"/>
    <p:sldLayoutId xmlns:r="http://schemas.openxmlformats.org/officeDocument/2006/relationships" id="2147483653" r:id="Rb50d1c2521f1403d"/>
    <p:sldLayoutId xmlns:r="http://schemas.openxmlformats.org/officeDocument/2006/relationships" id="2147483654" r:id="R974d1a046c7d45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f6585bc98204d01" /><Relationship Type="http://schemas.openxmlformats.org/officeDocument/2006/relationships/notesSlide" Target="/ppt/notesSlides/notesSlide1.xml" Id="R68b53598baa0444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80712e36e9a49b2" /><Relationship Type="http://schemas.openxmlformats.org/officeDocument/2006/relationships/notesSlide" Target="/ppt/notesSlides/notesSlide2.xml" Id="R3b96acc7b12749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fefbef52c8d4ea7" /><Relationship Type="http://schemas.openxmlformats.org/officeDocument/2006/relationships/notesSlide" Target="/ppt/notesSlides/notesSlide3.xml" Id="Rdf24c7b130ff4e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06a074c9e80457a" /><Relationship Type="http://schemas.openxmlformats.org/officeDocument/2006/relationships/notesSlide" Target="/ppt/notesSlides/notesSlide4.xml" Id="R28d2d3d07d3245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89d5427c13b4e49" /><Relationship Type="http://schemas.openxmlformats.org/officeDocument/2006/relationships/notesSlide" Target="/ppt/notesSlides/notesSlide5.xml" Id="Ra16a2b2dda2942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7f5a4f96d694b34" /><Relationship Type="http://schemas.openxmlformats.org/officeDocument/2006/relationships/notesSlide" Target="/ppt/notesSlides/notesSlide6.xml" Id="R7c9a71e6619b4685" /></Relationships>
</file>

<file path=ppt/slides/slide1.xml><?xml version="1.0" encoding="utf-8"?>
<p:sld xmlns:p="http://schemas.openxmlformats.org/presentationml/2006/main">
  <p:cSld>
    <p:bg>
      <p:bgPr>
        <a:solidFill xmlns:a="http://schemas.openxmlformats.org/drawingml/2006/main">
          <a:srgbClr val="12263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BD7ED5-CCF0-4287-8E7A-4726BF978AA1}"/>
              </a:ext>
            </a:extLst>
          </p:cNvPr>
          <p:cNvSpPr>
            <a:spLocks xmlns:a="http://schemas.openxmlformats.org/drawingml/2006/main" noGrp="1"/>
          </p:cNvSpPr>
          <p:nvPr/>
        </p:nvSpPr>
        <p:spPr>
          <a:xfrm xmlns:a="http://schemas.openxmlformats.org/drawingml/2006/main">
            <a:off x="609600" y="838200"/>
            <a:ext cx="114300" cy="4000500"/>
          </a:xfrm>
          <a:prstGeom xmlns:a="http://schemas.openxmlformats.org/drawingml/2006/main" prst="rect">
            <a:avLst/>
          </a:prstGeom>
          <a:solidFill xmlns:a="http://schemas.openxmlformats.org/drawingml/2006/main">
            <a:srgbClr val="ED7D3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F7F6C8-C70F-4DA4-91DB-B56C76A861EE}"/>
              </a:ext>
            </a:extLst>
          </p:cNvPr>
          <p:cNvSpPr>
            <a:spLocks xmlns:a="http://schemas.openxmlformats.org/drawingml/2006/main" noGrp="1"/>
          </p:cNvSpPr>
          <p:nvPr/>
        </p:nvSpPr>
        <p:spPr>
          <a:xfrm xmlns:a="http://schemas.openxmlformats.org/drawingml/2006/main">
            <a:off x="1047750" y="1000125"/>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1">
                <a:solidFill>
                  <a:srgbClr val="B9D9F2"/>
                </a:solidFill>
                <a:latin typeface="Arial"/>
                <a:ea typeface="Arial"/>
                <a:cs typeface="Arial"/>
              </a:defRPr>
            </a:defPPr>
          </a:lstStyle>
          <a:p xmlns:a="http://schemas.openxmlformats.org/drawingml/2006/main">
            <a:pPr algn="l">
              <a:defRPr sz="1200" b="1">
                <a:solidFill>
                  <a:srgbClr val="B9D9F2"/>
                </a:solidFill>
                <a:latin typeface="Arial"/>
                <a:ea typeface="Arial"/>
                <a:cs typeface="Arial"/>
              </a:defRPr>
            </a:pPr>
            <a:r>
              <a:rPr sz="1200" b="1">
                <a:solidFill>
                  <a:srgbClr val="B9D9F2"/>
                </a:solidFill>
                <a:latin typeface="Arial"/>
                <a:ea typeface="Arial"/>
                <a:cs typeface="Arial"/>
              </a:rPr>
              <a:t>SOKA METAHEURISTIC SCHEDULING</a:t>
            </a:r>
          </a:p>
        </p:txBody>
      </p:sp>
      <p:sp>
        <p:nvSpPr>
          <p:cNvPr id="3" name="">
            <a:extLst xmlns:a="http://schemas.openxmlformats.org/drawingml/2006/main">
              <a:ext uri="{FF2B5EF4-FFF2-40B4-BE49-F238E27FC236}">
                <a16:creationId xmlns:a16="http://schemas.microsoft.com/office/drawing/2014/main" id="{0C7C8BDA-9204-4F88-88EA-307CDD663D88}"/>
              </a:ext>
            </a:extLst>
          </p:cNvPr>
          <p:cNvSpPr>
            <a:spLocks xmlns:a="http://schemas.openxmlformats.org/drawingml/2006/main" noGrp="1"/>
          </p:cNvSpPr>
          <p:nvPr/>
        </p:nvSpPr>
        <p:spPr>
          <a:xfrm xmlns:a="http://schemas.openxmlformats.org/drawingml/2006/main">
            <a:off x="1047750" y="1619250"/>
            <a:ext cx="9525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600" b="1">
                <a:solidFill>
                  <a:srgbClr val="FFFFFF"/>
                </a:solidFill>
                <a:latin typeface="Arial"/>
                <a:ea typeface="Arial"/>
                <a:cs typeface="Arial"/>
              </a:defRPr>
            </a:defPPr>
          </a:lstStyle>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SMA and Aquila Optimizer</a:t>
            </a:r>
          </a:p>
        </p:txBody>
      </p:sp>
      <p:sp>
        <p:nvSpPr>
          <p:cNvPr id="4" name="">
            <a:extLst xmlns:a="http://schemas.openxmlformats.org/drawingml/2006/main">
              <a:ext uri="{FF2B5EF4-FFF2-40B4-BE49-F238E27FC236}">
                <a16:creationId xmlns:a16="http://schemas.microsoft.com/office/drawing/2014/main" id="{2583303E-3F33-4141-A425-84BF7108A194}"/>
              </a:ext>
            </a:extLst>
          </p:cNvPr>
          <p:cNvSpPr>
            <a:spLocks xmlns:a="http://schemas.openxmlformats.org/drawingml/2006/main" noGrp="1"/>
          </p:cNvSpPr>
          <p:nvPr/>
        </p:nvSpPr>
        <p:spPr>
          <a:xfrm xmlns:a="http://schemas.openxmlformats.org/drawingml/2006/main">
            <a:off x="1047750" y="2952750"/>
            <a:ext cx="819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75" b="0">
                <a:solidFill>
                  <a:srgbClr val="D7E6F2"/>
                </a:solidFill>
                <a:latin typeface="Arial"/>
                <a:ea typeface="Arial"/>
                <a:cs typeface="Arial"/>
              </a:defRPr>
            </a:defPPr>
          </a:lstStyle>
          <a:p xmlns:a="http://schemas.openxmlformats.org/drawingml/2006/main">
            <a:pPr algn="l">
              <a:defRPr sz="1875" b="0">
                <a:solidFill>
                  <a:srgbClr val="D7E6F2"/>
                </a:solidFill>
                <a:latin typeface="Arial"/>
                <a:ea typeface="Arial"/>
                <a:cs typeface="Arial"/>
              </a:defRPr>
            </a:pPr>
            <a:r>
              <a:rPr sz="1875" b="0">
                <a:solidFill>
                  <a:srgbClr val="D7E6F2"/>
                </a:solidFill>
                <a:latin typeface="Arial"/>
                <a:ea typeface="Arial"/>
                <a:cs typeface="Arial"/>
              </a:rPr>
              <a:t>A static CloudSim topology with complete workload-size comparisons from 1,000 to 10,000 cloudlets</a:t>
            </a:r>
          </a:p>
        </p:txBody>
      </p:sp>
      <p:sp>
        <p:nvSpPr>
          <p:cNvPr id="5" name="">
            <a:extLst xmlns:a="http://schemas.openxmlformats.org/drawingml/2006/main">
              <a:ext uri="{FF2B5EF4-FFF2-40B4-BE49-F238E27FC236}">
                <a16:creationId xmlns:a16="http://schemas.microsoft.com/office/drawing/2014/main" id="{5E194CD9-8816-4FB6-A784-E0CA2B65F3ED}"/>
              </a:ext>
            </a:extLst>
          </p:cNvPr>
          <p:cNvSpPr>
            <a:spLocks xmlns:a="http://schemas.openxmlformats.org/drawingml/2006/main" noGrp="1"/>
          </p:cNvSpPr>
          <p:nvPr/>
        </p:nvSpPr>
        <p:spPr>
          <a:xfrm xmlns:a="http://schemas.openxmlformats.org/drawingml/2006/main">
            <a:off x="1047750" y="48958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350" b="1">
                <a:solidFill>
                  <a:srgbClr val="ED7D31"/>
                </a:solidFill>
                <a:latin typeface="Arial"/>
                <a:ea typeface="Arial"/>
                <a:cs typeface="Arial"/>
              </a:defRPr>
            </a:defPPr>
          </a:lstStyle>
          <a:p xmlns:a="http://schemas.openxmlformats.org/drawingml/2006/main">
            <a:pPr algn="l">
              <a:defRPr sz="1350" b="1">
                <a:solidFill>
                  <a:srgbClr val="ED7D31"/>
                </a:solidFill>
                <a:latin typeface="Arial"/>
                <a:ea typeface="Arial"/>
                <a:cs typeface="Arial"/>
              </a:defRPr>
            </a:pPr>
            <a:r>
              <a:rPr sz="1350" b="1">
                <a:solidFill>
                  <a:srgbClr val="ED7D31"/>
                </a:solidFill>
                <a:latin typeface="Arial"/>
                <a:ea typeface="Arial"/>
                <a:cs typeface="Arial"/>
              </a:rPr>
              <a:t>Implementation and experiment design</a:t>
            </a:r>
          </a:p>
        </p:txBody>
      </p:sp>
      <p:sp>
        <p:nvSpPr>
          <p:cNvPr id="6" name="">
            <a:extLst xmlns:a="http://schemas.openxmlformats.org/drawingml/2006/main">
              <a:ext uri="{FF2B5EF4-FFF2-40B4-BE49-F238E27FC236}">
                <a16:creationId xmlns:a16="http://schemas.microsoft.com/office/drawing/2014/main" id="{EE07B353-D0E0-4747-9DD0-C2349076BA1B}"/>
              </a:ext>
            </a:extLst>
          </p:cNvPr>
          <p:cNvSpPr>
            <a:spLocks xmlns:a="http://schemas.openxmlformats.org/drawingml/2006/main" noGrp="1"/>
          </p:cNvSpPr>
          <p:nvPr/>
        </p:nvSpPr>
        <p:spPr>
          <a:xfrm xmlns:a="http://schemas.openxmlformats.org/drawingml/2006/main">
            <a:off x="1047750" y="5248275"/>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B9D9F2"/>
                </a:solidFill>
                <a:latin typeface="Arial"/>
                <a:ea typeface="Arial"/>
                <a:cs typeface="Arial"/>
              </a:defRPr>
            </a:defPPr>
          </a:lstStyle>
          <a:p xmlns:a="http://schemas.openxmlformats.org/drawingml/2006/main">
            <a:pPr algn="l">
              <a:defRPr sz="1200" b="0">
                <a:solidFill>
                  <a:srgbClr val="B9D9F2"/>
                </a:solidFill>
                <a:latin typeface="Arial"/>
                <a:ea typeface="Arial"/>
                <a:cs typeface="Arial"/>
              </a:defRPr>
            </a:pPr>
            <a:r>
              <a:rPr sz="1200" b="0">
                <a:solidFill>
                  <a:srgbClr val="B9D9F2"/>
                </a:solidFill>
                <a:latin typeface="Arial"/>
                <a:ea typeface="Arial"/>
                <a:cs typeface="Arial"/>
              </a:rPr>
              <a:t>Prepared from the verified project configuration</a:t>
            </a:r>
          </a:p>
        </p:txBody>
      </p:sp>
    </p:spTree>
    <p:extLst>
      <p:ext uri="{BB962C8B-B14F-4D97-AF65-F5344CB8AC3E}">
        <p14:creationId xmlns:p14="http://schemas.microsoft.com/office/powerpoint/2010/main" val="9295398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8B7CA54-1EA6-47AA-96FA-CBD9132FF105}"/>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050" b="1">
                <a:solidFill>
                  <a:srgbClr val="2F75B5"/>
                </a:solidFill>
                <a:latin typeface="Arial"/>
                <a:ea typeface="Arial"/>
                <a:cs typeface="Arial"/>
              </a:defRPr>
            </a:defPPr>
          </a:lstStyle>
          <a:p xmlns:a="http://schemas.openxmlformats.org/drawingml/2006/main">
            <a:pPr algn="l">
              <a:defRPr sz="1050" b="1">
                <a:solidFill>
                  <a:srgbClr val="2F75B5"/>
                </a:solidFill>
                <a:latin typeface="Arial"/>
                <a:ea typeface="Arial"/>
                <a:cs typeface="Arial"/>
              </a:defRPr>
            </a:pPr>
            <a:r>
              <a:rPr sz="1050" b="1">
                <a:solidFill>
                  <a:srgbClr val="2F75B5"/>
                </a:solidFill>
                <a:latin typeface="Arial"/>
                <a:ea typeface="Arial"/>
                <a:cs typeface="Arial"/>
              </a:rPr>
              <a:t>WHAT THE NEW PROJECT TESTS</a:t>
            </a:r>
          </a:p>
        </p:txBody>
      </p:sp>
      <p:sp>
        <p:nvSpPr>
          <p:cNvPr id="2" name="">
            <a:extLst xmlns:a="http://schemas.openxmlformats.org/drawingml/2006/main">
              <a:ext uri="{FF2B5EF4-FFF2-40B4-BE49-F238E27FC236}">
                <a16:creationId xmlns:a16="http://schemas.microsoft.com/office/drawing/2014/main" id="{B2C55514-ABFB-4D9B-8653-35DC5B1E3066}"/>
              </a:ext>
            </a:extLst>
          </p:cNvPr>
          <p:cNvSpPr>
            <a:spLocks xmlns:a="http://schemas.openxmlformats.org/drawingml/2006/main" noGrp="1"/>
          </p:cNvSpPr>
          <p:nvPr/>
        </p:nvSpPr>
        <p:spPr>
          <a:xfrm xmlns:a="http://schemas.openxmlformats.org/drawingml/2006/main">
            <a:off x="609600" y="61912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2263A"/>
                </a:solidFill>
                <a:latin typeface="Arial"/>
                <a:ea typeface="Arial"/>
                <a:cs typeface="Arial"/>
              </a:defRPr>
            </a:defPPr>
          </a:lstStyle>
          <a:p xmlns:a="http://schemas.openxmlformats.org/drawingml/2006/main">
            <a:pPr algn="l">
              <a:defRPr sz="2550" b="1">
                <a:solidFill>
                  <a:srgbClr val="12263A"/>
                </a:solidFill>
                <a:latin typeface="Arial"/>
                <a:ea typeface="Arial"/>
                <a:cs typeface="Arial"/>
              </a:defRPr>
            </a:pPr>
            <a:r>
              <a:rPr sz="2550" b="1">
                <a:solidFill>
                  <a:srgbClr val="12263A"/>
                </a:solidFill>
                <a:latin typeface="Arial"/>
                <a:ea typeface="Arial"/>
                <a:cs typeface="Arial"/>
              </a:rPr>
              <a:t>Experiment scope</a:t>
            </a:r>
          </a:p>
        </p:txBody>
      </p:sp>
      <p:sp>
        <p:nvSpPr>
          <p:cNvPr id="3" name="">
            <a:extLst xmlns:a="http://schemas.openxmlformats.org/drawingml/2006/main">
              <a:ext uri="{FF2B5EF4-FFF2-40B4-BE49-F238E27FC236}">
                <a16:creationId xmlns:a16="http://schemas.microsoft.com/office/drawing/2014/main" id="{8E231AFE-F18E-4625-9F70-9E75E5CEDE24}"/>
              </a:ext>
            </a:extLst>
          </p:cNvPr>
          <p:cNvSpPr>
            <a:spLocks xmlns:a="http://schemas.openxmlformats.org/drawingml/2006/main" noGrp="1"/>
          </p:cNvSpPr>
          <p:nvPr/>
        </p:nvSpPr>
        <p:spPr>
          <a:xfrm xmlns:a="http://schemas.openxmlformats.org/drawingml/2006/main">
            <a:off x="609600" y="13144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203040"/>
                </a:solidFill>
                <a:latin typeface="Arial"/>
                <a:ea typeface="Arial"/>
                <a:cs typeface="Arial"/>
              </a:defRPr>
            </a:defPPr>
          </a:lstStyle>
          <a:p xmlns:a="http://schemas.openxmlformats.org/drawingml/2006/main">
            <a:pPr algn="l">
              <a:defRPr sz="1800" b="1">
                <a:solidFill>
                  <a:srgbClr val="203040"/>
                </a:solidFill>
                <a:latin typeface="Arial"/>
                <a:ea typeface="Arial"/>
                <a:cs typeface="Arial"/>
              </a:defRPr>
            </a:pPr>
            <a:r>
              <a:rPr sz="1800" b="1">
                <a:solidFill>
                  <a:srgbClr val="203040"/>
                </a:solidFill>
                <a:latin typeface="Arial"/>
                <a:ea typeface="Arial"/>
                <a:cs typeface="Arial"/>
              </a:rPr>
              <a:t>Two optimizers solve the same scheduling problem under the same infrastructure and cost model.</a:t>
            </a:r>
          </a:p>
        </p:txBody>
      </p:sp>
      <p:sp>
        <p:nvSpPr>
          <p:cNvPr id="4" name="">
            <a:extLst xmlns:a="http://schemas.openxmlformats.org/drawingml/2006/main">
              <a:ext uri="{FF2B5EF4-FFF2-40B4-BE49-F238E27FC236}">
                <a16:creationId xmlns:a16="http://schemas.microsoft.com/office/drawing/2014/main" id="{20125360-9C5B-4CF2-A160-EFAD88052B03}"/>
              </a:ext>
            </a:extLst>
          </p:cNvPr>
          <p:cNvSpPr>
            <a:spLocks xmlns:a="http://schemas.openxmlformats.org/drawingml/2006/main" noGrp="1"/>
          </p:cNvSpPr>
          <p:nvPr/>
        </p:nvSpPr>
        <p:spPr>
          <a:xfrm xmlns:a="http://schemas.openxmlformats.org/drawingml/2006/main">
            <a:off x="609600" y="2076450"/>
            <a:ext cx="4953000" cy="2952750"/>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5" name="">
            <a:extLst xmlns:a="http://schemas.openxmlformats.org/drawingml/2006/main">
              <a:ext uri="{FF2B5EF4-FFF2-40B4-BE49-F238E27FC236}">
                <a16:creationId xmlns:a16="http://schemas.microsoft.com/office/drawing/2014/main" id="{D11656CF-1DD4-497D-A261-DA1A58C30D12}"/>
              </a:ext>
            </a:extLst>
          </p:cNvPr>
          <p:cNvSpPr>
            <a:spLocks xmlns:a="http://schemas.openxmlformats.org/drawingml/2006/main" noGrp="1"/>
          </p:cNvSpPr>
          <p:nvPr/>
        </p:nvSpPr>
        <p:spPr>
          <a:xfrm xmlns:a="http://schemas.openxmlformats.org/drawingml/2006/main">
            <a:off x="5943600" y="2076450"/>
            <a:ext cx="5638800" cy="2952750"/>
          </a:xfrm>
          <a:prstGeom xmlns:a="http://schemas.openxmlformats.org/drawingml/2006/main" prst="rect">
            <a:avLst/>
          </a:prstGeom>
          <a:solidFill xmlns:a="http://schemas.openxmlformats.org/drawingml/2006/main">
            <a:srgbClr val="FFF5ED"/>
          </a:solidFill>
          <a:ln xmlns:a="http://schemas.openxmlformats.org/drawingml/2006/main" w="9525">
            <a:solidFill>
              <a:srgbClr val="F3C7A2"/>
            </a:solidFill>
          </a:ln>
        </p:spPr>
      </p:sp>
      <p:sp>
        <p:nvSpPr>
          <p:cNvPr id="6" name="">
            <a:extLst xmlns:a="http://schemas.openxmlformats.org/drawingml/2006/main">
              <a:ext uri="{FF2B5EF4-FFF2-40B4-BE49-F238E27FC236}">
                <a16:creationId xmlns:a16="http://schemas.microsoft.com/office/drawing/2014/main" id="{D9537226-F209-40DA-BD7E-994A474510F5}"/>
              </a:ext>
            </a:extLst>
          </p:cNvPr>
          <p:cNvSpPr>
            <a:spLocks xmlns:a="http://schemas.openxmlformats.org/drawingml/2006/main" noGrp="1"/>
          </p:cNvSpPr>
          <p:nvPr/>
        </p:nvSpPr>
        <p:spPr>
          <a:xfrm xmlns:a="http://schemas.openxmlformats.org/drawingml/2006/main">
            <a:off x="895350" y="2381250"/>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1">
                <a:solidFill>
                  <a:srgbClr val="2F75B5"/>
                </a:solidFill>
                <a:latin typeface="Arial"/>
                <a:ea typeface="Arial"/>
                <a:cs typeface="Arial"/>
              </a:defRPr>
            </a:defPPr>
          </a:lstStyle>
          <a:p xmlns:a="http://schemas.openxmlformats.org/drawingml/2006/main">
            <a:pPr algn="l">
              <a:defRPr sz="1650" b="1">
                <a:solidFill>
                  <a:srgbClr val="2F75B5"/>
                </a:solidFill>
                <a:latin typeface="Arial"/>
                <a:ea typeface="Arial"/>
                <a:cs typeface="Arial"/>
              </a:defRPr>
            </a:pPr>
            <a:r>
              <a:rPr sz="1650" b="1">
                <a:solidFill>
                  <a:srgbClr val="2F75B5"/>
                </a:solidFill>
                <a:latin typeface="Arial"/>
                <a:ea typeface="Arial"/>
                <a:cs typeface="Arial"/>
              </a:rPr>
              <a:t>Algorithms</a:t>
            </a:r>
          </a:p>
        </p:txBody>
      </p:sp>
      <p:sp>
        <p:nvSpPr>
          <p:cNvPr id="7" name="">
            <a:extLst xmlns:a="http://schemas.openxmlformats.org/drawingml/2006/main">
              <a:ext uri="{FF2B5EF4-FFF2-40B4-BE49-F238E27FC236}">
                <a16:creationId xmlns:a16="http://schemas.microsoft.com/office/drawing/2014/main" id="{C3520745-20CC-4756-8A6D-5370C3816101}"/>
              </a:ext>
            </a:extLst>
          </p:cNvPr>
          <p:cNvSpPr>
            <a:spLocks xmlns:a="http://schemas.openxmlformats.org/drawingml/2006/main" noGrp="1"/>
          </p:cNvSpPr>
          <p:nvPr/>
        </p:nvSpPr>
        <p:spPr>
          <a:xfrm xmlns:a="http://schemas.openxmlformats.org/drawingml/2006/main">
            <a:off x="895350" y="285750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203040"/>
                </a:solidFill>
                <a:latin typeface="Arial"/>
                <a:ea typeface="Arial"/>
                <a:cs typeface="Arial"/>
              </a:defRPr>
            </a:defPPr>
          </a:lstStyle>
          <a:p xmlns:a="http://schemas.openxmlformats.org/drawingml/2006/main">
            <a:pPr algn="l">
              <a:defRPr sz="1650" b="0">
                <a:solidFill>
                  <a:srgbClr val="203040"/>
                </a:solidFill>
                <a:latin typeface="Arial"/>
                <a:ea typeface="Arial"/>
                <a:cs typeface="Arial"/>
              </a:defRPr>
            </a:pPr>
            <a:r>
              <a:rPr sz="1650" b="0">
                <a:solidFill>
                  <a:srgbClr val="203040"/>
                </a:solidFill>
                <a:latin typeface="Arial"/>
                <a:ea typeface="Arial"/>
                <a:cs typeface="Arial"/>
              </a:rPr>
              <a:t>• Slime Mould Algorithm (SMA)</a:t>
            </a:r>
          </a:p>
        </p:txBody>
      </p:sp>
      <p:sp>
        <p:nvSpPr>
          <p:cNvPr id="8" name="">
            <a:extLst xmlns:a="http://schemas.openxmlformats.org/drawingml/2006/main">
              <a:ext uri="{FF2B5EF4-FFF2-40B4-BE49-F238E27FC236}">
                <a16:creationId xmlns:a16="http://schemas.microsoft.com/office/drawing/2014/main" id="{96AFF2D8-3CC5-45D3-81DE-DC7FAD3F68A0}"/>
              </a:ext>
            </a:extLst>
          </p:cNvPr>
          <p:cNvSpPr>
            <a:spLocks xmlns:a="http://schemas.openxmlformats.org/drawingml/2006/main" noGrp="1"/>
          </p:cNvSpPr>
          <p:nvPr/>
        </p:nvSpPr>
        <p:spPr>
          <a:xfrm xmlns:a="http://schemas.openxmlformats.org/drawingml/2006/main">
            <a:off x="895350" y="325755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203040"/>
                </a:solidFill>
                <a:latin typeface="Arial"/>
                <a:ea typeface="Arial"/>
                <a:cs typeface="Arial"/>
              </a:defRPr>
            </a:defPPr>
          </a:lstStyle>
          <a:p xmlns:a="http://schemas.openxmlformats.org/drawingml/2006/main">
            <a:pPr algn="l">
              <a:defRPr sz="1650" b="0">
                <a:solidFill>
                  <a:srgbClr val="203040"/>
                </a:solidFill>
                <a:latin typeface="Arial"/>
                <a:ea typeface="Arial"/>
                <a:cs typeface="Arial"/>
              </a:defRPr>
            </a:pPr>
            <a:r>
              <a:rPr sz="1650" b="0">
                <a:solidFill>
                  <a:srgbClr val="203040"/>
                </a:solidFill>
                <a:latin typeface="Arial"/>
                <a:ea typeface="Arial"/>
                <a:cs typeface="Arial"/>
              </a:rPr>
              <a:t>• Aquila Optimizer (AO)</a:t>
            </a:r>
          </a:p>
        </p:txBody>
      </p:sp>
      <p:sp>
        <p:nvSpPr>
          <p:cNvPr id="9" name="">
            <a:extLst xmlns:a="http://schemas.openxmlformats.org/drawingml/2006/main">
              <a:ext uri="{FF2B5EF4-FFF2-40B4-BE49-F238E27FC236}">
                <a16:creationId xmlns:a16="http://schemas.microsoft.com/office/drawing/2014/main" id="{0AFEFA4D-71B4-46F0-BE7C-3F9F67DE6C7A}"/>
              </a:ext>
            </a:extLst>
          </p:cNvPr>
          <p:cNvSpPr>
            <a:spLocks xmlns:a="http://schemas.openxmlformats.org/drawingml/2006/main" noGrp="1"/>
          </p:cNvSpPr>
          <p:nvPr/>
        </p:nvSpPr>
        <p:spPr>
          <a:xfrm xmlns:a="http://schemas.openxmlformats.org/drawingml/2006/main">
            <a:off x="895350" y="365760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203040"/>
                </a:solidFill>
                <a:latin typeface="Arial"/>
                <a:ea typeface="Arial"/>
                <a:cs typeface="Arial"/>
              </a:defRPr>
            </a:defPPr>
          </a:lstStyle>
          <a:p xmlns:a="http://schemas.openxmlformats.org/drawingml/2006/main">
            <a:pPr algn="l">
              <a:defRPr sz="1650" b="0">
                <a:solidFill>
                  <a:srgbClr val="203040"/>
                </a:solidFill>
                <a:latin typeface="Arial"/>
                <a:ea typeface="Arial"/>
                <a:cs typeface="Arial"/>
              </a:defRPr>
            </a:pPr>
            <a:r>
              <a:rPr sz="1650" b="0">
                <a:solidFill>
                  <a:srgbClr val="203040"/>
                </a:solidFill>
                <a:latin typeface="Arial"/>
                <a:ea typeface="Arial"/>
                <a:cs typeface="Arial"/>
              </a:rPr>
              <a:t>• Same 60:40 time-to-cost objective</a:t>
            </a:r>
          </a:p>
        </p:txBody>
      </p:sp>
      <p:sp>
        <p:nvSpPr>
          <p:cNvPr id="10" name="">
            <a:extLst xmlns:a="http://schemas.openxmlformats.org/drawingml/2006/main">
              <a:ext uri="{FF2B5EF4-FFF2-40B4-BE49-F238E27FC236}">
                <a16:creationId xmlns:a16="http://schemas.microsoft.com/office/drawing/2014/main" id="{2BC0B74D-64A5-46C9-8190-43CE6DD118B6}"/>
              </a:ext>
            </a:extLst>
          </p:cNvPr>
          <p:cNvSpPr>
            <a:spLocks xmlns:a="http://schemas.openxmlformats.org/drawingml/2006/main" noGrp="1"/>
          </p:cNvSpPr>
          <p:nvPr/>
        </p:nvSpPr>
        <p:spPr>
          <a:xfrm xmlns:a="http://schemas.openxmlformats.org/drawingml/2006/main">
            <a:off x="6229350" y="2381250"/>
            <a:ext cx="476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1">
                <a:solidFill>
                  <a:srgbClr val="ED7D31"/>
                </a:solidFill>
                <a:latin typeface="Arial"/>
                <a:ea typeface="Arial"/>
                <a:cs typeface="Arial"/>
              </a:defRPr>
            </a:defPPr>
          </a:lstStyle>
          <a:p xmlns:a="http://schemas.openxmlformats.org/drawingml/2006/main">
            <a:pPr algn="l">
              <a:defRPr sz="1650" b="1">
                <a:solidFill>
                  <a:srgbClr val="ED7D31"/>
                </a:solidFill>
                <a:latin typeface="Arial"/>
                <a:ea typeface="Arial"/>
                <a:cs typeface="Arial"/>
              </a:defRPr>
            </a:pPr>
            <a:r>
              <a:rPr sz="1650" b="1">
                <a:solidFill>
                  <a:srgbClr val="ED7D31"/>
                </a:solidFill>
                <a:latin typeface="Arial"/>
                <a:ea typeface="Arial"/>
                <a:cs typeface="Arial"/>
              </a:rPr>
              <a:t>Experiment status</a:t>
            </a:r>
          </a:p>
        </p:txBody>
      </p:sp>
      <p:sp>
        <p:nvSpPr>
          <p:cNvPr id="11" name="">
            <a:extLst xmlns:a="http://schemas.openxmlformats.org/drawingml/2006/main">
              <a:ext uri="{FF2B5EF4-FFF2-40B4-BE49-F238E27FC236}">
                <a16:creationId xmlns:a16="http://schemas.microsoft.com/office/drawing/2014/main" id="{F91B0B57-7F6D-490A-8385-964C548D74B2}"/>
              </a:ext>
            </a:extLst>
          </p:cNvPr>
          <p:cNvSpPr>
            <a:spLocks xmlns:a="http://schemas.openxmlformats.org/drawingml/2006/main" noGrp="1"/>
          </p:cNvSpPr>
          <p:nvPr/>
        </p:nvSpPr>
        <p:spPr>
          <a:xfrm xmlns:a="http://schemas.openxmlformats.org/drawingml/2006/main">
            <a:off x="6229350" y="28575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203040"/>
                </a:solidFill>
                <a:latin typeface="Arial"/>
                <a:ea typeface="Arial"/>
                <a:cs typeface="Arial"/>
              </a:defRPr>
            </a:defPPr>
          </a:lstStyle>
          <a:p xmlns:a="http://schemas.openxmlformats.org/drawingml/2006/main">
            <a:pPr algn="l">
              <a:defRPr sz="1650" b="0">
                <a:solidFill>
                  <a:srgbClr val="203040"/>
                </a:solidFill>
                <a:latin typeface="Arial"/>
                <a:ea typeface="Arial"/>
                <a:cs typeface="Arial"/>
              </a:defRPr>
            </a:pPr>
            <a:r>
              <a:rPr sz="1650" b="0">
                <a:solidFill>
                  <a:srgbClr val="203040"/>
                </a:solidFill>
                <a:latin typeface="Arial"/>
                <a:ea typeface="Arial"/>
                <a:cs typeface="Arial"/>
              </a:rPr>
              <a:t>• Code compiled successfully on the server</a:t>
            </a:r>
          </a:p>
        </p:txBody>
      </p:sp>
      <p:sp>
        <p:nvSpPr>
          <p:cNvPr id="12" name="">
            <a:extLst xmlns:a="http://schemas.openxmlformats.org/drawingml/2006/main">
              <a:ext uri="{FF2B5EF4-FFF2-40B4-BE49-F238E27FC236}">
                <a16:creationId xmlns:a16="http://schemas.microsoft.com/office/drawing/2014/main" id="{445472DA-4068-49DD-A81B-09647032A082}"/>
              </a:ext>
            </a:extLst>
          </p:cNvPr>
          <p:cNvSpPr>
            <a:spLocks xmlns:a="http://schemas.openxmlformats.org/drawingml/2006/main" noGrp="1"/>
          </p:cNvSpPr>
          <p:nvPr/>
        </p:nvSpPr>
        <p:spPr>
          <a:xfrm xmlns:a="http://schemas.openxmlformats.org/drawingml/2006/main">
            <a:off x="6229350" y="32575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203040"/>
                </a:solidFill>
                <a:latin typeface="Arial"/>
                <a:ea typeface="Arial"/>
                <a:cs typeface="Arial"/>
              </a:defRPr>
            </a:defPPr>
          </a:lstStyle>
          <a:p xmlns:a="http://schemas.openxmlformats.org/drawingml/2006/main">
            <a:pPr algn="l">
              <a:defRPr sz="1650" b="0">
                <a:solidFill>
                  <a:srgbClr val="203040"/>
                </a:solidFill>
                <a:latin typeface="Arial"/>
                <a:ea typeface="Arial"/>
                <a:cs typeface="Arial"/>
              </a:defRPr>
            </a:pPr>
            <a:r>
              <a:rPr sz="1650" b="0">
                <a:solidFill>
                  <a:srgbClr val="203040"/>
                </a:solidFill>
                <a:latin typeface="Arial"/>
                <a:ea typeface="Arial"/>
                <a:cs typeface="Arial"/>
              </a:rPr>
              <a:t>• Duplicate-row validation is implemented</a:t>
            </a:r>
          </a:p>
        </p:txBody>
      </p:sp>
      <p:sp>
        <p:nvSpPr>
          <p:cNvPr id="13" name="">
            <a:extLst xmlns:a="http://schemas.openxmlformats.org/drawingml/2006/main">
              <a:ext uri="{FF2B5EF4-FFF2-40B4-BE49-F238E27FC236}">
                <a16:creationId xmlns:a16="http://schemas.microsoft.com/office/drawing/2014/main" id="{5769BE4C-64FA-4C42-9D83-AE6C09A34D1D}"/>
              </a:ext>
            </a:extLst>
          </p:cNvPr>
          <p:cNvSpPr>
            <a:spLocks xmlns:a="http://schemas.openxmlformats.org/drawingml/2006/main" noGrp="1"/>
          </p:cNvSpPr>
          <p:nvPr/>
        </p:nvSpPr>
        <p:spPr>
          <a:xfrm xmlns:a="http://schemas.openxmlformats.org/drawingml/2006/main">
            <a:off x="6229350" y="365760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650" b="0">
                <a:solidFill>
                  <a:srgbClr val="203040"/>
                </a:solidFill>
                <a:latin typeface="Arial"/>
                <a:ea typeface="Arial"/>
                <a:cs typeface="Arial"/>
              </a:defRPr>
            </a:defPPr>
          </a:lstStyle>
          <a:p xmlns:a="http://schemas.openxmlformats.org/drawingml/2006/main">
            <a:pPr algn="l">
              <a:defRPr sz="1650" b="0">
                <a:solidFill>
                  <a:srgbClr val="203040"/>
                </a:solidFill>
                <a:latin typeface="Arial"/>
                <a:ea typeface="Arial"/>
                <a:cs typeface="Arial"/>
              </a:defRPr>
            </a:pPr>
            <a:r>
              <a:rPr sz="1650" b="0">
                <a:solidFill>
                  <a:srgbClr val="203040"/>
                </a:solidFill>
                <a:latin typeface="Arial"/>
                <a:ea typeface="Arial"/>
                <a:cs typeface="Arial"/>
              </a:rPr>
              <a:t>• Full run waits for 165,000 unique input rows</a:t>
            </a:r>
          </a:p>
        </p:txBody>
      </p:sp>
      <p:sp>
        <p:nvSpPr>
          <p:cNvPr id="14" name="">
            <a:extLst xmlns:a="http://schemas.openxmlformats.org/drawingml/2006/main">
              <a:ext uri="{FF2B5EF4-FFF2-40B4-BE49-F238E27FC236}">
                <a16:creationId xmlns:a16="http://schemas.microsoft.com/office/drawing/2014/main" id="{4C57A8F6-B9EA-435B-8371-FDD06F9F2FDD}"/>
              </a:ext>
            </a:extLst>
          </p:cNvPr>
          <p:cNvSpPr>
            <a:spLocks xmlns:a="http://schemas.openxmlformats.org/drawingml/2006/main" noGrp="1"/>
          </p:cNvSpPr>
          <p:nvPr/>
        </p:nvSpPr>
        <p:spPr>
          <a:xfrm xmlns:a="http://schemas.openxmlformats.org/drawingml/2006/main">
            <a:off x="6229350" y="43053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B23A48"/>
                </a:solidFill>
                <a:latin typeface="Arial"/>
                <a:ea typeface="Arial"/>
                <a:cs typeface="Arial"/>
              </a:defRPr>
            </a:defPPr>
          </a:lstStyle>
          <a:p xmlns:a="http://schemas.openxmlformats.org/drawingml/2006/main">
            <a:pPr algn="l">
              <a:defRPr sz="1500" b="1">
                <a:solidFill>
                  <a:srgbClr val="B23A48"/>
                </a:solidFill>
                <a:latin typeface="Arial"/>
                <a:ea typeface="Arial"/>
                <a:cs typeface="Arial"/>
              </a:defRPr>
            </a:pPr>
            <a:r>
              <a:rPr sz="1500" b="1">
                <a:solidFill>
                  <a:srgbClr val="B23A48"/>
                </a:solidFill>
                <a:latin typeface="Arial"/>
                <a:ea typeface="Arial"/>
                <a:cs typeface="Arial"/>
              </a:rPr>
              <a:t>No performance values are shown before the complete dataset run.</a:t>
            </a:r>
          </a:p>
        </p:txBody>
      </p:sp>
      <p:sp>
        <p:nvSpPr>
          <p:cNvPr id="15" name="">
            <a:extLst xmlns:a="http://schemas.openxmlformats.org/drawingml/2006/main">
              <a:ext uri="{FF2B5EF4-FFF2-40B4-BE49-F238E27FC236}">
                <a16:creationId xmlns:a16="http://schemas.microsoft.com/office/drawing/2014/main" id="{496F411D-D86F-4241-9BA7-8D98744DFDEE}"/>
              </a:ext>
            </a:extLst>
          </p:cNvPr>
          <p:cNvSpPr>
            <a:spLocks xmlns:a="http://schemas.openxmlformats.org/drawingml/2006/main" noGrp="1"/>
          </p:cNvSpPr>
          <p:nvPr/>
        </p:nvSpPr>
        <p:spPr>
          <a:xfrm xmlns:a="http://schemas.openxmlformats.org/drawingml/2006/main">
            <a:off x="609600" y="653415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825" b="0">
                <a:solidFill>
                  <a:srgbClr val="5B6770"/>
                </a:solidFill>
                <a:latin typeface="Arial"/>
                <a:ea typeface="Arial"/>
                <a:cs typeface="Arial"/>
              </a:defRPr>
            </a:defPPr>
          </a:lstStyle>
          <a:p xmlns:a="http://schemas.openxmlformats.org/drawingml/2006/main">
            <a:pPr algn="l">
              <a:defRPr sz="825" b="0">
                <a:solidFill>
                  <a:srgbClr val="5B6770"/>
                </a:solidFill>
                <a:latin typeface="Arial"/>
                <a:ea typeface="Arial"/>
                <a:cs typeface="Arial"/>
              </a:defRPr>
            </a:pPr>
            <a:r>
              <a:rPr sz="825" b="0">
                <a:solidFill>
                  <a:srgbClr val="5B6770"/>
                </a:solidFill>
                <a:latin typeface="Arial"/>
                <a:ea typeface="Arial"/>
                <a:cs typeface="Arial"/>
              </a:rPr>
              <a:t>SOKA metaheuristic scheduling  |  2</a:t>
            </a:r>
          </a:p>
        </p:txBody>
      </p:sp>
    </p:spTree>
    <p:extLst>
      <p:ext uri="{BB962C8B-B14F-4D97-AF65-F5344CB8AC3E}">
        <p14:creationId xmlns:p14="http://schemas.microsoft.com/office/powerpoint/2010/main" val="139769095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D4CAD03-D2F9-4FD2-8E67-FBCB288334E2}"/>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050" b="1">
                <a:solidFill>
                  <a:srgbClr val="2F75B5"/>
                </a:solidFill>
                <a:latin typeface="Arial"/>
                <a:ea typeface="Arial"/>
                <a:cs typeface="Arial"/>
              </a:defRPr>
            </a:defPPr>
          </a:lstStyle>
          <a:p xmlns:a="http://schemas.openxmlformats.org/drawingml/2006/main">
            <a:pPr algn="l">
              <a:defRPr sz="1050" b="1">
                <a:solidFill>
                  <a:srgbClr val="2F75B5"/>
                </a:solidFill>
                <a:latin typeface="Arial"/>
                <a:ea typeface="Arial"/>
                <a:cs typeface="Arial"/>
              </a:defRPr>
            </a:pPr>
            <a:r>
              <a:rPr sz="1050" b="1">
                <a:solidFill>
                  <a:srgbClr val="2F75B5"/>
                </a:solidFill>
                <a:latin typeface="Arial"/>
                <a:ea typeface="Arial"/>
                <a:cs typeface="Arial"/>
              </a:rPr>
              <a:t>INFRASTRUCTURE CONFIGURATION</a:t>
            </a:r>
          </a:p>
        </p:txBody>
      </p:sp>
      <p:sp>
        <p:nvSpPr>
          <p:cNvPr id="2" name="">
            <a:extLst xmlns:a="http://schemas.openxmlformats.org/drawingml/2006/main">
              <a:ext uri="{FF2B5EF4-FFF2-40B4-BE49-F238E27FC236}">
                <a16:creationId xmlns:a16="http://schemas.microsoft.com/office/drawing/2014/main" id="{6EEFD861-8E8C-4145-93C2-1F6385393EC0}"/>
              </a:ext>
            </a:extLst>
          </p:cNvPr>
          <p:cNvSpPr>
            <a:spLocks xmlns:a="http://schemas.openxmlformats.org/drawingml/2006/main" noGrp="1"/>
          </p:cNvSpPr>
          <p:nvPr/>
        </p:nvSpPr>
        <p:spPr>
          <a:xfrm xmlns:a="http://schemas.openxmlformats.org/drawingml/2006/main">
            <a:off x="609600" y="61912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2263A"/>
                </a:solidFill>
                <a:latin typeface="Arial"/>
                <a:ea typeface="Arial"/>
                <a:cs typeface="Arial"/>
              </a:defRPr>
            </a:defPPr>
          </a:lstStyle>
          <a:p xmlns:a="http://schemas.openxmlformats.org/drawingml/2006/main">
            <a:pPr algn="l">
              <a:defRPr sz="2550" b="1">
                <a:solidFill>
                  <a:srgbClr val="12263A"/>
                </a:solidFill>
                <a:latin typeface="Arial"/>
                <a:ea typeface="Arial"/>
                <a:cs typeface="Arial"/>
              </a:defRPr>
            </a:pPr>
            <a:r>
              <a:rPr sz="2550" b="1">
                <a:solidFill>
                  <a:srgbClr val="12263A"/>
                </a:solidFill>
                <a:latin typeface="Arial"/>
                <a:ea typeface="Arial"/>
                <a:cs typeface="Arial"/>
              </a:rPr>
              <a:t>Static CloudSim topology</a:t>
            </a:r>
          </a:p>
        </p:txBody>
      </p:sp>
      <p:sp>
        <p:nvSpPr>
          <p:cNvPr id="3" name="">
            <a:extLst xmlns:a="http://schemas.openxmlformats.org/drawingml/2006/main">
              <a:ext uri="{FF2B5EF4-FFF2-40B4-BE49-F238E27FC236}">
                <a16:creationId xmlns:a16="http://schemas.microsoft.com/office/drawing/2014/main" id="{2D572C01-7E75-402B-A237-570C59C7C0A2}"/>
              </a:ext>
            </a:extLst>
          </p:cNvPr>
          <p:cNvSpPr>
            <a:spLocks xmlns:a="http://schemas.openxmlformats.org/drawingml/2006/main" noGrp="1"/>
          </p:cNvSpPr>
          <p:nvPr/>
        </p:nvSpPr>
        <p:spPr>
          <a:xfrm xmlns:a="http://schemas.openxmlformats.org/drawingml/2006/main">
            <a:off x="609600" y="13144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203040"/>
                </a:solidFill>
                <a:latin typeface="Arial"/>
                <a:ea typeface="Arial"/>
                <a:cs typeface="Arial"/>
              </a:defRPr>
            </a:defPPr>
          </a:lstStyle>
          <a:p xmlns:a="http://schemas.openxmlformats.org/drawingml/2006/main">
            <a:pPr algn="l">
              <a:defRPr sz="1800" b="1">
                <a:solidFill>
                  <a:srgbClr val="203040"/>
                </a:solidFill>
                <a:latin typeface="Arial"/>
                <a:ea typeface="Arial"/>
                <a:cs typeface="Arial"/>
              </a:defRPr>
            </a:pPr>
            <a:r>
              <a:rPr sz="1800" b="1">
                <a:solidFill>
                  <a:srgbClr val="203040"/>
                </a:solidFill>
                <a:latin typeface="Arial"/>
                <a:ea typeface="Arial"/>
                <a:cs typeface="Arial"/>
              </a:rPr>
              <a:t>Every run uses the same eight VMs and the same four fixed host assignments.</a:t>
            </a:r>
          </a:p>
        </p:txBody>
      </p:sp>
      <p:sp>
        <p:nvSpPr>
          <p:cNvPr id="4" name="">
            <a:extLst xmlns:a="http://schemas.openxmlformats.org/drawingml/2006/main">
              <a:ext uri="{FF2B5EF4-FFF2-40B4-BE49-F238E27FC236}">
                <a16:creationId xmlns:a16="http://schemas.microsoft.com/office/drawing/2014/main" id="{3ACD45DA-730A-4A8D-AD4B-3F3B32E435FF}"/>
              </a:ext>
            </a:extLst>
          </p:cNvPr>
          <p:cNvSpPr>
            <a:spLocks xmlns:a="http://schemas.openxmlformats.org/drawingml/2006/main" noGrp="1"/>
          </p:cNvSpPr>
          <p:nvPr/>
        </p:nvSpPr>
        <p:spPr>
          <a:xfrm xmlns:a="http://schemas.openxmlformats.org/drawingml/2006/main">
            <a:off x="609600" y="2095500"/>
            <a:ext cx="5257800" cy="3143250"/>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5" name="">
            <a:extLst xmlns:a="http://schemas.openxmlformats.org/drawingml/2006/main">
              <a:ext uri="{FF2B5EF4-FFF2-40B4-BE49-F238E27FC236}">
                <a16:creationId xmlns:a16="http://schemas.microsoft.com/office/drawing/2014/main" id="{AC4D8D59-E5D1-4238-A28C-460F45FF45D6}"/>
              </a:ext>
            </a:extLst>
          </p:cNvPr>
          <p:cNvSpPr>
            <a:spLocks xmlns:a="http://schemas.openxmlformats.org/drawingml/2006/main" noGrp="1"/>
          </p:cNvSpPr>
          <p:nvPr/>
        </p:nvSpPr>
        <p:spPr>
          <a:xfrm xmlns:a="http://schemas.openxmlformats.org/drawingml/2006/main">
            <a:off x="876300" y="23431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12263A"/>
                </a:solidFill>
                <a:latin typeface="Arial"/>
                <a:ea typeface="Arial"/>
                <a:cs typeface="Arial"/>
              </a:defRPr>
            </a:defPPr>
          </a:lstStyle>
          <a:p xmlns:a="http://schemas.openxmlformats.org/drawingml/2006/main">
            <a:pPr algn="l">
              <a:defRPr sz="1800" b="1">
                <a:solidFill>
                  <a:srgbClr val="12263A"/>
                </a:solidFill>
                <a:latin typeface="Arial"/>
                <a:ea typeface="Arial"/>
                <a:cs typeface="Arial"/>
              </a:defRPr>
            </a:pPr>
            <a:r>
              <a:rPr sz="1800" b="1">
                <a:solidFill>
                  <a:srgbClr val="12263A"/>
                </a:solidFill>
                <a:latin typeface="Arial"/>
                <a:ea typeface="Arial"/>
                <a:cs typeface="Arial"/>
              </a:rPr>
              <a:t>Datacenter 1</a:t>
            </a:r>
          </a:p>
        </p:txBody>
      </p:sp>
      <p:sp>
        <p:nvSpPr>
          <p:cNvPr id="6" name="">
            <a:extLst xmlns:a="http://schemas.openxmlformats.org/drawingml/2006/main">
              <a:ext uri="{FF2B5EF4-FFF2-40B4-BE49-F238E27FC236}">
                <a16:creationId xmlns:a16="http://schemas.microsoft.com/office/drawing/2014/main" id="{58D32666-F683-46DE-A56C-C33828B43CF2}"/>
              </a:ext>
            </a:extLst>
          </p:cNvPr>
          <p:cNvSpPr>
            <a:spLocks xmlns:a="http://schemas.openxmlformats.org/drawingml/2006/main" noGrp="1"/>
          </p:cNvSpPr>
          <p:nvPr/>
        </p:nvSpPr>
        <p:spPr>
          <a:xfrm xmlns:a="http://schemas.openxmlformats.org/drawingml/2006/main">
            <a:off x="876300" y="2933700"/>
            <a:ext cx="4724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2F75B5"/>
            </a:solidFill>
          </a:ln>
        </p:spPr>
      </p:sp>
      <p:sp>
        <p:nvSpPr>
          <p:cNvPr id="7" name="">
            <a:extLst xmlns:a="http://schemas.openxmlformats.org/drawingml/2006/main">
              <a:ext uri="{FF2B5EF4-FFF2-40B4-BE49-F238E27FC236}">
                <a16:creationId xmlns:a16="http://schemas.microsoft.com/office/drawing/2014/main" id="{DFF0B703-758C-4BC4-B1F4-91FC260D8252}"/>
              </a:ext>
            </a:extLst>
          </p:cNvPr>
          <p:cNvSpPr>
            <a:spLocks xmlns:a="http://schemas.openxmlformats.org/drawingml/2006/main" noGrp="1"/>
          </p:cNvSpPr>
          <p:nvPr/>
        </p:nvSpPr>
        <p:spPr>
          <a:xfrm xmlns:a="http://schemas.openxmlformats.org/drawingml/2006/main">
            <a:off x="1085850" y="30480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F75B5"/>
                </a:solidFill>
                <a:latin typeface="Arial"/>
                <a:ea typeface="Arial"/>
                <a:cs typeface="Arial"/>
              </a:defRPr>
            </a:defPPr>
          </a:lstStyle>
          <a:p xmlns:a="http://schemas.openxmlformats.org/drawingml/2006/main">
            <a:pPr algn="l">
              <a:defRPr sz="1500" b="1">
                <a:solidFill>
                  <a:srgbClr val="2F75B5"/>
                </a:solidFill>
                <a:latin typeface="Arial"/>
                <a:ea typeface="Arial"/>
                <a:cs typeface="Arial"/>
              </a:defRPr>
            </a:pPr>
            <a:r>
              <a:rPr sz="1500" b="1">
                <a:solidFill>
                  <a:srgbClr val="2F75B5"/>
                </a:solidFill>
                <a:latin typeface="Arial"/>
                <a:ea typeface="Arial"/>
                <a:cs typeface="Arial"/>
              </a:rPr>
              <a:t>Host 0</a:t>
            </a:r>
          </a:p>
        </p:txBody>
      </p:sp>
      <p:sp>
        <p:nvSpPr>
          <p:cNvPr id="8" name="">
            <a:extLst xmlns:a="http://schemas.openxmlformats.org/drawingml/2006/main">
              <a:ext uri="{FF2B5EF4-FFF2-40B4-BE49-F238E27FC236}">
                <a16:creationId xmlns:a16="http://schemas.microsoft.com/office/drawing/2014/main" id="{0BC22D6F-6211-4220-B16C-6B98C48E6663}"/>
              </a:ext>
            </a:extLst>
          </p:cNvPr>
          <p:cNvSpPr>
            <a:spLocks xmlns:a="http://schemas.openxmlformats.org/drawingml/2006/main" noGrp="1"/>
          </p:cNvSpPr>
          <p:nvPr/>
        </p:nvSpPr>
        <p:spPr>
          <a:xfrm xmlns:a="http://schemas.openxmlformats.org/drawingml/2006/main">
            <a:off x="2800350" y="30480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03040"/>
                </a:solidFill>
                <a:latin typeface="Arial"/>
                <a:ea typeface="Arial"/>
                <a:cs typeface="Arial"/>
              </a:defRPr>
            </a:defPPr>
          </a:lstStyle>
          <a:p xmlns:a="http://schemas.openxmlformats.org/drawingml/2006/main">
            <a:pPr algn="l">
              <a:defRPr sz="1500" b="1">
                <a:solidFill>
                  <a:srgbClr val="203040"/>
                </a:solidFill>
                <a:latin typeface="Arial"/>
                <a:ea typeface="Arial"/>
                <a:cs typeface="Arial"/>
              </a:defRPr>
            </a:pPr>
            <a:r>
              <a:rPr sz="1500" b="1">
                <a:solidFill>
                  <a:srgbClr val="203040"/>
                </a:solidFill>
                <a:latin typeface="Arial"/>
                <a:ea typeface="Arial"/>
                <a:cs typeface="Arial"/>
              </a:rPr>
              <a:t>VM 0  |  VM 1</a:t>
            </a:r>
          </a:p>
        </p:txBody>
      </p:sp>
      <p:sp>
        <p:nvSpPr>
          <p:cNvPr id="9" name="">
            <a:extLst xmlns:a="http://schemas.openxmlformats.org/drawingml/2006/main">
              <a:ext uri="{FF2B5EF4-FFF2-40B4-BE49-F238E27FC236}">
                <a16:creationId xmlns:a16="http://schemas.microsoft.com/office/drawing/2014/main" id="{41E8808D-7DA3-4054-882B-B363C39E5125}"/>
              </a:ext>
            </a:extLst>
          </p:cNvPr>
          <p:cNvSpPr>
            <a:spLocks xmlns:a="http://schemas.openxmlformats.org/drawingml/2006/main" noGrp="1"/>
          </p:cNvSpPr>
          <p:nvPr/>
        </p:nvSpPr>
        <p:spPr>
          <a:xfrm xmlns:a="http://schemas.openxmlformats.org/drawingml/2006/main">
            <a:off x="1085850" y="33337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5B6770"/>
                </a:solidFill>
                <a:latin typeface="Arial"/>
                <a:ea typeface="Arial"/>
                <a:cs typeface="Arial"/>
              </a:defRPr>
            </a:defPPr>
          </a:lstStyle>
          <a:p xmlns:a="http://schemas.openxmlformats.org/drawingml/2006/main">
            <a:pPr algn="l">
              <a:defRPr sz="1125" b="0">
                <a:solidFill>
                  <a:srgbClr val="5B6770"/>
                </a:solidFill>
                <a:latin typeface="Arial"/>
                <a:ea typeface="Arial"/>
                <a:cs typeface="Arial"/>
              </a:defRPr>
            </a:pPr>
            <a:r>
              <a:rPr sz="1125" b="0">
                <a:solidFill>
                  <a:srgbClr val="5B6770"/>
                </a:solidFill>
                <a:latin typeface="Arial"/>
                <a:ea typeface="Arial"/>
                <a:cs typeface="Arial"/>
              </a:rPr>
              <a:t>2 VMs</a:t>
            </a:r>
          </a:p>
        </p:txBody>
      </p:sp>
      <p:sp>
        <p:nvSpPr>
          <p:cNvPr id="10" name="">
            <a:extLst xmlns:a="http://schemas.openxmlformats.org/drawingml/2006/main">
              <a:ext uri="{FF2B5EF4-FFF2-40B4-BE49-F238E27FC236}">
                <a16:creationId xmlns:a16="http://schemas.microsoft.com/office/drawing/2014/main" id="{98AC98BC-6933-4A8F-9CD3-8E43316B5CAD}"/>
              </a:ext>
            </a:extLst>
          </p:cNvPr>
          <p:cNvSpPr>
            <a:spLocks xmlns:a="http://schemas.openxmlformats.org/drawingml/2006/main" noGrp="1"/>
          </p:cNvSpPr>
          <p:nvPr/>
        </p:nvSpPr>
        <p:spPr>
          <a:xfrm xmlns:a="http://schemas.openxmlformats.org/drawingml/2006/main">
            <a:off x="876300" y="3962400"/>
            <a:ext cx="4724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2F75B5"/>
            </a:solidFill>
          </a:ln>
        </p:spPr>
      </p:sp>
      <p:sp>
        <p:nvSpPr>
          <p:cNvPr id="11" name="">
            <a:extLst xmlns:a="http://schemas.openxmlformats.org/drawingml/2006/main">
              <a:ext uri="{FF2B5EF4-FFF2-40B4-BE49-F238E27FC236}">
                <a16:creationId xmlns:a16="http://schemas.microsoft.com/office/drawing/2014/main" id="{985E41F0-653D-4DE7-A481-8D00EB89DE22}"/>
              </a:ext>
            </a:extLst>
          </p:cNvPr>
          <p:cNvSpPr>
            <a:spLocks xmlns:a="http://schemas.openxmlformats.org/drawingml/2006/main" noGrp="1"/>
          </p:cNvSpPr>
          <p:nvPr/>
        </p:nvSpPr>
        <p:spPr>
          <a:xfrm xmlns:a="http://schemas.openxmlformats.org/drawingml/2006/main">
            <a:off x="1085850" y="40767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F75B5"/>
                </a:solidFill>
                <a:latin typeface="Arial"/>
                <a:ea typeface="Arial"/>
                <a:cs typeface="Arial"/>
              </a:defRPr>
            </a:defPPr>
          </a:lstStyle>
          <a:p xmlns:a="http://schemas.openxmlformats.org/drawingml/2006/main">
            <a:pPr algn="l">
              <a:defRPr sz="1500" b="1">
                <a:solidFill>
                  <a:srgbClr val="2F75B5"/>
                </a:solidFill>
                <a:latin typeface="Arial"/>
                <a:ea typeface="Arial"/>
                <a:cs typeface="Arial"/>
              </a:defRPr>
            </a:pPr>
            <a:r>
              <a:rPr sz="1500" b="1">
                <a:solidFill>
                  <a:srgbClr val="2F75B5"/>
                </a:solidFill>
                <a:latin typeface="Arial"/>
                <a:ea typeface="Arial"/>
                <a:cs typeface="Arial"/>
              </a:rPr>
              <a:t>Host 1</a:t>
            </a:r>
          </a:p>
        </p:txBody>
      </p:sp>
      <p:sp>
        <p:nvSpPr>
          <p:cNvPr id="12" name="">
            <a:extLst xmlns:a="http://schemas.openxmlformats.org/drawingml/2006/main">
              <a:ext uri="{FF2B5EF4-FFF2-40B4-BE49-F238E27FC236}">
                <a16:creationId xmlns:a16="http://schemas.microsoft.com/office/drawing/2014/main" id="{66945374-4DC0-4DAC-833B-AB824708A593}"/>
              </a:ext>
            </a:extLst>
          </p:cNvPr>
          <p:cNvSpPr>
            <a:spLocks xmlns:a="http://schemas.openxmlformats.org/drawingml/2006/main" noGrp="1"/>
          </p:cNvSpPr>
          <p:nvPr/>
        </p:nvSpPr>
        <p:spPr>
          <a:xfrm xmlns:a="http://schemas.openxmlformats.org/drawingml/2006/main">
            <a:off x="2800350" y="4076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03040"/>
                </a:solidFill>
                <a:latin typeface="Arial"/>
                <a:ea typeface="Arial"/>
                <a:cs typeface="Arial"/>
              </a:defRPr>
            </a:defPPr>
          </a:lstStyle>
          <a:p xmlns:a="http://schemas.openxmlformats.org/drawingml/2006/main">
            <a:pPr algn="l">
              <a:defRPr sz="1500" b="1">
                <a:solidFill>
                  <a:srgbClr val="203040"/>
                </a:solidFill>
                <a:latin typeface="Arial"/>
                <a:ea typeface="Arial"/>
                <a:cs typeface="Arial"/>
              </a:defRPr>
            </a:pPr>
            <a:r>
              <a:rPr sz="1500" b="1">
                <a:solidFill>
                  <a:srgbClr val="203040"/>
                </a:solidFill>
                <a:latin typeface="Arial"/>
                <a:ea typeface="Arial"/>
                <a:cs typeface="Arial"/>
              </a:rPr>
              <a:t>VM 2  |  VM 3</a:t>
            </a:r>
          </a:p>
        </p:txBody>
      </p:sp>
      <p:sp>
        <p:nvSpPr>
          <p:cNvPr id="13" name="">
            <a:extLst xmlns:a="http://schemas.openxmlformats.org/drawingml/2006/main">
              <a:ext uri="{FF2B5EF4-FFF2-40B4-BE49-F238E27FC236}">
                <a16:creationId xmlns:a16="http://schemas.microsoft.com/office/drawing/2014/main" id="{EA263A1E-E606-4843-8FC3-DAF1193C8B4D}"/>
              </a:ext>
            </a:extLst>
          </p:cNvPr>
          <p:cNvSpPr>
            <a:spLocks xmlns:a="http://schemas.openxmlformats.org/drawingml/2006/main" noGrp="1"/>
          </p:cNvSpPr>
          <p:nvPr/>
        </p:nvSpPr>
        <p:spPr>
          <a:xfrm xmlns:a="http://schemas.openxmlformats.org/drawingml/2006/main">
            <a:off x="1085850" y="43624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5B6770"/>
                </a:solidFill>
                <a:latin typeface="Arial"/>
                <a:ea typeface="Arial"/>
                <a:cs typeface="Arial"/>
              </a:defRPr>
            </a:defPPr>
          </a:lstStyle>
          <a:p xmlns:a="http://schemas.openxmlformats.org/drawingml/2006/main">
            <a:pPr algn="l">
              <a:defRPr sz="1125" b="0">
                <a:solidFill>
                  <a:srgbClr val="5B6770"/>
                </a:solidFill>
                <a:latin typeface="Arial"/>
                <a:ea typeface="Arial"/>
                <a:cs typeface="Arial"/>
              </a:defRPr>
            </a:pPr>
            <a:r>
              <a:rPr sz="1125" b="0">
                <a:solidFill>
                  <a:srgbClr val="5B6770"/>
                </a:solidFill>
                <a:latin typeface="Arial"/>
                <a:ea typeface="Arial"/>
                <a:cs typeface="Arial"/>
              </a:rPr>
              <a:t>2 VMs</a:t>
            </a:r>
          </a:p>
        </p:txBody>
      </p:sp>
      <p:sp>
        <p:nvSpPr>
          <p:cNvPr id="14" name="">
            <a:extLst xmlns:a="http://schemas.openxmlformats.org/drawingml/2006/main">
              <a:ext uri="{FF2B5EF4-FFF2-40B4-BE49-F238E27FC236}">
                <a16:creationId xmlns:a16="http://schemas.microsoft.com/office/drawing/2014/main" id="{F2EB12AD-0C59-45AD-AA75-0C06137F8126}"/>
              </a:ext>
            </a:extLst>
          </p:cNvPr>
          <p:cNvSpPr>
            <a:spLocks xmlns:a="http://schemas.openxmlformats.org/drawingml/2006/main" noGrp="1"/>
          </p:cNvSpPr>
          <p:nvPr/>
        </p:nvSpPr>
        <p:spPr>
          <a:xfrm xmlns:a="http://schemas.openxmlformats.org/drawingml/2006/main">
            <a:off x="6324600" y="2095500"/>
            <a:ext cx="5257800" cy="3143250"/>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15" name="">
            <a:extLst xmlns:a="http://schemas.openxmlformats.org/drawingml/2006/main">
              <a:ext uri="{FF2B5EF4-FFF2-40B4-BE49-F238E27FC236}">
                <a16:creationId xmlns:a16="http://schemas.microsoft.com/office/drawing/2014/main" id="{960B3AA0-4EEE-467A-83CA-DFCD37D3F161}"/>
              </a:ext>
            </a:extLst>
          </p:cNvPr>
          <p:cNvSpPr>
            <a:spLocks xmlns:a="http://schemas.openxmlformats.org/drawingml/2006/main" noGrp="1"/>
          </p:cNvSpPr>
          <p:nvPr/>
        </p:nvSpPr>
        <p:spPr>
          <a:xfrm xmlns:a="http://schemas.openxmlformats.org/drawingml/2006/main">
            <a:off x="6591300" y="23431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12263A"/>
                </a:solidFill>
                <a:latin typeface="Arial"/>
                <a:ea typeface="Arial"/>
                <a:cs typeface="Arial"/>
              </a:defRPr>
            </a:defPPr>
          </a:lstStyle>
          <a:p xmlns:a="http://schemas.openxmlformats.org/drawingml/2006/main">
            <a:pPr algn="l">
              <a:defRPr sz="1800" b="1">
                <a:solidFill>
                  <a:srgbClr val="12263A"/>
                </a:solidFill>
                <a:latin typeface="Arial"/>
                <a:ea typeface="Arial"/>
                <a:cs typeface="Arial"/>
              </a:defRPr>
            </a:pPr>
            <a:r>
              <a:rPr sz="1800" b="1">
                <a:solidFill>
                  <a:srgbClr val="12263A"/>
                </a:solidFill>
                <a:latin typeface="Arial"/>
                <a:ea typeface="Arial"/>
                <a:cs typeface="Arial"/>
              </a:rPr>
              <a:t>Datacenter 2</a:t>
            </a:r>
          </a:p>
        </p:txBody>
      </p:sp>
      <p:sp>
        <p:nvSpPr>
          <p:cNvPr id="16" name="">
            <a:extLst xmlns:a="http://schemas.openxmlformats.org/drawingml/2006/main">
              <a:ext uri="{FF2B5EF4-FFF2-40B4-BE49-F238E27FC236}">
                <a16:creationId xmlns:a16="http://schemas.microsoft.com/office/drawing/2014/main" id="{0C8004FE-ACA9-41B6-802B-F8E7436D73B4}"/>
              </a:ext>
            </a:extLst>
          </p:cNvPr>
          <p:cNvSpPr>
            <a:spLocks xmlns:a="http://schemas.openxmlformats.org/drawingml/2006/main" noGrp="1"/>
          </p:cNvSpPr>
          <p:nvPr/>
        </p:nvSpPr>
        <p:spPr>
          <a:xfrm xmlns:a="http://schemas.openxmlformats.org/drawingml/2006/main">
            <a:off x="6591300" y="2933700"/>
            <a:ext cx="4724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2F75B5"/>
            </a:solidFill>
          </a:ln>
        </p:spPr>
      </p:sp>
      <p:sp>
        <p:nvSpPr>
          <p:cNvPr id="17" name="">
            <a:extLst xmlns:a="http://schemas.openxmlformats.org/drawingml/2006/main">
              <a:ext uri="{FF2B5EF4-FFF2-40B4-BE49-F238E27FC236}">
                <a16:creationId xmlns:a16="http://schemas.microsoft.com/office/drawing/2014/main" id="{D21A9951-3B80-490F-A534-4986557888AB}"/>
              </a:ext>
            </a:extLst>
          </p:cNvPr>
          <p:cNvSpPr>
            <a:spLocks xmlns:a="http://schemas.openxmlformats.org/drawingml/2006/main" noGrp="1"/>
          </p:cNvSpPr>
          <p:nvPr/>
        </p:nvSpPr>
        <p:spPr>
          <a:xfrm xmlns:a="http://schemas.openxmlformats.org/drawingml/2006/main">
            <a:off x="6800850" y="30480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F75B5"/>
                </a:solidFill>
                <a:latin typeface="Arial"/>
                <a:ea typeface="Arial"/>
                <a:cs typeface="Arial"/>
              </a:defRPr>
            </a:defPPr>
          </a:lstStyle>
          <a:p xmlns:a="http://schemas.openxmlformats.org/drawingml/2006/main">
            <a:pPr algn="l">
              <a:defRPr sz="1500" b="1">
                <a:solidFill>
                  <a:srgbClr val="2F75B5"/>
                </a:solidFill>
                <a:latin typeface="Arial"/>
                <a:ea typeface="Arial"/>
                <a:cs typeface="Arial"/>
              </a:defRPr>
            </a:pPr>
            <a:r>
              <a:rPr sz="1500" b="1">
                <a:solidFill>
                  <a:srgbClr val="2F75B5"/>
                </a:solidFill>
                <a:latin typeface="Arial"/>
                <a:ea typeface="Arial"/>
                <a:cs typeface="Arial"/>
              </a:rPr>
              <a:t>Host 2</a:t>
            </a:r>
          </a:p>
        </p:txBody>
      </p:sp>
      <p:sp>
        <p:nvSpPr>
          <p:cNvPr id="18" name="">
            <a:extLst xmlns:a="http://schemas.openxmlformats.org/drawingml/2006/main">
              <a:ext uri="{FF2B5EF4-FFF2-40B4-BE49-F238E27FC236}">
                <a16:creationId xmlns:a16="http://schemas.microsoft.com/office/drawing/2014/main" id="{2ED2342E-3CF4-45C1-A015-03AACE4641F9}"/>
              </a:ext>
            </a:extLst>
          </p:cNvPr>
          <p:cNvSpPr>
            <a:spLocks xmlns:a="http://schemas.openxmlformats.org/drawingml/2006/main" noGrp="1"/>
          </p:cNvSpPr>
          <p:nvPr/>
        </p:nvSpPr>
        <p:spPr>
          <a:xfrm xmlns:a="http://schemas.openxmlformats.org/drawingml/2006/main">
            <a:off x="8515350" y="30480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03040"/>
                </a:solidFill>
                <a:latin typeface="Arial"/>
                <a:ea typeface="Arial"/>
                <a:cs typeface="Arial"/>
              </a:defRPr>
            </a:defPPr>
          </a:lstStyle>
          <a:p xmlns:a="http://schemas.openxmlformats.org/drawingml/2006/main">
            <a:pPr algn="l">
              <a:defRPr sz="1500" b="1">
                <a:solidFill>
                  <a:srgbClr val="203040"/>
                </a:solidFill>
                <a:latin typeface="Arial"/>
                <a:ea typeface="Arial"/>
                <a:cs typeface="Arial"/>
              </a:defRPr>
            </a:pPr>
            <a:r>
              <a:rPr sz="1500" b="1">
                <a:solidFill>
                  <a:srgbClr val="203040"/>
                </a:solidFill>
                <a:latin typeface="Arial"/>
                <a:ea typeface="Arial"/>
                <a:cs typeface="Arial"/>
              </a:rPr>
              <a:t>VM 4  |  VM 5</a:t>
            </a:r>
          </a:p>
        </p:txBody>
      </p:sp>
      <p:sp>
        <p:nvSpPr>
          <p:cNvPr id="19" name="">
            <a:extLst xmlns:a="http://schemas.openxmlformats.org/drawingml/2006/main">
              <a:ext uri="{FF2B5EF4-FFF2-40B4-BE49-F238E27FC236}">
                <a16:creationId xmlns:a16="http://schemas.microsoft.com/office/drawing/2014/main" id="{DDC987A8-1CBA-41AF-9915-3E85554235B6}"/>
              </a:ext>
            </a:extLst>
          </p:cNvPr>
          <p:cNvSpPr>
            <a:spLocks xmlns:a="http://schemas.openxmlformats.org/drawingml/2006/main" noGrp="1"/>
          </p:cNvSpPr>
          <p:nvPr/>
        </p:nvSpPr>
        <p:spPr>
          <a:xfrm xmlns:a="http://schemas.openxmlformats.org/drawingml/2006/main">
            <a:off x="6800850" y="33337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5B6770"/>
                </a:solidFill>
                <a:latin typeface="Arial"/>
                <a:ea typeface="Arial"/>
                <a:cs typeface="Arial"/>
              </a:defRPr>
            </a:defPPr>
          </a:lstStyle>
          <a:p xmlns:a="http://schemas.openxmlformats.org/drawingml/2006/main">
            <a:pPr algn="l">
              <a:defRPr sz="1125" b="0">
                <a:solidFill>
                  <a:srgbClr val="5B6770"/>
                </a:solidFill>
                <a:latin typeface="Arial"/>
                <a:ea typeface="Arial"/>
                <a:cs typeface="Arial"/>
              </a:defRPr>
            </a:pPr>
            <a:r>
              <a:rPr sz="1125" b="0">
                <a:solidFill>
                  <a:srgbClr val="5B6770"/>
                </a:solidFill>
                <a:latin typeface="Arial"/>
                <a:ea typeface="Arial"/>
                <a:cs typeface="Arial"/>
              </a:rPr>
              <a:t>2 VMs</a:t>
            </a:r>
          </a:p>
        </p:txBody>
      </p:sp>
      <p:sp>
        <p:nvSpPr>
          <p:cNvPr id="20" name="">
            <a:extLst xmlns:a="http://schemas.openxmlformats.org/drawingml/2006/main">
              <a:ext uri="{FF2B5EF4-FFF2-40B4-BE49-F238E27FC236}">
                <a16:creationId xmlns:a16="http://schemas.microsoft.com/office/drawing/2014/main" id="{517BFE54-9CA6-4513-8990-10AB485231A3}"/>
              </a:ext>
            </a:extLst>
          </p:cNvPr>
          <p:cNvSpPr>
            <a:spLocks xmlns:a="http://schemas.openxmlformats.org/drawingml/2006/main" noGrp="1"/>
          </p:cNvSpPr>
          <p:nvPr/>
        </p:nvSpPr>
        <p:spPr>
          <a:xfrm xmlns:a="http://schemas.openxmlformats.org/drawingml/2006/main">
            <a:off x="6591300" y="3962400"/>
            <a:ext cx="47244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2F75B5"/>
            </a:solidFill>
          </a:ln>
        </p:spPr>
      </p:sp>
      <p:sp>
        <p:nvSpPr>
          <p:cNvPr id="21" name="">
            <a:extLst xmlns:a="http://schemas.openxmlformats.org/drawingml/2006/main">
              <a:ext uri="{FF2B5EF4-FFF2-40B4-BE49-F238E27FC236}">
                <a16:creationId xmlns:a16="http://schemas.microsoft.com/office/drawing/2014/main" id="{A691235E-F857-4AA6-8035-3C077F758371}"/>
              </a:ext>
            </a:extLst>
          </p:cNvPr>
          <p:cNvSpPr>
            <a:spLocks xmlns:a="http://schemas.openxmlformats.org/drawingml/2006/main" noGrp="1"/>
          </p:cNvSpPr>
          <p:nvPr/>
        </p:nvSpPr>
        <p:spPr>
          <a:xfrm xmlns:a="http://schemas.openxmlformats.org/drawingml/2006/main">
            <a:off x="6800850" y="40767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F75B5"/>
                </a:solidFill>
                <a:latin typeface="Arial"/>
                <a:ea typeface="Arial"/>
                <a:cs typeface="Arial"/>
              </a:defRPr>
            </a:defPPr>
          </a:lstStyle>
          <a:p xmlns:a="http://schemas.openxmlformats.org/drawingml/2006/main">
            <a:pPr algn="l">
              <a:defRPr sz="1500" b="1">
                <a:solidFill>
                  <a:srgbClr val="2F75B5"/>
                </a:solidFill>
                <a:latin typeface="Arial"/>
                <a:ea typeface="Arial"/>
                <a:cs typeface="Arial"/>
              </a:defRPr>
            </a:pPr>
            <a:r>
              <a:rPr sz="1500" b="1">
                <a:solidFill>
                  <a:srgbClr val="2F75B5"/>
                </a:solidFill>
                <a:latin typeface="Arial"/>
                <a:ea typeface="Arial"/>
                <a:cs typeface="Arial"/>
              </a:rPr>
              <a:t>Host 3</a:t>
            </a:r>
          </a:p>
        </p:txBody>
      </p:sp>
      <p:sp>
        <p:nvSpPr>
          <p:cNvPr id="22" name="">
            <a:extLst xmlns:a="http://schemas.openxmlformats.org/drawingml/2006/main">
              <a:ext uri="{FF2B5EF4-FFF2-40B4-BE49-F238E27FC236}">
                <a16:creationId xmlns:a16="http://schemas.microsoft.com/office/drawing/2014/main" id="{8240AA16-94BC-4B9D-82F8-496EC81ADBAE}"/>
              </a:ext>
            </a:extLst>
          </p:cNvPr>
          <p:cNvSpPr>
            <a:spLocks xmlns:a="http://schemas.openxmlformats.org/drawingml/2006/main" noGrp="1"/>
          </p:cNvSpPr>
          <p:nvPr/>
        </p:nvSpPr>
        <p:spPr>
          <a:xfrm xmlns:a="http://schemas.openxmlformats.org/drawingml/2006/main">
            <a:off x="8515350" y="407670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203040"/>
                </a:solidFill>
                <a:latin typeface="Arial"/>
                <a:ea typeface="Arial"/>
                <a:cs typeface="Arial"/>
              </a:defRPr>
            </a:defPPr>
          </a:lstStyle>
          <a:p xmlns:a="http://schemas.openxmlformats.org/drawingml/2006/main">
            <a:pPr algn="l">
              <a:defRPr sz="1500" b="1">
                <a:solidFill>
                  <a:srgbClr val="203040"/>
                </a:solidFill>
                <a:latin typeface="Arial"/>
                <a:ea typeface="Arial"/>
                <a:cs typeface="Arial"/>
              </a:defRPr>
            </a:pPr>
            <a:r>
              <a:rPr sz="1500" b="1">
                <a:solidFill>
                  <a:srgbClr val="203040"/>
                </a:solidFill>
                <a:latin typeface="Arial"/>
                <a:ea typeface="Arial"/>
                <a:cs typeface="Arial"/>
              </a:rPr>
              <a:t>VM 6  |  VM 7</a:t>
            </a:r>
          </a:p>
        </p:txBody>
      </p:sp>
      <p:sp>
        <p:nvSpPr>
          <p:cNvPr id="23" name="">
            <a:extLst xmlns:a="http://schemas.openxmlformats.org/drawingml/2006/main">
              <a:ext uri="{FF2B5EF4-FFF2-40B4-BE49-F238E27FC236}">
                <a16:creationId xmlns:a16="http://schemas.microsoft.com/office/drawing/2014/main" id="{1FE3140B-C6DE-4AC3-9492-DEE9AAE695EA}"/>
              </a:ext>
            </a:extLst>
          </p:cNvPr>
          <p:cNvSpPr>
            <a:spLocks xmlns:a="http://schemas.openxmlformats.org/drawingml/2006/main" noGrp="1"/>
          </p:cNvSpPr>
          <p:nvPr/>
        </p:nvSpPr>
        <p:spPr>
          <a:xfrm xmlns:a="http://schemas.openxmlformats.org/drawingml/2006/main">
            <a:off x="6800850" y="43624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5B6770"/>
                </a:solidFill>
                <a:latin typeface="Arial"/>
                <a:ea typeface="Arial"/>
                <a:cs typeface="Arial"/>
              </a:defRPr>
            </a:defPPr>
          </a:lstStyle>
          <a:p xmlns:a="http://schemas.openxmlformats.org/drawingml/2006/main">
            <a:pPr algn="l">
              <a:defRPr sz="1125" b="0">
                <a:solidFill>
                  <a:srgbClr val="5B6770"/>
                </a:solidFill>
                <a:latin typeface="Arial"/>
                <a:ea typeface="Arial"/>
                <a:cs typeface="Arial"/>
              </a:defRPr>
            </a:pPr>
            <a:r>
              <a:rPr sz="1125" b="0">
                <a:solidFill>
                  <a:srgbClr val="5B6770"/>
                </a:solidFill>
                <a:latin typeface="Arial"/>
                <a:ea typeface="Arial"/>
                <a:cs typeface="Arial"/>
              </a:rPr>
              <a:t>2 VMs</a:t>
            </a:r>
          </a:p>
        </p:txBody>
      </p:sp>
      <p:sp>
        <p:nvSpPr>
          <p:cNvPr id="24" name="">
            <a:extLst xmlns:a="http://schemas.openxmlformats.org/drawingml/2006/main">
              <a:ext uri="{FF2B5EF4-FFF2-40B4-BE49-F238E27FC236}">
                <a16:creationId xmlns:a16="http://schemas.microsoft.com/office/drawing/2014/main" id="{37688473-133A-4AB7-A19A-735DDA9F11D3}"/>
              </a:ext>
            </a:extLst>
          </p:cNvPr>
          <p:cNvSpPr>
            <a:spLocks xmlns:a="http://schemas.openxmlformats.org/drawingml/2006/main" noGrp="1"/>
          </p:cNvSpPr>
          <p:nvPr/>
        </p:nvSpPr>
        <p:spPr>
          <a:xfrm xmlns:a="http://schemas.openxmlformats.org/drawingml/2006/main">
            <a:off x="609600" y="56197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0">
                <a:solidFill>
                  <a:srgbClr val="5B6770"/>
                </a:solidFill>
                <a:latin typeface="Arial"/>
                <a:ea typeface="Arial"/>
                <a:cs typeface="Arial"/>
              </a:defRPr>
            </a:defPPr>
          </a:lstStyle>
          <a:p xmlns:a="http://schemas.openxmlformats.org/drawingml/2006/main">
            <a:pPr algn="l">
              <a:defRPr sz="1500" b="0">
                <a:solidFill>
                  <a:srgbClr val="5B6770"/>
                </a:solidFill>
                <a:latin typeface="Arial"/>
                <a:ea typeface="Arial"/>
                <a:cs typeface="Arial"/>
              </a:defRPr>
            </a:pPr>
            <a:r>
              <a:rPr sz="1500" b="0">
                <a:solidFill>
                  <a:srgbClr val="5B6770"/>
                </a:solidFill>
                <a:latin typeface="Arial"/>
                <a:ea typeface="Arial"/>
                <a:cs typeface="Arial"/>
              </a:rPr>
              <a:t>Static policy maps VM IDs to host IDs. The VM placement does not change between algorithms.</a:t>
            </a:r>
          </a:p>
        </p:txBody>
      </p:sp>
      <p:sp>
        <p:nvSpPr>
          <p:cNvPr id="25" name="">
            <a:extLst xmlns:a="http://schemas.openxmlformats.org/drawingml/2006/main">
              <a:ext uri="{FF2B5EF4-FFF2-40B4-BE49-F238E27FC236}">
                <a16:creationId xmlns:a16="http://schemas.microsoft.com/office/drawing/2014/main" id="{19B495B4-3456-426B-8830-E2DAF65E9906}"/>
              </a:ext>
            </a:extLst>
          </p:cNvPr>
          <p:cNvSpPr>
            <a:spLocks xmlns:a="http://schemas.openxmlformats.org/drawingml/2006/main" noGrp="1"/>
          </p:cNvSpPr>
          <p:nvPr/>
        </p:nvSpPr>
        <p:spPr>
          <a:xfrm xmlns:a="http://schemas.openxmlformats.org/drawingml/2006/main">
            <a:off x="609600" y="653415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825" b="0">
                <a:solidFill>
                  <a:srgbClr val="5B6770"/>
                </a:solidFill>
                <a:latin typeface="Arial"/>
                <a:ea typeface="Arial"/>
                <a:cs typeface="Arial"/>
              </a:defRPr>
            </a:defPPr>
          </a:lstStyle>
          <a:p xmlns:a="http://schemas.openxmlformats.org/drawingml/2006/main">
            <a:pPr algn="l">
              <a:defRPr sz="825" b="0">
                <a:solidFill>
                  <a:srgbClr val="5B6770"/>
                </a:solidFill>
                <a:latin typeface="Arial"/>
                <a:ea typeface="Arial"/>
                <a:cs typeface="Arial"/>
              </a:defRPr>
            </a:pPr>
            <a:r>
              <a:rPr sz="825" b="0">
                <a:solidFill>
                  <a:srgbClr val="5B6770"/>
                </a:solidFill>
                <a:latin typeface="Arial"/>
                <a:ea typeface="Arial"/>
                <a:cs typeface="Arial"/>
              </a:rPr>
              <a:t>SOKA metaheuristic scheduling  |  3</a:t>
            </a:r>
          </a:p>
        </p:txBody>
      </p:sp>
    </p:spTree>
    <p:extLst>
      <p:ext uri="{BB962C8B-B14F-4D97-AF65-F5344CB8AC3E}">
        <p14:creationId xmlns:p14="http://schemas.microsoft.com/office/powerpoint/2010/main" val="13639954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 name="">
            <a:extLst xmlns:a="http://schemas.openxmlformats.org/drawingml/2006/main">
              <a:ext uri="{FF2B5EF4-FFF2-40B4-BE49-F238E27FC236}">
                <a16:creationId xmlns:a16="http://schemas.microsoft.com/office/drawing/2014/main" id="{857CE7D1-4974-4492-B272-FDE229689ECF}"/>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050" b="1">
                <a:solidFill>
                  <a:srgbClr val="2F75B5"/>
                </a:solidFill>
                <a:latin typeface="Arial"/>
                <a:ea typeface="Arial"/>
                <a:cs typeface="Arial"/>
              </a:defRPr>
            </a:defPPr>
          </a:lstStyle>
          <a:p xmlns:a="http://schemas.openxmlformats.org/drawingml/2006/main">
            <a:pPr algn="l">
              <a:defRPr sz="1050" b="1">
                <a:solidFill>
                  <a:srgbClr val="2F75B5"/>
                </a:solidFill>
                <a:latin typeface="Arial"/>
                <a:ea typeface="Arial"/>
                <a:cs typeface="Arial"/>
              </a:defRPr>
            </a:pPr>
            <a:r>
              <a:rPr sz="1050" b="1">
                <a:solidFill>
                  <a:srgbClr val="2F75B5"/>
                </a:solidFill>
                <a:latin typeface="Arial"/>
                <a:ea typeface="Arial"/>
                <a:cs typeface="Arial"/>
              </a:rPr>
              <a:t>NON-OVERLAPPING INPUT RANGES</a:t>
            </a:r>
          </a:p>
        </p:txBody>
      </p:sp>
      <p:sp>
        <p:nvSpPr>
          <p:cNvPr id="2" name="">
            <a:extLst xmlns:a="http://schemas.openxmlformats.org/drawingml/2006/main">
              <a:ext uri="{FF2B5EF4-FFF2-40B4-BE49-F238E27FC236}">
                <a16:creationId xmlns:a16="http://schemas.microsoft.com/office/drawing/2014/main" id="{9FC72DF9-B395-49DF-91A0-DD802E56E9EF}"/>
              </a:ext>
            </a:extLst>
          </p:cNvPr>
          <p:cNvSpPr>
            <a:spLocks xmlns:a="http://schemas.openxmlformats.org/drawingml/2006/main" noGrp="1"/>
          </p:cNvSpPr>
          <p:nvPr/>
        </p:nvSpPr>
        <p:spPr>
          <a:xfrm xmlns:a="http://schemas.openxmlformats.org/drawingml/2006/main">
            <a:off x="609600" y="61912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2263A"/>
                </a:solidFill>
                <a:latin typeface="Arial"/>
                <a:ea typeface="Arial"/>
                <a:cs typeface="Arial"/>
              </a:defRPr>
            </a:defPPr>
          </a:lstStyle>
          <a:p xmlns:a="http://schemas.openxmlformats.org/drawingml/2006/main">
            <a:pPr algn="l">
              <a:defRPr sz="2550" b="1">
                <a:solidFill>
                  <a:srgbClr val="12263A"/>
                </a:solidFill>
                <a:latin typeface="Arial"/>
                <a:ea typeface="Arial"/>
                <a:cs typeface="Arial"/>
              </a:defRPr>
            </a:pPr>
            <a:r>
              <a:rPr sz="2550" b="1">
                <a:solidFill>
                  <a:srgbClr val="12263A"/>
                </a:solidFill>
                <a:latin typeface="Arial"/>
                <a:ea typeface="Arial"/>
                <a:cs typeface="Arial"/>
              </a:rPr>
              <a:t>Workload schedule</a:t>
            </a:r>
          </a:p>
        </p:txBody>
      </p:sp>
      <p:sp>
        <p:nvSpPr>
          <p:cNvPr id="3" name="">
            <a:extLst xmlns:a="http://schemas.openxmlformats.org/drawingml/2006/main">
              <a:ext uri="{FF2B5EF4-FFF2-40B4-BE49-F238E27FC236}">
                <a16:creationId xmlns:a16="http://schemas.microsoft.com/office/drawing/2014/main" id="{8F228D56-7B53-404F-886E-32C22C2E8E4C}"/>
              </a:ext>
            </a:extLst>
          </p:cNvPr>
          <p:cNvSpPr>
            <a:spLocks xmlns:a="http://schemas.openxmlformats.org/drawingml/2006/main" noGrp="1"/>
          </p:cNvSpPr>
          <p:nvPr/>
        </p:nvSpPr>
        <p:spPr>
          <a:xfrm xmlns:a="http://schemas.openxmlformats.org/drawingml/2006/main">
            <a:off x="609600" y="13144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203040"/>
                </a:solidFill>
                <a:latin typeface="Arial"/>
                <a:ea typeface="Arial"/>
                <a:cs typeface="Arial"/>
              </a:defRPr>
            </a:defPPr>
          </a:lstStyle>
          <a:p xmlns:a="http://schemas.openxmlformats.org/drawingml/2006/main">
            <a:pPr algn="l">
              <a:defRPr sz="1725" b="1">
                <a:solidFill>
                  <a:srgbClr val="203040"/>
                </a:solidFill>
                <a:latin typeface="Arial"/>
                <a:ea typeface="Arial"/>
                <a:cs typeface="Arial"/>
              </a:defRPr>
            </a:pPr>
            <a:r>
              <a:rPr sz="1725" b="1">
                <a:solidFill>
                  <a:srgbClr val="203040"/>
                </a:solidFill>
                <a:latin typeface="Arial"/>
                <a:ea typeface="Arial"/>
                <a:cs typeface="Arial"/>
              </a:rPr>
              <a:t>The largest individual test contains 10,000 cloudlets. The complete experiment consumes 165,000 unique rows.</a:t>
            </a:r>
          </a:p>
        </p:txBody>
      </p:sp>
      <p:sp>
        <p:nvSpPr>
          <p:cNvPr id="4" name="">
            <a:extLst xmlns:a="http://schemas.openxmlformats.org/drawingml/2006/main">
              <a:ext uri="{FF2B5EF4-FFF2-40B4-BE49-F238E27FC236}">
                <a16:creationId xmlns:a16="http://schemas.microsoft.com/office/drawing/2014/main" id="{5C9B3BB4-8394-4A6A-AF0C-24EB06A18F3D}"/>
              </a:ext>
            </a:extLst>
          </p:cNvPr>
          <p:cNvSpPr>
            <a:spLocks xmlns:a="http://schemas.openxmlformats.org/drawingml/2006/main" noGrp="1"/>
          </p:cNvSpPr>
          <p:nvPr/>
        </p:nvSpPr>
        <p:spPr>
          <a:xfrm xmlns:a="http://schemas.openxmlformats.org/drawingml/2006/main">
            <a:off x="609600" y="2076450"/>
            <a:ext cx="1238250" cy="457200"/>
          </a:xfrm>
          <a:prstGeom xmlns:a="http://schemas.openxmlformats.org/drawingml/2006/main" prst="rect">
            <a:avLst/>
          </a:prstGeom>
          <a:solidFill xmlns:a="http://schemas.openxmlformats.org/drawingml/2006/main">
            <a:srgbClr val="12263A"/>
          </a:solidFill>
          <a:ln xmlns:a="http://schemas.openxmlformats.org/drawingml/2006/main" w="9525">
            <a:solidFill>
              <a:srgbClr val="12263A"/>
            </a:solidFill>
          </a:ln>
        </p:spPr>
      </p:sp>
      <p:sp>
        <p:nvSpPr>
          <p:cNvPr id="5" name="">
            <a:extLst xmlns:a="http://schemas.openxmlformats.org/drawingml/2006/main">
              <a:ext uri="{FF2B5EF4-FFF2-40B4-BE49-F238E27FC236}">
                <a16:creationId xmlns:a16="http://schemas.microsoft.com/office/drawing/2014/main" id="{5C6390E0-6B37-4E26-B6B8-B42372644995}"/>
              </a:ext>
            </a:extLst>
          </p:cNvPr>
          <p:cNvSpPr>
            <a:spLocks xmlns:a="http://schemas.openxmlformats.org/drawingml/2006/main" noGrp="1"/>
          </p:cNvSpPr>
          <p:nvPr/>
        </p:nvSpPr>
        <p:spPr>
          <a:xfrm xmlns:a="http://schemas.openxmlformats.org/drawingml/2006/main">
            <a:off x="742950" y="2190750"/>
            <a:ext cx="9715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Dry run</a:t>
            </a:r>
          </a:p>
        </p:txBody>
      </p:sp>
      <p:sp>
        <p:nvSpPr>
          <p:cNvPr id="6" name="">
            <a:extLst xmlns:a="http://schemas.openxmlformats.org/drawingml/2006/main">
              <a:ext uri="{FF2B5EF4-FFF2-40B4-BE49-F238E27FC236}">
                <a16:creationId xmlns:a16="http://schemas.microsoft.com/office/drawing/2014/main" id="{AAA14369-5515-47CE-9436-6AECF4D2F31F}"/>
              </a:ext>
            </a:extLst>
          </p:cNvPr>
          <p:cNvSpPr>
            <a:spLocks xmlns:a="http://schemas.openxmlformats.org/drawingml/2006/main" noGrp="1"/>
          </p:cNvSpPr>
          <p:nvPr/>
        </p:nvSpPr>
        <p:spPr>
          <a:xfrm xmlns:a="http://schemas.openxmlformats.org/drawingml/2006/main">
            <a:off x="2000250" y="2076450"/>
            <a:ext cx="2190750" cy="457200"/>
          </a:xfrm>
          <a:prstGeom xmlns:a="http://schemas.openxmlformats.org/drawingml/2006/main" prst="rect">
            <a:avLst/>
          </a:prstGeom>
          <a:solidFill xmlns:a="http://schemas.openxmlformats.org/drawingml/2006/main">
            <a:srgbClr val="12263A"/>
          </a:solidFill>
          <a:ln xmlns:a="http://schemas.openxmlformats.org/drawingml/2006/main" w="9525">
            <a:solidFill>
              <a:srgbClr val="12263A"/>
            </a:solidFill>
          </a:ln>
        </p:spPr>
      </p:sp>
      <p:sp>
        <p:nvSpPr>
          <p:cNvPr id="7" name="">
            <a:extLst xmlns:a="http://schemas.openxmlformats.org/drawingml/2006/main">
              <a:ext uri="{FF2B5EF4-FFF2-40B4-BE49-F238E27FC236}">
                <a16:creationId xmlns:a16="http://schemas.microsoft.com/office/drawing/2014/main" id="{F603930F-80DA-49D3-B2D0-D222E79F89F7}"/>
              </a:ext>
            </a:extLst>
          </p:cNvPr>
          <p:cNvSpPr>
            <a:spLocks xmlns:a="http://schemas.openxmlformats.org/drawingml/2006/main" noGrp="1"/>
          </p:cNvSpPr>
          <p:nvPr/>
        </p:nvSpPr>
        <p:spPr>
          <a:xfrm xmlns:a="http://schemas.openxmlformats.org/drawingml/2006/main">
            <a:off x="2133600" y="2190750"/>
            <a:ext cx="1924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Cloudlets / repeat</a:t>
            </a:r>
          </a:p>
        </p:txBody>
      </p:sp>
      <p:sp>
        <p:nvSpPr>
          <p:cNvPr id="8" name="">
            <a:extLst xmlns:a="http://schemas.openxmlformats.org/drawingml/2006/main">
              <a:ext uri="{FF2B5EF4-FFF2-40B4-BE49-F238E27FC236}">
                <a16:creationId xmlns:a16="http://schemas.microsoft.com/office/drawing/2014/main" id="{16B9DD7D-0DB6-4F80-8EE2-9FCE36E8DC63}"/>
              </a:ext>
            </a:extLst>
          </p:cNvPr>
          <p:cNvSpPr>
            <a:spLocks xmlns:a="http://schemas.openxmlformats.org/drawingml/2006/main" noGrp="1"/>
          </p:cNvSpPr>
          <p:nvPr/>
        </p:nvSpPr>
        <p:spPr>
          <a:xfrm xmlns:a="http://schemas.openxmlformats.org/drawingml/2006/main">
            <a:off x="4381500" y="2076450"/>
            <a:ext cx="7200900" cy="457200"/>
          </a:xfrm>
          <a:prstGeom xmlns:a="http://schemas.openxmlformats.org/drawingml/2006/main" prst="rect">
            <a:avLst/>
          </a:prstGeom>
          <a:solidFill xmlns:a="http://schemas.openxmlformats.org/drawingml/2006/main">
            <a:srgbClr val="12263A"/>
          </a:solidFill>
          <a:ln xmlns:a="http://schemas.openxmlformats.org/drawingml/2006/main" w="9525">
            <a:solidFill>
              <a:srgbClr val="12263A"/>
            </a:solidFill>
          </a:ln>
        </p:spPr>
      </p:sp>
      <p:sp>
        <p:nvSpPr>
          <p:cNvPr id="9" name="">
            <a:extLst xmlns:a="http://schemas.openxmlformats.org/drawingml/2006/main">
              <a:ext uri="{FF2B5EF4-FFF2-40B4-BE49-F238E27FC236}">
                <a16:creationId xmlns:a16="http://schemas.microsoft.com/office/drawing/2014/main" id="{9AFCC58C-8A8B-4269-B8FD-7C7948D3498C}"/>
              </a:ext>
            </a:extLst>
          </p:cNvPr>
          <p:cNvSpPr>
            <a:spLocks xmlns:a="http://schemas.openxmlformats.org/drawingml/2006/main" noGrp="1"/>
          </p:cNvSpPr>
          <p:nvPr/>
        </p:nvSpPr>
        <p:spPr>
          <a:xfrm xmlns:a="http://schemas.openxmlformats.org/drawingml/2006/main">
            <a:off x="4514850" y="2190750"/>
            <a:ext cx="6934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FFFFFF"/>
                </a:solidFill>
                <a:latin typeface="Arial"/>
                <a:ea typeface="Arial"/>
                <a:cs typeface="Arial"/>
              </a:defRPr>
            </a:defPPr>
          </a:lstStyle>
          <a:p xmlns:a="http://schemas.openxmlformats.org/drawingml/2006/main">
            <a:pPr algn="l">
              <a:defRPr sz="1275" b="1">
                <a:solidFill>
                  <a:srgbClr val="FFFFFF"/>
                </a:solidFill>
                <a:latin typeface="Arial"/>
                <a:ea typeface="Arial"/>
                <a:cs typeface="Arial"/>
              </a:defRPr>
            </a:pPr>
            <a:r>
              <a:rPr sz="1275" b="1">
                <a:solidFill>
                  <a:srgbClr val="FFFFFF"/>
                </a:solidFill>
                <a:latin typeface="Arial"/>
                <a:ea typeface="Arial"/>
                <a:cs typeface="Arial"/>
              </a:rPr>
              <a:t>Three contiguous ranges</a:t>
            </a:r>
          </a:p>
        </p:txBody>
      </p:sp>
      <p:sp>
        <p:nvSpPr>
          <p:cNvPr id="10" name="">
            <a:extLst xmlns:a="http://schemas.openxmlformats.org/drawingml/2006/main">
              <a:ext uri="{FF2B5EF4-FFF2-40B4-BE49-F238E27FC236}">
                <a16:creationId xmlns:a16="http://schemas.microsoft.com/office/drawing/2014/main" id="{DB93C072-EB52-4037-B768-22E61F3897D9}"/>
              </a:ext>
            </a:extLst>
          </p:cNvPr>
          <p:cNvSpPr>
            <a:spLocks xmlns:a="http://schemas.openxmlformats.org/drawingml/2006/main" noGrp="1"/>
          </p:cNvSpPr>
          <p:nvPr/>
        </p:nvSpPr>
        <p:spPr>
          <a:xfrm xmlns:a="http://schemas.openxmlformats.org/drawingml/2006/main">
            <a:off x="609600" y="2533650"/>
            <a:ext cx="1238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11" name="">
            <a:extLst xmlns:a="http://schemas.openxmlformats.org/drawingml/2006/main">
              <a:ext uri="{FF2B5EF4-FFF2-40B4-BE49-F238E27FC236}">
                <a16:creationId xmlns:a16="http://schemas.microsoft.com/office/drawing/2014/main" id="{461949CF-F893-4A23-B9E0-297F6EF25887}"/>
              </a:ext>
            </a:extLst>
          </p:cNvPr>
          <p:cNvSpPr>
            <a:spLocks xmlns:a="http://schemas.openxmlformats.org/drawingml/2006/main" noGrp="1"/>
          </p:cNvSpPr>
          <p:nvPr/>
        </p:nvSpPr>
        <p:spPr>
          <a:xfrm xmlns:a="http://schemas.openxmlformats.org/drawingml/2006/main">
            <a:off x="742950" y="2600325"/>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1</a:t>
            </a:r>
          </a:p>
        </p:txBody>
      </p:sp>
      <p:sp>
        <p:nvSpPr>
          <p:cNvPr id="12" name="">
            <a:extLst xmlns:a="http://schemas.openxmlformats.org/drawingml/2006/main">
              <a:ext uri="{FF2B5EF4-FFF2-40B4-BE49-F238E27FC236}">
                <a16:creationId xmlns:a16="http://schemas.microsoft.com/office/drawing/2014/main" id="{17278EA0-B540-4414-A3E6-5DE55EA6FABE}"/>
              </a:ext>
            </a:extLst>
          </p:cNvPr>
          <p:cNvSpPr>
            <a:spLocks xmlns:a="http://schemas.openxmlformats.org/drawingml/2006/main" noGrp="1"/>
          </p:cNvSpPr>
          <p:nvPr/>
        </p:nvSpPr>
        <p:spPr>
          <a:xfrm xmlns:a="http://schemas.openxmlformats.org/drawingml/2006/main">
            <a:off x="2000250" y="2533650"/>
            <a:ext cx="21907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13" name="">
            <a:extLst xmlns:a="http://schemas.openxmlformats.org/drawingml/2006/main">
              <a:ext uri="{FF2B5EF4-FFF2-40B4-BE49-F238E27FC236}">
                <a16:creationId xmlns:a16="http://schemas.microsoft.com/office/drawing/2014/main" id="{8A422790-452C-412D-9CDC-3790FEC815D4}"/>
              </a:ext>
            </a:extLst>
          </p:cNvPr>
          <p:cNvSpPr>
            <a:spLocks xmlns:a="http://schemas.openxmlformats.org/drawingml/2006/main" noGrp="1"/>
          </p:cNvSpPr>
          <p:nvPr/>
        </p:nvSpPr>
        <p:spPr>
          <a:xfrm xmlns:a="http://schemas.openxmlformats.org/drawingml/2006/main">
            <a:off x="2133600" y="2600325"/>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1,000</a:t>
            </a:r>
          </a:p>
        </p:txBody>
      </p:sp>
      <p:sp>
        <p:nvSpPr>
          <p:cNvPr id="14" name="">
            <a:extLst xmlns:a="http://schemas.openxmlformats.org/drawingml/2006/main">
              <a:ext uri="{FF2B5EF4-FFF2-40B4-BE49-F238E27FC236}">
                <a16:creationId xmlns:a16="http://schemas.microsoft.com/office/drawing/2014/main" id="{1656E9CE-C1E5-44F3-BE82-3BF1C7C8055C}"/>
              </a:ext>
            </a:extLst>
          </p:cNvPr>
          <p:cNvSpPr>
            <a:spLocks xmlns:a="http://schemas.openxmlformats.org/drawingml/2006/main" noGrp="1"/>
          </p:cNvSpPr>
          <p:nvPr/>
        </p:nvSpPr>
        <p:spPr>
          <a:xfrm xmlns:a="http://schemas.openxmlformats.org/drawingml/2006/main">
            <a:off x="4381500" y="2533650"/>
            <a:ext cx="72009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15" name="">
            <a:extLst xmlns:a="http://schemas.openxmlformats.org/drawingml/2006/main">
              <a:ext uri="{FF2B5EF4-FFF2-40B4-BE49-F238E27FC236}">
                <a16:creationId xmlns:a16="http://schemas.microsoft.com/office/drawing/2014/main" id="{C36C7818-E51B-45E6-AEC2-0BA4B58DA72A}"/>
              </a:ext>
            </a:extLst>
          </p:cNvPr>
          <p:cNvSpPr>
            <a:spLocks xmlns:a="http://schemas.openxmlformats.org/drawingml/2006/main" noGrp="1"/>
          </p:cNvSpPr>
          <p:nvPr/>
        </p:nvSpPr>
        <p:spPr>
          <a:xfrm xmlns:a="http://schemas.openxmlformats.org/drawingml/2006/main">
            <a:off x="4514850" y="2600325"/>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1–1,000; 1,001–2,000; 2,001–3,000</a:t>
            </a:r>
          </a:p>
        </p:txBody>
      </p:sp>
      <p:sp>
        <p:nvSpPr>
          <p:cNvPr id="16" name="">
            <a:extLst xmlns:a="http://schemas.openxmlformats.org/drawingml/2006/main">
              <a:ext uri="{FF2B5EF4-FFF2-40B4-BE49-F238E27FC236}">
                <a16:creationId xmlns:a16="http://schemas.microsoft.com/office/drawing/2014/main" id="{92AE9FE6-51F0-49A2-8DF5-F7D18AB7D113}"/>
              </a:ext>
            </a:extLst>
          </p:cNvPr>
          <p:cNvSpPr>
            <a:spLocks xmlns:a="http://schemas.openxmlformats.org/drawingml/2006/main" noGrp="1"/>
          </p:cNvSpPr>
          <p:nvPr/>
        </p:nvSpPr>
        <p:spPr>
          <a:xfrm xmlns:a="http://schemas.openxmlformats.org/drawingml/2006/main">
            <a:off x="609600" y="2867025"/>
            <a:ext cx="12382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17" name="">
            <a:extLst xmlns:a="http://schemas.openxmlformats.org/drawingml/2006/main">
              <a:ext uri="{FF2B5EF4-FFF2-40B4-BE49-F238E27FC236}">
                <a16:creationId xmlns:a16="http://schemas.microsoft.com/office/drawing/2014/main" id="{A2354397-09A4-47E1-8B07-EF8598E6EA9E}"/>
              </a:ext>
            </a:extLst>
          </p:cNvPr>
          <p:cNvSpPr>
            <a:spLocks xmlns:a="http://schemas.openxmlformats.org/drawingml/2006/main" noGrp="1"/>
          </p:cNvSpPr>
          <p:nvPr/>
        </p:nvSpPr>
        <p:spPr>
          <a:xfrm xmlns:a="http://schemas.openxmlformats.org/drawingml/2006/main">
            <a:off x="742950" y="293370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2</a:t>
            </a:r>
          </a:p>
        </p:txBody>
      </p:sp>
      <p:sp>
        <p:nvSpPr>
          <p:cNvPr id="18" name="">
            <a:extLst xmlns:a="http://schemas.openxmlformats.org/drawingml/2006/main">
              <a:ext uri="{FF2B5EF4-FFF2-40B4-BE49-F238E27FC236}">
                <a16:creationId xmlns:a16="http://schemas.microsoft.com/office/drawing/2014/main" id="{41D441CD-F91A-419C-B201-471918D00279}"/>
              </a:ext>
            </a:extLst>
          </p:cNvPr>
          <p:cNvSpPr>
            <a:spLocks xmlns:a="http://schemas.openxmlformats.org/drawingml/2006/main" noGrp="1"/>
          </p:cNvSpPr>
          <p:nvPr/>
        </p:nvSpPr>
        <p:spPr>
          <a:xfrm xmlns:a="http://schemas.openxmlformats.org/drawingml/2006/main">
            <a:off x="2000250" y="2867025"/>
            <a:ext cx="21907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19" name="">
            <a:extLst xmlns:a="http://schemas.openxmlformats.org/drawingml/2006/main">
              <a:ext uri="{FF2B5EF4-FFF2-40B4-BE49-F238E27FC236}">
                <a16:creationId xmlns:a16="http://schemas.microsoft.com/office/drawing/2014/main" id="{A74D9441-F21F-4DDF-80CD-1B4B82D0F50C}"/>
              </a:ext>
            </a:extLst>
          </p:cNvPr>
          <p:cNvSpPr>
            <a:spLocks xmlns:a="http://schemas.openxmlformats.org/drawingml/2006/main" noGrp="1"/>
          </p:cNvSpPr>
          <p:nvPr/>
        </p:nvSpPr>
        <p:spPr>
          <a:xfrm xmlns:a="http://schemas.openxmlformats.org/drawingml/2006/main">
            <a:off x="2133600" y="2933700"/>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2,000</a:t>
            </a:r>
          </a:p>
        </p:txBody>
      </p:sp>
      <p:sp>
        <p:nvSpPr>
          <p:cNvPr id="20" name="">
            <a:extLst xmlns:a="http://schemas.openxmlformats.org/drawingml/2006/main">
              <a:ext uri="{FF2B5EF4-FFF2-40B4-BE49-F238E27FC236}">
                <a16:creationId xmlns:a16="http://schemas.microsoft.com/office/drawing/2014/main" id="{4F57BC93-572B-4A43-9BB9-D62CA5F1E885}"/>
              </a:ext>
            </a:extLst>
          </p:cNvPr>
          <p:cNvSpPr>
            <a:spLocks xmlns:a="http://schemas.openxmlformats.org/drawingml/2006/main" noGrp="1"/>
          </p:cNvSpPr>
          <p:nvPr/>
        </p:nvSpPr>
        <p:spPr>
          <a:xfrm xmlns:a="http://schemas.openxmlformats.org/drawingml/2006/main">
            <a:off x="4381500" y="2867025"/>
            <a:ext cx="720090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21" name="">
            <a:extLst xmlns:a="http://schemas.openxmlformats.org/drawingml/2006/main">
              <a:ext uri="{FF2B5EF4-FFF2-40B4-BE49-F238E27FC236}">
                <a16:creationId xmlns:a16="http://schemas.microsoft.com/office/drawing/2014/main" id="{EE500CEE-0009-45E0-8F6D-C00A70A79B33}"/>
              </a:ext>
            </a:extLst>
          </p:cNvPr>
          <p:cNvSpPr>
            <a:spLocks xmlns:a="http://schemas.openxmlformats.org/drawingml/2006/main" noGrp="1"/>
          </p:cNvSpPr>
          <p:nvPr/>
        </p:nvSpPr>
        <p:spPr>
          <a:xfrm xmlns:a="http://schemas.openxmlformats.org/drawingml/2006/main">
            <a:off x="4514850" y="2933700"/>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3,001–5,000; 5,001–7,000; 7,001–9,000</a:t>
            </a:r>
          </a:p>
        </p:txBody>
      </p:sp>
      <p:sp>
        <p:nvSpPr>
          <p:cNvPr id="22" name="">
            <a:extLst xmlns:a="http://schemas.openxmlformats.org/drawingml/2006/main">
              <a:ext uri="{FF2B5EF4-FFF2-40B4-BE49-F238E27FC236}">
                <a16:creationId xmlns:a16="http://schemas.microsoft.com/office/drawing/2014/main" id="{8BCBB56C-12B2-420B-A93C-7C24CB586BDB}"/>
              </a:ext>
            </a:extLst>
          </p:cNvPr>
          <p:cNvSpPr>
            <a:spLocks xmlns:a="http://schemas.openxmlformats.org/drawingml/2006/main" noGrp="1"/>
          </p:cNvSpPr>
          <p:nvPr/>
        </p:nvSpPr>
        <p:spPr>
          <a:xfrm xmlns:a="http://schemas.openxmlformats.org/drawingml/2006/main">
            <a:off x="609600" y="3200400"/>
            <a:ext cx="1238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23" name="">
            <a:extLst xmlns:a="http://schemas.openxmlformats.org/drawingml/2006/main">
              <a:ext uri="{FF2B5EF4-FFF2-40B4-BE49-F238E27FC236}">
                <a16:creationId xmlns:a16="http://schemas.microsoft.com/office/drawing/2014/main" id="{675E4CA1-BD52-4039-A5F1-C9E4A82E0DD4}"/>
              </a:ext>
            </a:extLst>
          </p:cNvPr>
          <p:cNvSpPr>
            <a:spLocks xmlns:a="http://schemas.openxmlformats.org/drawingml/2006/main" noGrp="1"/>
          </p:cNvSpPr>
          <p:nvPr/>
        </p:nvSpPr>
        <p:spPr>
          <a:xfrm xmlns:a="http://schemas.openxmlformats.org/drawingml/2006/main">
            <a:off x="742950" y="3267075"/>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3</a:t>
            </a:r>
          </a:p>
        </p:txBody>
      </p:sp>
      <p:sp>
        <p:nvSpPr>
          <p:cNvPr id="24" name="">
            <a:extLst xmlns:a="http://schemas.openxmlformats.org/drawingml/2006/main">
              <a:ext uri="{FF2B5EF4-FFF2-40B4-BE49-F238E27FC236}">
                <a16:creationId xmlns:a16="http://schemas.microsoft.com/office/drawing/2014/main" id="{D12CA494-AEDE-4BE8-86AA-689E2019A196}"/>
              </a:ext>
            </a:extLst>
          </p:cNvPr>
          <p:cNvSpPr>
            <a:spLocks xmlns:a="http://schemas.openxmlformats.org/drawingml/2006/main" noGrp="1"/>
          </p:cNvSpPr>
          <p:nvPr/>
        </p:nvSpPr>
        <p:spPr>
          <a:xfrm xmlns:a="http://schemas.openxmlformats.org/drawingml/2006/main">
            <a:off x="2000250" y="3200400"/>
            <a:ext cx="21907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25" name="">
            <a:extLst xmlns:a="http://schemas.openxmlformats.org/drawingml/2006/main">
              <a:ext uri="{FF2B5EF4-FFF2-40B4-BE49-F238E27FC236}">
                <a16:creationId xmlns:a16="http://schemas.microsoft.com/office/drawing/2014/main" id="{35AA9A89-B53A-45B2-A126-7596C27B57B1}"/>
              </a:ext>
            </a:extLst>
          </p:cNvPr>
          <p:cNvSpPr>
            <a:spLocks xmlns:a="http://schemas.openxmlformats.org/drawingml/2006/main" noGrp="1"/>
          </p:cNvSpPr>
          <p:nvPr/>
        </p:nvSpPr>
        <p:spPr>
          <a:xfrm xmlns:a="http://schemas.openxmlformats.org/drawingml/2006/main">
            <a:off x="2133600" y="3267075"/>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3,000</a:t>
            </a:r>
          </a:p>
        </p:txBody>
      </p:sp>
      <p:sp>
        <p:nvSpPr>
          <p:cNvPr id="26" name="">
            <a:extLst xmlns:a="http://schemas.openxmlformats.org/drawingml/2006/main">
              <a:ext uri="{FF2B5EF4-FFF2-40B4-BE49-F238E27FC236}">
                <a16:creationId xmlns:a16="http://schemas.microsoft.com/office/drawing/2014/main" id="{732A71B9-1E96-4437-8287-C0D966C49D7C}"/>
              </a:ext>
            </a:extLst>
          </p:cNvPr>
          <p:cNvSpPr>
            <a:spLocks xmlns:a="http://schemas.openxmlformats.org/drawingml/2006/main" noGrp="1"/>
          </p:cNvSpPr>
          <p:nvPr/>
        </p:nvSpPr>
        <p:spPr>
          <a:xfrm xmlns:a="http://schemas.openxmlformats.org/drawingml/2006/main">
            <a:off x="4381500" y="3200400"/>
            <a:ext cx="72009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27" name="">
            <a:extLst xmlns:a="http://schemas.openxmlformats.org/drawingml/2006/main">
              <a:ext uri="{FF2B5EF4-FFF2-40B4-BE49-F238E27FC236}">
                <a16:creationId xmlns:a16="http://schemas.microsoft.com/office/drawing/2014/main" id="{76BB95DC-9BAC-4519-8519-B604A8B7E02F}"/>
              </a:ext>
            </a:extLst>
          </p:cNvPr>
          <p:cNvSpPr>
            <a:spLocks xmlns:a="http://schemas.openxmlformats.org/drawingml/2006/main" noGrp="1"/>
          </p:cNvSpPr>
          <p:nvPr/>
        </p:nvSpPr>
        <p:spPr>
          <a:xfrm xmlns:a="http://schemas.openxmlformats.org/drawingml/2006/main">
            <a:off x="4514850" y="3267075"/>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9,001–12,000; 12,001–15,000; 15,001–18,000</a:t>
            </a:r>
          </a:p>
        </p:txBody>
      </p:sp>
      <p:sp>
        <p:nvSpPr>
          <p:cNvPr id="28" name="">
            <a:extLst xmlns:a="http://schemas.openxmlformats.org/drawingml/2006/main">
              <a:ext uri="{FF2B5EF4-FFF2-40B4-BE49-F238E27FC236}">
                <a16:creationId xmlns:a16="http://schemas.microsoft.com/office/drawing/2014/main" id="{DA815355-EA90-4E48-BF4C-744D86A7E2E0}"/>
              </a:ext>
            </a:extLst>
          </p:cNvPr>
          <p:cNvSpPr>
            <a:spLocks xmlns:a="http://schemas.openxmlformats.org/drawingml/2006/main" noGrp="1"/>
          </p:cNvSpPr>
          <p:nvPr/>
        </p:nvSpPr>
        <p:spPr>
          <a:xfrm xmlns:a="http://schemas.openxmlformats.org/drawingml/2006/main">
            <a:off x="609600" y="3533775"/>
            <a:ext cx="12382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29" name="">
            <a:extLst xmlns:a="http://schemas.openxmlformats.org/drawingml/2006/main">
              <a:ext uri="{FF2B5EF4-FFF2-40B4-BE49-F238E27FC236}">
                <a16:creationId xmlns:a16="http://schemas.microsoft.com/office/drawing/2014/main" id="{CB0F0FB9-72E4-4CC5-B66C-539087D1CE91}"/>
              </a:ext>
            </a:extLst>
          </p:cNvPr>
          <p:cNvSpPr>
            <a:spLocks xmlns:a="http://schemas.openxmlformats.org/drawingml/2006/main" noGrp="1"/>
          </p:cNvSpPr>
          <p:nvPr/>
        </p:nvSpPr>
        <p:spPr>
          <a:xfrm xmlns:a="http://schemas.openxmlformats.org/drawingml/2006/main">
            <a:off x="742950" y="360045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4</a:t>
            </a:r>
          </a:p>
        </p:txBody>
      </p:sp>
      <p:sp>
        <p:nvSpPr>
          <p:cNvPr id="30" name="">
            <a:extLst xmlns:a="http://schemas.openxmlformats.org/drawingml/2006/main">
              <a:ext uri="{FF2B5EF4-FFF2-40B4-BE49-F238E27FC236}">
                <a16:creationId xmlns:a16="http://schemas.microsoft.com/office/drawing/2014/main" id="{B8E01E79-EA30-4057-8D16-23C214F16B34}"/>
              </a:ext>
            </a:extLst>
          </p:cNvPr>
          <p:cNvSpPr>
            <a:spLocks xmlns:a="http://schemas.openxmlformats.org/drawingml/2006/main" noGrp="1"/>
          </p:cNvSpPr>
          <p:nvPr/>
        </p:nvSpPr>
        <p:spPr>
          <a:xfrm xmlns:a="http://schemas.openxmlformats.org/drawingml/2006/main">
            <a:off x="2000250" y="3533775"/>
            <a:ext cx="21907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31" name="">
            <a:extLst xmlns:a="http://schemas.openxmlformats.org/drawingml/2006/main">
              <a:ext uri="{FF2B5EF4-FFF2-40B4-BE49-F238E27FC236}">
                <a16:creationId xmlns:a16="http://schemas.microsoft.com/office/drawing/2014/main" id="{DEF0B212-07B6-483D-A4D4-D99DC7C0769E}"/>
              </a:ext>
            </a:extLst>
          </p:cNvPr>
          <p:cNvSpPr>
            <a:spLocks xmlns:a="http://schemas.openxmlformats.org/drawingml/2006/main" noGrp="1"/>
          </p:cNvSpPr>
          <p:nvPr/>
        </p:nvSpPr>
        <p:spPr>
          <a:xfrm xmlns:a="http://schemas.openxmlformats.org/drawingml/2006/main">
            <a:off x="2133600" y="3600450"/>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4,000</a:t>
            </a:r>
          </a:p>
        </p:txBody>
      </p:sp>
      <p:sp>
        <p:nvSpPr>
          <p:cNvPr id="32" name="">
            <a:extLst xmlns:a="http://schemas.openxmlformats.org/drawingml/2006/main">
              <a:ext uri="{FF2B5EF4-FFF2-40B4-BE49-F238E27FC236}">
                <a16:creationId xmlns:a16="http://schemas.microsoft.com/office/drawing/2014/main" id="{03C34138-3563-4FBA-B830-5280233E2482}"/>
              </a:ext>
            </a:extLst>
          </p:cNvPr>
          <p:cNvSpPr>
            <a:spLocks xmlns:a="http://schemas.openxmlformats.org/drawingml/2006/main" noGrp="1"/>
          </p:cNvSpPr>
          <p:nvPr/>
        </p:nvSpPr>
        <p:spPr>
          <a:xfrm xmlns:a="http://schemas.openxmlformats.org/drawingml/2006/main">
            <a:off x="4381500" y="3533775"/>
            <a:ext cx="720090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33" name="">
            <a:extLst xmlns:a="http://schemas.openxmlformats.org/drawingml/2006/main">
              <a:ext uri="{FF2B5EF4-FFF2-40B4-BE49-F238E27FC236}">
                <a16:creationId xmlns:a16="http://schemas.microsoft.com/office/drawing/2014/main" id="{B66E41D4-8B84-4E6A-A0B0-5D59390391D6}"/>
              </a:ext>
            </a:extLst>
          </p:cNvPr>
          <p:cNvSpPr>
            <a:spLocks xmlns:a="http://schemas.openxmlformats.org/drawingml/2006/main" noGrp="1"/>
          </p:cNvSpPr>
          <p:nvPr/>
        </p:nvSpPr>
        <p:spPr>
          <a:xfrm xmlns:a="http://schemas.openxmlformats.org/drawingml/2006/main">
            <a:off x="4514850" y="3600450"/>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18,001–22,000; 22,001–26,000; 26,001–30,000</a:t>
            </a:r>
          </a:p>
        </p:txBody>
      </p:sp>
      <p:sp>
        <p:nvSpPr>
          <p:cNvPr id="34" name="">
            <a:extLst xmlns:a="http://schemas.openxmlformats.org/drawingml/2006/main">
              <a:ext uri="{FF2B5EF4-FFF2-40B4-BE49-F238E27FC236}">
                <a16:creationId xmlns:a16="http://schemas.microsoft.com/office/drawing/2014/main" id="{6FD9FC92-2BE0-4571-85D1-FB480343BE1D}"/>
              </a:ext>
            </a:extLst>
          </p:cNvPr>
          <p:cNvSpPr>
            <a:spLocks xmlns:a="http://schemas.openxmlformats.org/drawingml/2006/main" noGrp="1"/>
          </p:cNvSpPr>
          <p:nvPr/>
        </p:nvSpPr>
        <p:spPr>
          <a:xfrm xmlns:a="http://schemas.openxmlformats.org/drawingml/2006/main">
            <a:off x="609600" y="3867150"/>
            <a:ext cx="1238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35" name="">
            <a:extLst xmlns:a="http://schemas.openxmlformats.org/drawingml/2006/main">
              <a:ext uri="{FF2B5EF4-FFF2-40B4-BE49-F238E27FC236}">
                <a16:creationId xmlns:a16="http://schemas.microsoft.com/office/drawing/2014/main" id="{183BDE86-40E6-46E0-B6FF-7567C0A3BB8E}"/>
              </a:ext>
            </a:extLst>
          </p:cNvPr>
          <p:cNvSpPr>
            <a:spLocks xmlns:a="http://schemas.openxmlformats.org/drawingml/2006/main" noGrp="1"/>
          </p:cNvSpPr>
          <p:nvPr/>
        </p:nvSpPr>
        <p:spPr>
          <a:xfrm xmlns:a="http://schemas.openxmlformats.org/drawingml/2006/main">
            <a:off x="742950" y="3933825"/>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5</a:t>
            </a:r>
          </a:p>
        </p:txBody>
      </p:sp>
      <p:sp>
        <p:nvSpPr>
          <p:cNvPr id="36" name="">
            <a:extLst xmlns:a="http://schemas.openxmlformats.org/drawingml/2006/main">
              <a:ext uri="{FF2B5EF4-FFF2-40B4-BE49-F238E27FC236}">
                <a16:creationId xmlns:a16="http://schemas.microsoft.com/office/drawing/2014/main" id="{0AD237B4-DA3B-4BB9-92F4-C3B2892B5E33}"/>
              </a:ext>
            </a:extLst>
          </p:cNvPr>
          <p:cNvSpPr>
            <a:spLocks xmlns:a="http://schemas.openxmlformats.org/drawingml/2006/main" noGrp="1"/>
          </p:cNvSpPr>
          <p:nvPr/>
        </p:nvSpPr>
        <p:spPr>
          <a:xfrm xmlns:a="http://schemas.openxmlformats.org/drawingml/2006/main">
            <a:off x="2000250" y="3867150"/>
            <a:ext cx="21907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37" name="">
            <a:extLst xmlns:a="http://schemas.openxmlformats.org/drawingml/2006/main">
              <a:ext uri="{FF2B5EF4-FFF2-40B4-BE49-F238E27FC236}">
                <a16:creationId xmlns:a16="http://schemas.microsoft.com/office/drawing/2014/main" id="{0DAA2222-FF35-45DB-AB6D-8EFB589CA232}"/>
              </a:ext>
            </a:extLst>
          </p:cNvPr>
          <p:cNvSpPr>
            <a:spLocks xmlns:a="http://schemas.openxmlformats.org/drawingml/2006/main" noGrp="1"/>
          </p:cNvSpPr>
          <p:nvPr/>
        </p:nvSpPr>
        <p:spPr>
          <a:xfrm xmlns:a="http://schemas.openxmlformats.org/drawingml/2006/main">
            <a:off x="2133600" y="3933825"/>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5,000</a:t>
            </a:r>
          </a:p>
        </p:txBody>
      </p:sp>
      <p:sp>
        <p:nvSpPr>
          <p:cNvPr id="38" name="">
            <a:extLst xmlns:a="http://schemas.openxmlformats.org/drawingml/2006/main">
              <a:ext uri="{FF2B5EF4-FFF2-40B4-BE49-F238E27FC236}">
                <a16:creationId xmlns:a16="http://schemas.microsoft.com/office/drawing/2014/main" id="{A54659D7-B05E-47C0-9F4E-74798ADC6835}"/>
              </a:ext>
            </a:extLst>
          </p:cNvPr>
          <p:cNvSpPr>
            <a:spLocks xmlns:a="http://schemas.openxmlformats.org/drawingml/2006/main" noGrp="1"/>
          </p:cNvSpPr>
          <p:nvPr/>
        </p:nvSpPr>
        <p:spPr>
          <a:xfrm xmlns:a="http://schemas.openxmlformats.org/drawingml/2006/main">
            <a:off x="4381500" y="3867150"/>
            <a:ext cx="72009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39" name="">
            <a:extLst xmlns:a="http://schemas.openxmlformats.org/drawingml/2006/main">
              <a:ext uri="{FF2B5EF4-FFF2-40B4-BE49-F238E27FC236}">
                <a16:creationId xmlns:a16="http://schemas.microsoft.com/office/drawing/2014/main" id="{16F8D8E3-6D3B-4024-8F36-0F087210B75D}"/>
              </a:ext>
            </a:extLst>
          </p:cNvPr>
          <p:cNvSpPr>
            <a:spLocks xmlns:a="http://schemas.openxmlformats.org/drawingml/2006/main" noGrp="1"/>
          </p:cNvSpPr>
          <p:nvPr/>
        </p:nvSpPr>
        <p:spPr>
          <a:xfrm xmlns:a="http://schemas.openxmlformats.org/drawingml/2006/main">
            <a:off x="4514850" y="3933825"/>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30,001–35,000; 35,001–40,000; 40,001–45,000</a:t>
            </a:r>
          </a:p>
        </p:txBody>
      </p:sp>
      <p:sp>
        <p:nvSpPr>
          <p:cNvPr id="40" name="">
            <a:extLst xmlns:a="http://schemas.openxmlformats.org/drawingml/2006/main">
              <a:ext uri="{FF2B5EF4-FFF2-40B4-BE49-F238E27FC236}">
                <a16:creationId xmlns:a16="http://schemas.microsoft.com/office/drawing/2014/main" id="{EB400BC4-29FC-4665-9C1D-A61043A1B5C5}"/>
              </a:ext>
            </a:extLst>
          </p:cNvPr>
          <p:cNvSpPr>
            <a:spLocks xmlns:a="http://schemas.openxmlformats.org/drawingml/2006/main" noGrp="1"/>
          </p:cNvSpPr>
          <p:nvPr/>
        </p:nvSpPr>
        <p:spPr>
          <a:xfrm xmlns:a="http://schemas.openxmlformats.org/drawingml/2006/main">
            <a:off x="609600" y="4200525"/>
            <a:ext cx="12382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41" name="">
            <a:extLst xmlns:a="http://schemas.openxmlformats.org/drawingml/2006/main">
              <a:ext uri="{FF2B5EF4-FFF2-40B4-BE49-F238E27FC236}">
                <a16:creationId xmlns:a16="http://schemas.microsoft.com/office/drawing/2014/main" id="{AA5B6692-1BD2-4455-8F23-D369004C70FC}"/>
              </a:ext>
            </a:extLst>
          </p:cNvPr>
          <p:cNvSpPr>
            <a:spLocks xmlns:a="http://schemas.openxmlformats.org/drawingml/2006/main" noGrp="1"/>
          </p:cNvSpPr>
          <p:nvPr/>
        </p:nvSpPr>
        <p:spPr>
          <a:xfrm xmlns:a="http://schemas.openxmlformats.org/drawingml/2006/main">
            <a:off x="742950" y="426720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6</a:t>
            </a:r>
          </a:p>
        </p:txBody>
      </p:sp>
      <p:sp>
        <p:nvSpPr>
          <p:cNvPr id="42" name="">
            <a:extLst xmlns:a="http://schemas.openxmlformats.org/drawingml/2006/main">
              <a:ext uri="{FF2B5EF4-FFF2-40B4-BE49-F238E27FC236}">
                <a16:creationId xmlns:a16="http://schemas.microsoft.com/office/drawing/2014/main" id="{C2F81B9A-66E1-4491-A576-D0F12AB41D43}"/>
              </a:ext>
            </a:extLst>
          </p:cNvPr>
          <p:cNvSpPr>
            <a:spLocks xmlns:a="http://schemas.openxmlformats.org/drawingml/2006/main" noGrp="1"/>
          </p:cNvSpPr>
          <p:nvPr/>
        </p:nvSpPr>
        <p:spPr>
          <a:xfrm xmlns:a="http://schemas.openxmlformats.org/drawingml/2006/main">
            <a:off x="2000250" y="4200525"/>
            <a:ext cx="21907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43" name="">
            <a:extLst xmlns:a="http://schemas.openxmlformats.org/drawingml/2006/main">
              <a:ext uri="{FF2B5EF4-FFF2-40B4-BE49-F238E27FC236}">
                <a16:creationId xmlns:a16="http://schemas.microsoft.com/office/drawing/2014/main" id="{2226CBF5-683B-42FD-BCD7-1BB79252E134}"/>
              </a:ext>
            </a:extLst>
          </p:cNvPr>
          <p:cNvSpPr>
            <a:spLocks xmlns:a="http://schemas.openxmlformats.org/drawingml/2006/main" noGrp="1"/>
          </p:cNvSpPr>
          <p:nvPr/>
        </p:nvSpPr>
        <p:spPr>
          <a:xfrm xmlns:a="http://schemas.openxmlformats.org/drawingml/2006/main">
            <a:off x="2133600" y="4267200"/>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6,000</a:t>
            </a:r>
          </a:p>
        </p:txBody>
      </p:sp>
      <p:sp>
        <p:nvSpPr>
          <p:cNvPr id="44" name="">
            <a:extLst xmlns:a="http://schemas.openxmlformats.org/drawingml/2006/main">
              <a:ext uri="{FF2B5EF4-FFF2-40B4-BE49-F238E27FC236}">
                <a16:creationId xmlns:a16="http://schemas.microsoft.com/office/drawing/2014/main" id="{BA991821-11E6-4A46-A22A-6174844849D4}"/>
              </a:ext>
            </a:extLst>
          </p:cNvPr>
          <p:cNvSpPr>
            <a:spLocks xmlns:a="http://schemas.openxmlformats.org/drawingml/2006/main" noGrp="1"/>
          </p:cNvSpPr>
          <p:nvPr/>
        </p:nvSpPr>
        <p:spPr>
          <a:xfrm xmlns:a="http://schemas.openxmlformats.org/drawingml/2006/main">
            <a:off x="4381500" y="4200525"/>
            <a:ext cx="720090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45" name="">
            <a:extLst xmlns:a="http://schemas.openxmlformats.org/drawingml/2006/main">
              <a:ext uri="{FF2B5EF4-FFF2-40B4-BE49-F238E27FC236}">
                <a16:creationId xmlns:a16="http://schemas.microsoft.com/office/drawing/2014/main" id="{DB00E868-EAB6-460B-8C08-15F8AC928ED2}"/>
              </a:ext>
            </a:extLst>
          </p:cNvPr>
          <p:cNvSpPr>
            <a:spLocks xmlns:a="http://schemas.openxmlformats.org/drawingml/2006/main" noGrp="1"/>
          </p:cNvSpPr>
          <p:nvPr/>
        </p:nvSpPr>
        <p:spPr>
          <a:xfrm xmlns:a="http://schemas.openxmlformats.org/drawingml/2006/main">
            <a:off x="4514850" y="4267200"/>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45,001–51,000; 51,001–57,000; 57,001–63,000</a:t>
            </a:r>
          </a:p>
        </p:txBody>
      </p:sp>
      <p:sp>
        <p:nvSpPr>
          <p:cNvPr id="46" name="">
            <a:extLst xmlns:a="http://schemas.openxmlformats.org/drawingml/2006/main">
              <a:ext uri="{FF2B5EF4-FFF2-40B4-BE49-F238E27FC236}">
                <a16:creationId xmlns:a16="http://schemas.microsoft.com/office/drawing/2014/main" id="{AC9F53FD-6107-4AAF-BA48-75A481CBEA35}"/>
              </a:ext>
            </a:extLst>
          </p:cNvPr>
          <p:cNvSpPr>
            <a:spLocks xmlns:a="http://schemas.openxmlformats.org/drawingml/2006/main" noGrp="1"/>
          </p:cNvSpPr>
          <p:nvPr/>
        </p:nvSpPr>
        <p:spPr>
          <a:xfrm xmlns:a="http://schemas.openxmlformats.org/drawingml/2006/main">
            <a:off x="609600" y="4533900"/>
            <a:ext cx="1238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47" name="">
            <a:extLst xmlns:a="http://schemas.openxmlformats.org/drawingml/2006/main">
              <a:ext uri="{FF2B5EF4-FFF2-40B4-BE49-F238E27FC236}">
                <a16:creationId xmlns:a16="http://schemas.microsoft.com/office/drawing/2014/main" id="{DDDD9C1C-F6A8-4C7E-9055-2B25C466D617}"/>
              </a:ext>
            </a:extLst>
          </p:cNvPr>
          <p:cNvSpPr>
            <a:spLocks xmlns:a="http://schemas.openxmlformats.org/drawingml/2006/main" noGrp="1"/>
          </p:cNvSpPr>
          <p:nvPr/>
        </p:nvSpPr>
        <p:spPr>
          <a:xfrm xmlns:a="http://schemas.openxmlformats.org/drawingml/2006/main">
            <a:off x="742950" y="4600575"/>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7</a:t>
            </a:r>
          </a:p>
        </p:txBody>
      </p:sp>
      <p:sp>
        <p:nvSpPr>
          <p:cNvPr id="48" name="">
            <a:extLst xmlns:a="http://schemas.openxmlformats.org/drawingml/2006/main">
              <a:ext uri="{FF2B5EF4-FFF2-40B4-BE49-F238E27FC236}">
                <a16:creationId xmlns:a16="http://schemas.microsoft.com/office/drawing/2014/main" id="{6BDB974B-9B39-45AC-BE59-81B549794332}"/>
              </a:ext>
            </a:extLst>
          </p:cNvPr>
          <p:cNvSpPr>
            <a:spLocks xmlns:a="http://schemas.openxmlformats.org/drawingml/2006/main" noGrp="1"/>
          </p:cNvSpPr>
          <p:nvPr/>
        </p:nvSpPr>
        <p:spPr>
          <a:xfrm xmlns:a="http://schemas.openxmlformats.org/drawingml/2006/main">
            <a:off x="2000250" y="4533900"/>
            <a:ext cx="21907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49" name="">
            <a:extLst xmlns:a="http://schemas.openxmlformats.org/drawingml/2006/main">
              <a:ext uri="{FF2B5EF4-FFF2-40B4-BE49-F238E27FC236}">
                <a16:creationId xmlns:a16="http://schemas.microsoft.com/office/drawing/2014/main" id="{26460EAE-C7DD-47DD-B6CA-54579538E506}"/>
              </a:ext>
            </a:extLst>
          </p:cNvPr>
          <p:cNvSpPr>
            <a:spLocks xmlns:a="http://schemas.openxmlformats.org/drawingml/2006/main" noGrp="1"/>
          </p:cNvSpPr>
          <p:nvPr/>
        </p:nvSpPr>
        <p:spPr>
          <a:xfrm xmlns:a="http://schemas.openxmlformats.org/drawingml/2006/main">
            <a:off x="2133600" y="4600575"/>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7,000</a:t>
            </a:r>
          </a:p>
        </p:txBody>
      </p:sp>
      <p:sp>
        <p:nvSpPr>
          <p:cNvPr id="50" name="">
            <a:extLst xmlns:a="http://schemas.openxmlformats.org/drawingml/2006/main">
              <a:ext uri="{FF2B5EF4-FFF2-40B4-BE49-F238E27FC236}">
                <a16:creationId xmlns:a16="http://schemas.microsoft.com/office/drawing/2014/main" id="{A7631112-6C68-4C65-8B96-B6256C27B2BA}"/>
              </a:ext>
            </a:extLst>
          </p:cNvPr>
          <p:cNvSpPr>
            <a:spLocks xmlns:a="http://schemas.openxmlformats.org/drawingml/2006/main" noGrp="1"/>
          </p:cNvSpPr>
          <p:nvPr/>
        </p:nvSpPr>
        <p:spPr>
          <a:xfrm xmlns:a="http://schemas.openxmlformats.org/drawingml/2006/main">
            <a:off x="4381500" y="4533900"/>
            <a:ext cx="72009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51" name="">
            <a:extLst xmlns:a="http://schemas.openxmlformats.org/drawingml/2006/main">
              <a:ext uri="{FF2B5EF4-FFF2-40B4-BE49-F238E27FC236}">
                <a16:creationId xmlns:a16="http://schemas.microsoft.com/office/drawing/2014/main" id="{31BB6E73-99FE-453E-ACEA-C96DA898433D}"/>
              </a:ext>
            </a:extLst>
          </p:cNvPr>
          <p:cNvSpPr>
            <a:spLocks xmlns:a="http://schemas.openxmlformats.org/drawingml/2006/main" noGrp="1"/>
          </p:cNvSpPr>
          <p:nvPr/>
        </p:nvSpPr>
        <p:spPr>
          <a:xfrm xmlns:a="http://schemas.openxmlformats.org/drawingml/2006/main">
            <a:off x="4514850" y="4600575"/>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63,001–70,000; 70,001–77,000; 77,001–84,000</a:t>
            </a:r>
          </a:p>
        </p:txBody>
      </p:sp>
      <p:sp>
        <p:nvSpPr>
          <p:cNvPr id="52" name="">
            <a:extLst xmlns:a="http://schemas.openxmlformats.org/drawingml/2006/main">
              <a:ext uri="{FF2B5EF4-FFF2-40B4-BE49-F238E27FC236}">
                <a16:creationId xmlns:a16="http://schemas.microsoft.com/office/drawing/2014/main" id="{F17174D5-D701-476A-9D30-82C2BF2235AA}"/>
              </a:ext>
            </a:extLst>
          </p:cNvPr>
          <p:cNvSpPr>
            <a:spLocks xmlns:a="http://schemas.openxmlformats.org/drawingml/2006/main" noGrp="1"/>
          </p:cNvSpPr>
          <p:nvPr/>
        </p:nvSpPr>
        <p:spPr>
          <a:xfrm xmlns:a="http://schemas.openxmlformats.org/drawingml/2006/main">
            <a:off x="609600" y="4867275"/>
            <a:ext cx="12382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53" name="">
            <a:extLst xmlns:a="http://schemas.openxmlformats.org/drawingml/2006/main">
              <a:ext uri="{FF2B5EF4-FFF2-40B4-BE49-F238E27FC236}">
                <a16:creationId xmlns:a16="http://schemas.microsoft.com/office/drawing/2014/main" id="{F40A14FF-A2F3-4D3D-A599-34489EFC18F5}"/>
              </a:ext>
            </a:extLst>
          </p:cNvPr>
          <p:cNvSpPr>
            <a:spLocks xmlns:a="http://schemas.openxmlformats.org/drawingml/2006/main" noGrp="1"/>
          </p:cNvSpPr>
          <p:nvPr/>
        </p:nvSpPr>
        <p:spPr>
          <a:xfrm xmlns:a="http://schemas.openxmlformats.org/drawingml/2006/main">
            <a:off x="742950" y="493395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8</a:t>
            </a:r>
          </a:p>
        </p:txBody>
      </p:sp>
      <p:sp>
        <p:nvSpPr>
          <p:cNvPr id="54" name="">
            <a:extLst xmlns:a="http://schemas.openxmlformats.org/drawingml/2006/main">
              <a:ext uri="{FF2B5EF4-FFF2-40B4-BE49-F238E27FC236}">
                <a16:creationId xmlns:a16="http://schemas.microsoft.com/office/drawing/2014/main" id="{0E94B4F1-65AB-4DC1-9A6A-46CCD265F88C}"/>
              </a:ext>
            </a:extLst>
          </p:cNvPr>
          <p:cNvSpPr>
            <a:spLocks xmlns:a="http://schemas.openxmlformats.org/drawingml/2006/main" noGrp="1"/>
          </p:cNvSpPr>
          <p:nvPr/>
        </p:nvSpPr>
        <p:spPr>
          <a:xfrm xmlns:a="http://schemas.openxmlformats.org/drawingml/2006/main">
            <a:off x="2000250" y="4867275"/>
            <a:ext cx="21907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55" name="">
            <a:extLst xmlns:a="http://schemas.openxmlformats.org/drawingml/2006/main">
              <a:ext uri="{FF2B5EF4-FFF2-40B4-BE49-F238E27FC236}">
                <a16:creationId xmlns:a16="http://schemas.microsoft.com/office/drawing/2014/main" id="{61CD278B-4AC4-47C0-AED0-21144B7B82C2}"/>
              </a:ext>
            </a:extLst>
          </p:cNvPr>
          <p:cNvSpPr>
            <a:spLocks xmlns:a="http://schemas.openxmlformats.org/drawingml/2006/main" noGrp="1"/>
          </p:cNvSpPr>
          <p:nvPr/>
        </p:nvSpPr>
        <p:spPr>
          <a:xfrm xmlns:a="http://schemas.openxmlformats.org/drawingml/2006/main">
            <a:off x="2133600" y="4933950"/>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8,000</a:t>
            </a:r>
          </a:p>
        </p:txBody>
      </p:sp>
      <p:sp>
        <p:nvSpPr>
          <p:cNvPr id="56" name="">
            <a:extLst xmlns:a="http://schemas.openxmlformats.org/drawingml/2006/main">
              <a:ext uri="{FF2B5EF4-FFF2-40B4-BE49-F238E27FC236}">
                <a16:creationId xmlns:a16="http://schemas.microsoft.com/office/drawing/2014/main" id="{BDBF9CEE-8E1E-45E9-9030-0A706505108E}"/>
              </a:ext>
            </a:extLst>
          </p:cNvPr>
          <p:cNvSpPr>
            <a:spLocks xmlns:a="http://schemas.openxmlformats.org/drawingml/2006/main" noGrp="1"/>
          </p:cNvSpPr>
          <p:nvPr/>
        </p:nvSpPr>
        <p:spPr>
          <a:xfrm xmlns:a="http://schemas.openxmlformats.org/drawingml/2006/main">
            <a:off x="4381500" y="4867275"/>
            <a:ext cx="720090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57" name="">
            <a:extLst xmlns:a="http://schemas.openxmlformats.org/drawingml/2006/main">
              <a:ext uri="{FF2B5EF4-FFF2-40B4-BE49-F238E27FC236}">
                <a16:creationId xmlns:a16="http://schemas.microsoft.com/office/drawing/2014/main" id="{3A916907-7E15-450B-952F-47D1487AF584}"/>
              </a:ext>
            </a:extLst>
          </p:cNvPr>
          <p:cNvSpPr>
            <a:spLocks xmlns:a="http://schemas.openxmlformats.org/drawingml/2006/main" noGrp="1"/>
          </p:cNvSpPr>
          <p:nvPr/>
        </p:nvSpPr>
        <p:spPr>
          <a:xfrm xmlns:a="http://schemas.openxmlformats.org/drawingml/2006/main">
            <a:off x="4514850" y="4933950"/>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84,001–92,000; 92,001–100,000; 100,001–108,000</a:t>
            </a:r>
          </a:p>
        </p:txBody>
      </p:sp>
      <p:sp>
        <p:nvSpPr>
          <p:cNvPr id="58" name="">
            <a:extLst xmlns:a="http://schemas.openxmlformats.org/drawingml/2006/main">
              <a:ext uri="{FF2B5EF4-FFF2-40B4-BE49-F238E27FC236}">
                <a16:creationId xmlns:a16="http://schemas.microsoft.com/office/drawing/2014/main" id="{0F2ECDE9-4024-4E4E-9EE9-9D4B58B41C2C}"/>
              </a:ext>
            </a:extLst>
          </p:cNvPr>
          <p:cNvSpPr>
            <a:spLocks xmlns:a="http://schemas.openxmlformats.org/drawingml/2006/main" noGrp="1"/>
          </p:cNvSpPr>
          <p:nvPr/>
        </p:nvSpPr>
        <p:spPr>
          <a:xfrm xmlns:a="http://schemas.openxmlformats.org/drawingml/2006/main">
            <a:off x="609600" y="5200650"/>
            <a:ext cx="1238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59" name="">
            <a:extLst xmlns:a="http://schemas.openxmlformats.org/drawingml/2006/main">
              <a:ext uri="{FF2B5EF4-FFF2-40B4-BE49-F238E27FC236}">
                <a16:creationId xmlns:a16="http://schemas.microsoft.com/office/drawing/2014/main" id="{E07E7035-29C8-4EED-BCE4-EF5F1366B6F2}"/>
              </a:ext>
            </a:extLst>
          </p:cNvPr>
          <p:cNvSpPr>
            <a:spLocks xmlns:a="http://schemas.openxmlformats.org/drawingml/2006/main" noGrp="1"/>
          </p:cNvSpPr>
          <p:nvPr/>
        </p:nvSpPr>
        <p:spPr>
          <a:xfrm xmlns:a="http://schemas.openxmlformats.org/drawingml/2006/main">
            <a:off x="742950" y="5267325"/>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9</a:t>
            </a:r>
          </a:p>
        </p:txBody>
      </p:sp>
      <p:sp>
        <p:nvSpPr>
          <p:cNvPr id="60" name="">
            <a:extLst xmlns:a="http://schemas.openxmlformats.org/drawingml/2006/main">
              <a:ext uri="{FF2B5EF4-FFF2-40B4-BE49-F238E27FC236}">
                <a16:creationId xmlns:a16="http://schemas.microsoft.com/office/drawing/2014/main" id="{1F891AC1-C000-4D65-B1B4-02B0920953CF}"/>
              </a:ext>
            </a:extLst>
          </p:cNvPr>
          <p:cNvSpPr>
            <a:spLocks xmlns:a="http://schemas.openxmlformats.org/drawingml/2006/main" noGrp="1"/>
          </p:cNvSpPr>
          <p:nvPr/>
        </p:nvSpPr>
        <p:spPr>
          <a:xfrm xmlns:a="http://schemas.openxmlformats.org/drawingml/2006/main">
            <a:off x="2000250" y="5200650"/>
            <a:ext cx="21907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61" name="">
            <a:extLst xmlns:a="http://schemas.openxmlformats.org/drawingml/2006/main">
              <a:ext uri="{FF2B5EF4-FFF2-40B4-BE49-F238E27FC236}">
                <a16:creationId xmlns:a16="http://schemas.microsoft.com/office/drawing/2014/main" id="{E0AD5248-B14D-4C36-B141-416B5D9CE240}"/>
              </a:ext>
            </a:extLst>
          </p:cNvPr>
          <p:cNvSpPr>
            <a:spLocks xmlns:a="http://schemas.openxmlformats.org/drawingml/2006/main" noGrp="1"/>
          </p:cNvSpPr>
          <p:nvPr/>
        </p:nvSpPr>
        <p:spPr>
          <a:xfrm xmlns:a="http://schemas.openxmlformats.org/drawingml/2006/main">
            <a:off x="2133600" y="5267325"/>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9,000</a:t>
            </a:r>
          </a:p>
        </p:txBody>
      </p:sp>
      <p:sp>
        <p:nvSpPr>
          <p:cNvPr id="62" name="">
            <a:extLst xmlns:a="http://schemas.openxmlformats.org/drawingml/2006/main">
              <a:ext uri="{FF2B5EF4-FFF2-40B4-BE49-F238E27FC236}">
                <a16:creationId xmlns:a16="http://schemas.microsoft.com/office/drawing/2014/main" id="{589BFCE8-9C25-4EFD-AD14-4DCAB2AA5408}"/>
              </a:ext>
            </a:extLst>
          </p:cNvPr>
          <p:cNvSpPr>
            <a:spLocks xmlns:a="http://schemas.openxmlformats.org/drawingml/2006/main" noGrp="1"/>
          </p:cNvSpPr>
          <p:nvPr/>
        </p:nvSpPr>
        <p:spPr>
          <a:xfrm xmlns:a="http://schemas.openxmlformats.org/drawingml/2006/main">
            <a:off x="4381500" y="5200650"/>
            <a:ext cx="72009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63" name="">
            <a:extLst xmlns:a="http://schemas.openxmlformats.org/drawingml/2006/main">
              <a:ext uri="{FF2B5EF4-FFF2-40B4-BE49-F238E27FC236}">
                <a16:creationId xmlns:a16="http://schemas.microsoft.com/office/drawing/2014/main" id="{537E5966-74C2-4A45-992E-DA47FE42DF1A}"/>
              </a:ext>
            </a:extLst>
          </p:cNvPr>
          <p:cNvSpPr>
            <a:spLocks xmlns:a="http://schemas.openxmlformats.org/drawingml/2006/main" noGrp="1"/>
          </p:cNvSpPr>
          <p:nvPr/>
        </p:nvSpPr>
        <p:spPr>
          <a:xfrm xmlns:a="http://schemas.openxmlformats.org/drawingml/2006/main">
            <a:off x="4514850" y="5267325"/>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108,001–117,000; 117,001–126,000; 126,001–135,000</a:t>
            </a:r>
          </a:p>
        </p:txBody>
      </p:sp>
      <p:sp>
        <p:nvSpPr>
          <p:cNvPr id="64" name="">
            <a:extLst xmlns:a="http://schemas.openxmlformats.org/drawingml/2006/main">
              <a:ext uri="{FF2B5EF4-FFF2-40B4-BE49-F238E27FC236}">
                <a16:creationId xmlns:a16="http://schemas.microsoft.com/office/drawing/2014/main" id="{D9BE3333-349A-4C35-9188-6774700DBD18}"/>
              </a:ext>
            </a:extLst>
          </p:cNvPr>
          <p:cNvSpPr>
            <a:spLocks xmlns:a="http://schemas.openxmlformats.org/drawingml/2006/main" noGrp="1"/>
          </p:cNvSpPr>
          <p:nvPr/>
        </p:nvSpPr>
        <p:spPr>
          <a:xfrm xmlns:a="http://schemas.openxmlformats.org/drawingml/2006/main">
            <a:off x="609600" y="5534025"/>
            <a:ext cx="12382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65" name="">
            <a:extLst xmlns:a="http://schemas.openxmlformats.org/drawingml/2006/main">
              <a:ext uri="{FF2B5EF4-FFF2-40B4-BE49-F238E27FC236}">
                <a16:creationId xmlns:a16="http://schemas.microsoft.com/office/drawing/2014/main" id="{15053C63-7B75-4C1C-B57E-5DF08213AAAE}"/>
              </a:ext>
            </a:extLst>
          </p:cNvPr>
          <p:cNvSpPr>
            <a:spLocks xmlns:a="http://schemas.openxmlformats.org/drawingml/2006/main" noGrp="1"/>
          </p:cNvSpPr>
          <p:nvPr/>
        </p:nvSpPr>
        <p:spPr>
          <a:xfrm xmlns:a="http://schemas.openxmlformats.org/drawingml/2006/main">
            <a:off x="742950" y="560070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1">
                <a:solidFill>
                  <a:srgbClr val="203040"/>
                </a:solidFill>
                <a:latin typeface="Arial"/>
                <a:ea typeface="Arial"/>
                <a:cs typeface="Arial"/>
              </a:defRPr>
            </a:defPPr>
          </a:lstStyle>
          <a:p xmlns:a="http://schemas.openxmlformats.org/drawingml/2006/main">
            <a:pPr algn="l">
              <a:defRPr sz="1125" b="1">
                <a:solidFill>
                  <a:srgbClr val="203040"/>
                </a:solidFill>
                <a:latin typeface="Arial"/>
                <a:ea typeface="Arial"/>
                <a:cs typeface="Arial"/>
              </a:defRPr>
            </a:pPr>
            <a:r>
              <a:rPr sz="1125" b="1">
                <a:solidFill>
                  <a:srgbClr val="203040"/>
                </a:solidFill>
                <a:latin typeface="Arial"/>
                <a:ea typeface="Arial"/>
                <a:cs typeface="Arial"/>
              </a:rPr>
              <a:t>10</a:t>
            </a:r>
          </a:p>
        </p:txBody>
      </p:sp>
      <p:sp>
        <p:nvSpPr>
          <p:cNvPr id="66" name="">
            <a:extLst xmlns:a="http://schemas.openxmlformats.org/drawingml/2006/main">
              <a:ext uri="{FF2B5EF4-FFF2-40B4-BE49-F238E27FC236}">
                <a16:creationId xmlns:a16="http://schemas.microsoft.com/office/drawing/2014/main" id="{5DB38A89-7556-4D7B-968A-8A301070851C}"/>
              </a:ext>
            </a:extLst>
          </p:cNvPr>
          <p:cNvSpPr>
            <a:spLocks xmlns:a="http://schemas.openxmlformats.org/drawingml/2006/main" noGrp="1"/>
          </p:cNvSpPr>
          <p:nvPr/>
        </p:nvSpPr>
        <p:spPr>
          <a:xfrm xmlns:a="http://schemas.openxmlformats.org/drawingml/2006/main">
            <a:off x="2000250" y="5534025"/>
            <a:ext cx="219075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67" name="">
            <a:extLst xmlns:a="http://schemas.openxmlformats.org/drawingml/2006/main">
              <a:ext uri="{FF2B5EF4-FFF2-40B4-BE49-F238E27FC236}">
                <a16:creationId xmlns:a16="http://schemas.microsoft.com/office/drawing/2014/main" id="{FCE92E00-C7C5-4B12-BCD2-A853435BD459}"/>
              </a:ext>
            </a:extLst>
          </p:cNvPr>
          <p:cNvSpPr>
            <a:spLocks xmlns:a="http://schemas.openxmlformats.org/drawingml/2006/main" noGrp="1"/>
          </p:cNvSpPr>
          <p:nvPr/>
        </p:nvSpPr>
        <p:spPr>
          <a:xfrm xmlns:a="http://schemas.openxmlformats.org/drawingml/2006/main">
            <a:off x="2133600" y="5600700"/>
            <a:ext cx="1924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10,000</a:t>
            </a:r>
          </a:p>
        </p:txBody>
      </p:sp>
      <p:sp>
        <p:nvSpPr>
          <p:cNvPr id="68" name="">
            <a:extLst xmlns:a="http://schemas.openxmlformats.org/drawingml/2006/main">
              <a:ext uri="{FF2B5EF4-FFF2-40B4-BE49-F238E27FC236}">
                <a16:creationId xmlns:a16="http://schemas.microsoft.com/office/drawing/2014/main" id="{23D1BB3C-B954-407F-A1EB-AEEFA78A8DC0}"/>
              </a:ext>
            </a:extLst>
          </p:cNvPr>
          <p:cNvSpPr>
            <a:spLocks xmlns:a="http://schemas.openxmlformats.org/drawingml/2006/main" noGrp="1"/>
          </p:cNvSpPr>
          <p:nvPr/>
        </p:nvSpPr>
        <p:spPr>
          <a:xfrm xmlns:a="http://schemas.openxmlformats.org/drawingml/2006/main">
            <a:off x="4381500" y="5534025"/>
            <a:ext cx="7200900" cy="333375"/>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69" name="">
            <a:extLst xmlns:a="http://schemas.openxmlformats.org/drawingml/2006/main">
              <a:ext uri="{FF2B5EF4-FFF2-40B4-BE49-F238E27FC236}">
                <a16:creationId xmlns:a16="http://schemas.microsoft.com/office/drawing/2014/main" id="{1798B979-E1F3-4ACF-8B07-F17A7A61A5EC}"/>
              </a:ext>
            </a:extLst>
          </p:cNvPr>
          <p:cNvSpPr>
            <a:spLocks xmlns:a="http://schemas.openxmlformats.org/drawingml/2006/main" noGrp="1"/>
          </p:cNvSpPr>
          <p:nvPr/>
        </p:nvSpPr>
        <p:spPr>
          <a:xfrm xmlns:a="http://schemas.openxmlformats.org/drawingml/2006/main">
            <a:off x="4514850" y="5600700"/>
            <a:ext cx="6934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125" b="0">
                <a:solidFill>
                  <a:srgbClr val="203040"/>
                </a:solidFill>
                <a:latin typeface="Arial"/>
                <a:ea typeface="Arial"/>
                <a:cs typeface="Arial"/>
              </a:defRPr>
            </a:defPPr>
          </a:lstStyle>
          <a:p xmlns:a="http://schemas.openxmlformats.org/drawingml/2006/main">
            <a:pPr algn="l">
              <a:defRPr sz="1125" b="0">
                <a:solidFill>
                  <a:srgbClr val="203040"/>
                </a:solidFill>
                <a:latin typeface="Arial"/>
                <a:ea typeface="Arial"/>
                <a:cs typeface="Arial"/>
              </a:defRPr>
            </a:pPr>
            <a:r>
              <a:rPr sz="1125" b="0">
                <a:solidFill>
                  <a:srgbClr val="203040"/>
                </a:solidFill>
                <a:latin typeface="Arial"/>
                <a:ea typeface="Arial"/>
                <a:cs typeface="Arial"/>
              </a:rPr>
              <a:t>135,001–145,000; 145,001–155,000; 155,001–165,000</a:t>
            </a:r>
          </a:p>
        </p:txBody>
      </p:sp>
      <p:sp>
        <p:nvSpPr>
          <p:cNvPr id="70" name="">
            <a:extLst xmlns:a="http://schemas.openxmlformats.org/drawingml/2006/main">
              <a:ext uri="{FF2B5EF4-FFF2-40B4-BE49-F238E27FC236}">
                <a16:creationId xmlns:a16="http://schemas.microsoft.com/office/drawing/2014/main" id="{84880062-C780-436F-AC2C-357CF9C788B0}"/>
              </a:ext>
            </a:extLst>
          </p:cNvPr>
          <p:cNvSpPr>
            <a:spLocks xmlns:a="http://schemas.openxmlformats.org/drawingml/2006/main" noGrp="1"/>
          </p:cNvSpPr>
          <p:nvPr/>
        </p:nvSpPr>
        <p:spPr>
          <a:xfrm xmlns:a="http://schemas.openxmlformats.org/drawingml/2006/main">
            <a:off x="609600" y="6076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1">
                <a:solidFill>
                  <a:srgbClr val="2F75B5"/>
                </a:solidFill>
                <a:latin typeface="Arial"/>
                <a:ea typeface="Arial"/>
                <a:cs typeface="Arial"/>
              </a:defRPr>
            </a:defPPr>
          </a:lstStyle>
          <a:p xmlns:a="http://schemas.openxmlformats.org/drawingml/2006/main">
            <a:pPr algn="l">
              <a:defRPr sz="1575" b="1">
                <a:solidFill>
                  <a:srgbClr val="2F75B5"/>
                </a:solidFill>
                <a:latin typeface="Arial"/>
                <a:ea typeface="Arial"/>
                <a:cs typeface="Arial"/>
              </a:defRPr>
            </a:pPr>
            <a:r>
              <a:rPr sz="1575" b="1">
                <a:solidFill>
                  <a:srgbClr val="2F75B5"/>
                </a:solidFill>
                <a:latin typeface="Arial"/>
                <a:ea typeface="Arial"/>
                <a:cs typeface="Arial"/>
              </a:rPr>
              <a:t>Total unique rows: 3 × (1,000 + 2,000 + … + 10,000) = 165,000</a:t>
            </a:r>
          </a:p>
        </p:txBody>
      </p:sp>
      <p:sp>
        <p:nvSpPr>
          <p:cNvPr id="71" name="">
            <a:extLst xmlns:a="http://schemas.openxmlformats.org/drawingml/2006/main">
              <a:ext uri="{FF2B5EF4-FFF2-40B4-BE49-F238E27FC236}">
                <a16:creationId xmlns:a16="http://schemas.microsoft.com/office/drawing/2014/main" id="{94E14E66-18CC-402F-979D-7D6980923D15}"/>
              </a:ext>
            </a:extLst>
          </p:cNvPr>
          <p:cNvSpPr>
            <a:spLocks xmlns:a="http://schemas.openxmlformats.org/drawingml/2006/main" noGrp="1"/>
          </p:cNvSpPr>
          <p:nvPr/>
        </p:nvSpPr>
        <p:spPr>
          <a:xfrm xmlns:a="http://schemas.openxmlformats.org/drawingml/2006/main">
            <a:off x="609600" y="653415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825" b="0">
                <a:solidFill>
                  <a:srgbClr val="5B6770"/>
                </a:solidFill>
                <a:latin typeface="Arial"/>
                <a:ea typeface="Arial"/>
                <a:cs typeface="Arial"/>
              </a:defRPr>
            </a:defPPr>
          </a:lstStyle>
          <a:p xmlns:a="http://schemas.openxmlformats.org/drawingml/2006/main">
            <a:pPr algn="l">
              <a:defRPr sz="825" b="0">
                <a:solidFill>
                  <a:srgbClr val="5B6770"/>
                </a:solidFill>
                <a:latin typeface="Arial"/>
                <a:ea typeface="Arial"/>
                <a:cs typeface="Arial"/>
              </a:defRPr>
            </a:pPr>
            <a:r>
              <a:rPr sz="825" b="0">
                <a:solidFill>
                  <a:srgbClr val="5B6770"/>
                </a:solidFill>
                <a:latin typeface="Arial"/>
                <a:ea typeface="Arial"/>
                <a:cs typeface="Arial"/>
              </a:rPr>
              <a:t>SOKA metaheuristic scheduling  |  4</a:t>
            </a:r>
          </a:p>
        </p:txBody>
      </p:sp>
    </p:spTree>
    <p:extLst>
      <p:ext uri="{BB962C8B-B14F-4D97-AF65-F5344CB8AC3E}">
        <p14:creationId xmlns:p14="http://schemas.microsoft.com/office/powerpoint/2010/main" val="19053851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2D576A1-101B-4B62-BBF6-05A8E8F8E26A}"/>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050" b="1">
                <a:solidFill>
                  <a:srgbClr val="2F75B5"/>
                </a:solidFill>
                <a:latin typeface="Arial"/>
                <a:ea typeface="Arial"/>
                <a:cs typeface="Arial"/>
              </a:defRPr>
            </a:defPPr>
          </a:lstStyle>
          <a:p xmlns:a="http://schemas.openxmlformats.org/drawingml/2006/main">
            <a:pPr algn="l">
              <a:defRPr sz="1050" b="1">
                <a:solidFill>
                  <a:srgbClr val="2F75B5"/>
                </a:solidFill>
                <a:latin typeface="Arial"/>
                <a:ea typeface="Arial"/>
                <a:cs typeface="Arial"/>
              </a:defRPr>
            </a:pPr>
            <a:r>
              <a:rPr sz="1050" b="1">
                <a:solidFill>
                  <a:srgbClr val="2F75B5"/>
                </a:solidFill>
                <a:latin typeface="Arial"/>
                <a:ea typeface="Arial"/>
                <a:cs typeface="Arial"/>
              </a:rPr>
              <a:t>DISCRETE METAHEURISTIC SEARCH</a:t>
            </a:r>
          </a:p>
        </p:txBody>
      </p:sp>
      <p:sp>
        <p:nvSpPr>
          <p:cNvPr id="2" name="">
            <a:extLst xmlns:a="http://schemas.openxmlformats.org/drawingml/2006/main">
              <a:ext uri="{FF2B5EF4-FFF2-40B4-BE49-F238E27FC236}">
                <a16:creationId xmlns:a16="http://schemas.microsoft.com/office/drawing/2014/main" id="{1F9B80A1-5824-4168-B4B3-F34CFF8B5FF3}"/>
              </a:ext>
            </a:extLst>
          </p:cNvPr>
          <p:cNvSpPr>
            <a:spLocks xmlns:a="http://schemas.openxmlformats.org/drawingml/2006/main" noGrp="1"/>
          </p:cNvSpPr>
          <p:nvPr/>
        </p:nvSpPr>
        <p:spPr>
          <a:xfrm xmlns:a="http://schemas.openxmlformats.org/drawingml/2006/main">
            <a:off x="609600" y="61912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2263A"/>
                </a:solidFill>
                <a:latin typeface="Arial"/>
                <a:ea typeface="Arial"/>
                <a:cs typeface="Arial"/>
              </a:defRPr>
            </a:defPPr>
          </a:lstStyle>
          <a:p xmlns:a="http://schemas.openxmlformats.org/drawingml/2006/main">
            <a:pPr algn="l">
              <a:defRPr sz="2550" b="1">
                <a:solidFill>
                  <a:srgbClr val="12263A"/>
                </a:solidFill>
                <a:latin typeface="Arial"/>
                <a:ea typeface="Arial"/>
                <a:cs typeface="Arial"/>
              </a:defRPr>
            </a:pPr>
            <a:r>
              <a:rPr sz="2550" b="1">
                <a:solidFill>
                  <a:srgbClr val="12263A"/>
                </a:solidFill>
                <a:latin typeface="Arial"/>
                <a:ea typeface="Arial"/>
                <a:cs typeface="Arial"/>
              </a:rPr>
              <a:t>How SMA and AO assign cloudlets</a:t>
            </a:r>
          </a:p>
        </p:txBody>
      </p:sp>
      <p:sp>
        <p:nvSpPr>
          <p:cNvPr id="3" name="">
            <a:extLst xmlns:a="http://schemas.openxmlformats.org/drawingml/2006/main">
              <a:ext uri="{FF2B5EF4-FFF2-40B4-BE49-F238E27FC236}">
                <a16:creationId xmlns:a16="http://schemas.microsoft.com/office/drawing/2014/main" id="{AC0DDAD7-89C1-469D-894D-FA0ECC096356}"/>
              </a:ext>
            </a:extLst>
          </p:cNvPr>
          <p:cNvSpPr>
            <a:spLocks xmlns:a="http://schemas.openxmlformats.org/drawingml/2006/main" noGrp="1"/>
          </p:cNvSpPr>
          <p:nvPr/>
        </p:nvSpPr>
        <p:spPr>
          <a:xfrm xmlns:a="http://schemas.openxmlformats.org/drawingml/2006/main">
            <a:off x="609600" y="13144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203040"/>
                </a:solidFill>
                <a:latin typeface="Arial"/>
                <a:ea typeface="Arial"/>
                <a:cs typeface="Arial"/>
              </a:defRPr>
            </a:defPPr>
          </a:lstStyle>
          <a:p xmlns:a="http://schemas.openxmlformats.org/drawingml/2006/main">
            <a:pPr algn="l">
              <a:defRPr sz="1800" b="1">
                <a:solidFill>
                  <a:srgbClr val="203040"/>
                </a:solidFill>
                <a:latin typeface="Arial"/>
                <a:ea typeface="Arial"/>
                <a:cs typeface="Arial"/>
              </a:defRPr>
            </a:pPr>
            <a:r>
              <a:rPr sz="1800" b="1">
                <a:solidFill>
                  <a:srgbClr val="203040"/>
                </a:solidFill>
                <a:latin typeface="Arial"/>
                <a:ea typeface="Arial"/>
                <a:cs typeface="Arial"/>
              </a:rPr>
              <a:t>Each candidate solution assigns every cloudlet to one of eight VMs.</a:t>
            </a:r>
          </a:p>
        </p:txBody>
      </p:sp>
      <p:sp>
        <p:nvSpPr>
          <p:cNvPr id="4" name="">
            <a:extLst xmlns:a="http://schemas.openxmlformats.org/drawingml/2006/main">
              <a:ext uri="{FF2B5EF4-FFF2-40B4-BE49-F238E27FC236}">
                <a16:creationId xmlns:a16="http://schemas.microsoft.com/office/drawing/2014/main" id="{651FF356-2BB1-4427-89A5-068957DDE187}"/>
              </a:ext>
            </a:extLst>
          </p:cNvPr>
          <p:cNvSpPr>
            <a:spLocks xmlns:a="http://schemas.openxmlformats.org/drawingml/2006/main" noGrp="1"/>
          </p:cNvSpPr>
          <p:nvPr/>
        </p:nvSpPr>
        <p:spPr>
          <a:xfrm xmlns:a="http://schemas.openxmlformats.org/drawingml/2006/main">
            <a:off x="609600" y="2266950"/>
            <a:ext cx="2400300" cy="1809750"/>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5" name="">
            <a:extLst xmlns:a="http://schemas.openxmlformats.org/drawingml/2006/main">
              <a:ext uri="{FF2B5EF4-FFF2-40B4-BE49-F238E27FC236}">
                <a16:creationId xmlns:a16="http://schemas.microsoft.com/office/drawing/2014/main" id="{11CFF376-9A8B-4805-97E7-C29A6878A443}"/>
              </a:ext>
            </a:extLst>
          </p:cNvPr>
          <p:cNvSpPr>
            <a:spLocks xmlns:a="http://schemas.openxmlformats.org/drawingml/2006/main" noGrp="1"/>
          </p:cNvSpPr>
          <p:nvPr/>
        </p:nvSpPr>
        <p:spPr>
          <a:xfrm xmlns:a="http://schemas.openxmlformats.org/drawingml/2006/main">
            <a:off x="819150" y="24574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1">
                <a:solidFill>
                  <a:srgbClr val="2F75B5"/>
                </a:solidFill>
                <a:latin typeface="Arial"/>
                <a:ea typeface="Arial"/>
                <a:cs typeface="Arial"/>
              </a:defRPr>
            </a:defPPr>
          </a:lstStyle>
          <a:p xmlns:a="http://schemas.openxmlformats.org/drawingml/2006/main">
            <a:pPr algn="l">
              <a:defRPr sz="2100" b="1">
                <a:solidFill>
                  <a:srgbClr val="2F75B5"/>
                </a:solidFill>
                <a:latin typeface="Arial"/>
                <a:ea typeface="Arial"/>
                <a:cs typeface="Arial"/>
              </a:defRPr>
            </a:pPr>
            <a:r>
              <a:rPr sz="2100" b="1">
                <a:solidFill>
                  <a:srgbClr val="2F75B5"/>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E7FD0901-D63B-4826-99DA-F539686E0662}"/>
              </a:ext>
            </a:extLst>
          </p:cNvPr>
          <p:cNvSpPr>
            <a:spLocks xmlns:a="http://schemas.openxmlformats.org/drawingml/2006/main" noGrp="1"/>
          </p:cNvSpPr>
          <p:nvPr/>
        </p:nvSpPr>
        <p:spPr>
          <a:xfrm xmlns:a="http://schemas.openxmlformats.org/drawingml/2006/main">
            <a:off x="819150" y="29908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12263A"/>
                </a:solidFill>
                <a:latin typeface="Arial"/>
                <a:ea typeface="Arial"/>
                <a:cs typeface="Arial"/>
              </a:defRPr>
            </a:defPPr>
          </a:lstStyle>
          <a:p xmlns:a="http://schemas.openxmlformats.org/drawingml/2006/main">
            <a:pPr algn="l">
              <a:defRPr sz="1500" b="1">
                <a:solidFill>
                  <a:srgbClr val="12263A"/>
                </a:solidFill>
                <a:latin typeface="Arial"/>
                <a:ea typeface="Arial"/>
                <a:cs typeface="Arial"/>
              </a:defRPr>
            </a:pPr>
            <a:r>
              <a:rPr sz="1500" b="1">
                <a:solidFill>
                  <a:srgbClr val="12263A"/>
                </a:solidFill>
                <a:latin typeface="Arial"/>
                <a:ea typeface="Arial"/>
                <a:cs typeface="Arial"/>
              </a:rPr>
              <a:t>Candidate</a:t>
            </a:r>
          </a:p>
        </p:txBody>
      </p:sp>
      <p:sp>
        <p:nvSpPr>
          <p:cNvPr id="7" name="">
            <a:extLst xmlns:a="http://schemas.openxmlformats.org/drawingml/2006/main">
              <a:ext uri="{FF2B5EF4-FFF2-40B4-BE49-F238E27FC236}">
                <a16:creationId xmlns:a16="http://schemas.microsoft.com/office/drawing/2014/main" id="{395FE2FD-AF3B-4719-9867-22AE9943185D}"/>
              </a:ext>
            </a:extLst>
          </p:cNvPr>
          <p:cNvSpPr>
            <a:spLocks xmlns:a="http://schemas.openxmlformats.org/drawingml/2006/main" noGrp="1"/>
          </p:cNvSpPr>
          <p:nvPr/>
        </p:nvSpPr>
        <p:spPr>
          <a:xfrm xmlns:a="http://schemas.openxmlformats.org/drawingml/2006/main">
            <a:off x="819150" y="3371850"/>
            <a:ext cx="195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0">
                <a:solidFill>
                  <a:srgbClr val="203040"/>
                </a:solidFill>
                <a:latin typeface="Arial"/>
                <a:ea typeface="Arial"/>
                <a:cs typeface="Arial"/>
              </a:defRPr>
            </a:defPPr>
          </a:lstStyle>
          <a:p xmlns:a="http://schemas.openxmlformats.org/drawingml/2006/main">
            <a:pPr algn="l">
              <a:defRPr sz="1275" b="0">
                <a:solidFill>
                  <a:srgbClr val="203040"/>
                </a:solidFill>
                <a:latin typeface="Arial"/>
                <a:ea typeface="Arial"/>
                <a:cs typeface="Arial"/>
              </a:defRPr>
            </a:pPr>
            <a:r>
              <a:rPr sz="1275" b="0">
                <a:solidFill>
                  <a:srgbClr val="203040"/>
                </a:solidFill>
                <a:latin typeface="Arial"/>
                <a:ea typeface="Arial"/>
                <a:cs typeface="Arial"/>
              </a:rPr>
              <a:t>A VM ID is proposed for each cloudlet</a:t>
            </a:r>
          </a:p>
        </p:txBody>
      </p:sp>
      <p:sp>
        <p:nvSpPr>
          <p:cNvPr id="8" name="">
            <a:extLst xmlns:a="http://schemas.openxmlformats.org/drawingml/2006/main">
              <a:ext uri="{FF2B5EF4-FFF2-40B4-BE49-F238E27FC236}">
                <a16:creationId xmlns:a16="http://schemas.microsoft.com/office/drawing/2014/main" id="{E29E89B1-D293-45F8-85E7-D780BAF0CE63}"/>
              </a:ext>
            </a:extLst>
          </p:cNvPr>
          <p:cNvSpPr>
            <a:spLocks xmlns:a="http://schemas.openxmlformats.org/drawingml/2006/main" noGrp="1"/>
          </p:cNvSpPr>
          <p:nvPr/>
        </p:nvSpPr>
        <p:spPr>
          <a:xfrm xmlns:a="http://schemas.openxmlformats.org/drawingml/2006/main">
            <a:off x="3390900" y="2266950"/>
            <a:ext cx="2400300" cy="1809750"/>
          </a:xfrm>
          <a:prstGeom xmlns:a="http://schemas.openxmlformats.org/drawingml/2006/main" prst="rect">
            <a:avLst/>
          </a:prstGeom>
          <a:solidFill xmlns:a="http://schemas.openxmlformats.org/drawingml/2006/main">
            <a:srgbClr val="FFF5ED"/>
          </a:solidFill>
          <a:ln xmlns:a="http://schemas.openxmlformats.org/drawingml/2006/main" w="9525">
            <a:solidFill>
              <a:srgbClr val="F3C7A2"/>
            </a:solidFill>
          </a:ln>
        </p:spPr>
      </p:sp>
      <p:sp>
        <p:nvSpPr>
          <p:cNvPr id="9" name="">
            <a:extLst xmlns:a="http://schemas.openxmlformats.org/drawingml/2006/main">
              <a:ext uri="{FF2B5EF4-FFF2-40B4-BE49-F238E27FC236}">
                <a16:creationId xmlns:a16="http://schemas.microsoft.com/office/drawing/2014/main" id="{1E8D424A-2907-486A-894E-E58BE39AF490}"/>
              </a:ext>
            </a:extLst>
          </p:cNvPr>
          <p:cNvSpPr>
            <a:spLocks xmlns:a="http://schemas.openxmlformats.org/drawingml/2006/main" noGrp="1"/>
          </p:cNvSpPr>
          <p:nvPr/>
        </p:nvSpPr>
        <p:spPr>
          <a:xfrm xmlns:a="http://schemas.openxmlformats.org/drawingml/2006/main">
            <a:off x="3600450" y="24574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1">
                <a:solidFill>
                  <a:srgbClr val="ED7D31"/>
                </a:solidFill>
                <a:latin typeface="Arial"/>
                <a:ea typeface="Arial"/>
                <a:cs typeface="Arial"/>
              </a:defRPr>
            </a:defPPr>
          </a:lstStyle>
          <a:p xmlns:a="http://schemas.openxmlformats.org/drawingml/2006/main">
            <a:pPr algn="l">
              <a:defRPr sz="2100" b="1">
                <a:solidFill>
                  <a:srgbClr val="ED7D31"/>
                </a:solidFill>
                <a:latin typeface="Arial"/>
                <a:ea typeface="Arial"/>
                <a:cs typeface="Arial"/>
              </a:defRPr>
            </a:pPr>
            <a:r>
              <a:rPr sz="2100" b="1">
                <a:solidFill>
                  <a:srgbClr val="ED7D31"/>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9C79D39D-4549-49F7-A5BB-A5EE6640F485}"/>
              </a:ext>
            </a:extLst>
          </p:cNvPr>
          <p:cNvSpPr>
            <a:spLocks xmlns:a="http://schemas.openxmlformats.org/drawingml/2006/main" noGrp="1"/>
          </p:cNvSpPr>
          <p:nvPr/>
        </p:nvSpPr>
        <p:spPr>
          <a:xfrm xmlns:a="http://schemas.openxmlformats.org/drawingml/2006/main">
            <a:off x="3600450" y="29908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12263A"/>
                </a:solidFill>
                <a:latin typeface="Arial"/>
                <a:ea typeface="Arial"/>
                <a:cs typeface="Arial"/>
              </a:defRPr>
            </a:defPPr>
          </a:lstStyle>
          <a:p xmlns:a="http://schemas.openxmlformats.org/drawingml/2006/main">
            <a:pPr algn="l">
              <a:defRPr sz="1500" b="1">
                <a:solidFill>
                  <a:srgbClr val="12263A"/>
                </a:solidFill>
                <a:latin typeface="Arial"/>
                <a:ea typeface="Arial"/>
                <a:cs typeface="Arial"/>
              </a:defRPr>
            </a:pPr>
            <a:r>
              <a:rPr sz="1500" b="1">
                <a:solidFill>
                  <a:srgbClr val="12263A"/>
                </a:solidFill>
                <a:latin typeface="Arial"/>
                <a:ea typeface="Arial"/>
                <a:cs typeface="Arial"/>
              </a:rPr>
              <a:t>Repair</a:t>
            </a:r>
          </a:p>
        </p:txBody>
      </p:sp>
      <p:sp>
        <p:nvSpPr>
          <p:cNvPr id="11" name="">
            <a:extLst xmlns:a="http://schemas.openxmlformats.org/drawingml/2006/main">
              <a:ext uri="{FF2B5EF4-FFF2-40B4-BE49-F238E27FC236}">
                <a16:creationId xmlns:a16="http://schemas.microsoft.com/office/drawing/2014/main" id="{53703D8E-C3F2-4D2D-A24B-3F7627B20884}"/>
              </a:ext>
            </a:extLst>
          </p:cNvPr>
          <p:cNvSpPr>
            <a:spLocks xmlns:a="http://schemas.openxmlformats.org/drawingml/2006/main" noGrp="1"/>
          </p:cNvSpPr>
          <p:nvPr/>
        </p:nvSpPr>
        <p:spPr>
          <a:xfrm xmlns:a="http://schemas.openxmlformats.org/drawingml/2006/main">
            <a:off x="3600450" y="3371850"/>
            <a:ext cx="195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0">
                <a:solidFill>
                  <a:srgbClr val="203040"/>
                </a:solidFill>
                <a:latin typeface="Arial"/>
                <a:ea typeface="Arial"/>
                <a:cs typeface="Arial"/>
              </a:defRPr>
            </a:defPPr>
          </a:lstStyle>
          <a:p xmlns:a="http://schemas.openxmlformats.org/drawingml/2006/main">
            <a:pPr algn="l">
              <a:defRPr sz="1275" b="0">
                <a:solidFill>
                  <a:srgbClr val="203040"/>
                </a:solidFill>
                <a:latin typeface="Arial"/>
                <a:ea typeface="Arial"/>
                <a:cs typeface="Arial"/>
              </a:defRPr>
            </a:pPr>
            <a:r>
              <a:rPr sz="1275" b="0">
                <a:solidFill>
                  <a:srgbClr val="203040"/>
                </a:solidFill>
                <a:latin typeface="Arial"/>
                <a:ea typeface="Arial"/>
                <a:cs typeface="Arial"/>
              </a:rPr>
              <a:t>CPU and RAM violations move to a feasible VM</a:t>
            </a:r>
          </a:p>
        </p:txBody>
      </p:sp>
      <p:sp>
        <p:nvSpPr>
          <p:cNvPr id="12" name="">
            <a:extLst xmlns:a="http://schemas.openxmlformats.org/drawingml/2006/main">
              <a:ext uri="{FF2B5EF4-FFF2-40B4-BE49-F238E27FC236}">
                <a16:creationId xmlns:a16="http://schemas.microsoft.com/office/drawing/2014/main" id="{DEA307C7-1FD8-4A01-8B88-03D19D2FC662}"/>
              </a:ext>
            </a:extLst>
          </p:cNvPr>
          <p:cNvSpPr>
            <a:spLocks xmlns:a="http://schemas.openxmlformats.org/drawingml/2006/main" noGrp="1"/>
          </p:cNvSpPr>
          <p:nvPr/>
        </p:nvSpPr>
        <p:spPr>
          <a:xfrm xmlns:a="http://schemas.openxmlformats.org/drawingml/2006/main">
            <a:off x="6172200" y="2266950"/>
            <a:ext cx="2400300" cy="1809750"/>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13" name="">
            <a:extLst xmlns:a="http://schemas.openxmlformats.org/drawingml/2006/main">
              <a:ext uri="{FF2B5EF4-FFF2-40B4-BE49-F238E27FC236}">
                <a16:creationId xmlns:a16="http://schemas.microsoft.com/office/drawing/2014/main" id="{34248A3D-A6B7-45CD-9A55-C41C04790C0C}"/>
              </a:ext>
            </a:extLst>
          </p:cNvPr>
          <p:cNvSpPr>
            <a:spLocks xmlns:a="http://schemas.openxmlformats.org/drawingml/2006/main" noGrp="1"/>
          </p:cNvSpPr>
          <p:nvPr/>
        </p:nvSpPr>
        <p:spPr>
          <a:xfrm xmlns:a="http://schemas.openxmlformats.org/drawingml/2006/main">
            <a:off x="6381750" y="24574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1">
                <a:solidFill>
                  <a:srgbClr val="2F75B5"/>
                </a:solidFill>
                <a:latin typeface="Arial"/>
                <a:ea typeface="Arial"/>
                <a:cs typeface="Arial"/>
              </a:defRPr>
            </a:defPPr>
          </a:lstStyle>
          <a:p xmlns:a="http://schemas.openxmlformats.org/drawingml/2006/main">
            <a:pPr algn="l">
              <a:defRPr sz="2100" b="1">
                <a:solidFill>
                  <a:srgbClr val="2F75B5"/>
                </a:solidFill>
                <a:latin typeface="Arial"/>
                <a:ea typeface="Arial"/>
                <a:cs typeface="Arial"/>
              </a:defRPr>
            </a:pPr>
            <a:r>
              <a:rPr sz="2100" b="1">
                <a:solidFill>
                  <a:srgbClr val="2F75B5"/>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495CC199-4E1C-4854-8156-C0BD5C55FBD2}"/>
              </a:ext>
            </a:extLst>
          </p:cNvPr>
          <p:cNvSpPr>
            <a:spLocks xmlns:a="http://schemas.openxmlformats.org/drawingml/2006/main" noGrp="1"/>
          </p:cNvSpPr>
          <p:nvPr/>
        </p:nvSpPr>
        <p:spPr>
          <a:xfrm xmlns:a="http://schemas.openxmlformats.org/drawingml/2006/main">
            <a:off x="6381750" y="29908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12263A"/>
                </a:solidFill>
                <a:latin typeface="Arial"/>
                <a:ea typeface="Arial"/>
                <a:cs typeface="Arial"/>
              </a:defRPr>
            </a:defPPr>
          </a:lstStyle>
          <a:p xmlns:a="http://schemas.openxmlformats.org/drawingml/2006/main">
            <a:pPr algn="l">
              <a:defRPr sz="1500" b="1">
                <a:solidFill>
                  <a:srgbClr val="12263A"/>
                </a:solidFill>
                <a:latin typeface="Arial"/>
                <a:ea typeface="Arial"/>
                <a:cs typeface="Arial"/>
              </a:defRPr>
            </a:pPr>
            <a:r>
              <a:rPr sz="1500" b="1">
                <a:solidFill>
                  <a:srgbClr val="12263A"/>
                </a:solidFill>
                <a:latin typeface="Arial"/>
                <a:ea typeface="Arial"/>
                <a:cs typeface="Arial"/>
              </a:rPr>
              <a:t>Evaluate</a:t>
            </a:r>
          </a:p>
        </p:txBody>
      </p:sp>
      <p:sp>
        <p:nvSpPr>
          <p:cNvPr id="15" name="">
            <a:extLst xmlns:a="http://schemas.openxmlformats.org/drawingml/2006/main">
              <a:ext uri="{FF2B5EF4-FFF2-40B4-BE49-F238E27FC236}">
                <a16:creationId xmlns:a16="http://schemas.microsoft.com/office/drawing/2014/main" id="{70E3DC59-8841-4408-A457-9E1197801250}"/>
              </a:ext>
            </a:extLst>
          </p:cNvPr>
          <p:cNvSpPr>
            <a:spLocks xmlns:a="http://schemas.openxmlformats.org/drawingml/2006/main" noGrp="1"/>
          </p:cNvSpPr>
          <p:nvPr/>
        </p:nvSpPr>
        <p:spPr>
          <a:xfrm xmlns:a="http://schemas.openxmlformats.org/drawingml/2006/main">
            <a:off x="6381750" y="3371850"/>
            <a:ext cx="195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0">
                <a:solidFill>
                  <a:srgbClr val="203040"/>
                </a:solidFill>
                <a:latin typeface="Arial"/>
                <a:ea typeface="Arial"/>
                <a:cs typeface="Arial"/>
              </a:defRPr>
            </a:defPPr>
          </a:lstStyle>
          <a:p xmlns:a="http://schemas.openxmlformats.org/drawingml/2006/main">
            <a:pPr algn="l">
              <a:defRPr sz="1275" b="0">
                <a:solidFill>
                  <a:srgbClr val="203040"/>
                </a:solidFill>
                <a:latin typeface="Arial"/>
                <a:ea typeface="Arial"/>
                <a:cs typeface="Arial"/>
              </a:defRPr>
            </a:pPr>
            <a:r>
              <a:rPr sz="1275" b="0">
                <a:solidFill>
                  <a:srgbClr val="203040"/>
                </a:solidFill>
                <a:latin typeface="Arial"/>
                <a:ea typeface="Arial"/>
                <a:cs typeface="Arial"/>
              </a:rPr>
              <a:t>Makespan and execution cost form the score</a:t>
            </a:r>
          </a:p>
        </p:txBody>
      </p:sp>
      <p:sp>
        <p:nvSpPr>
          <p:cNvPr id="16" name="">
            <a:extLst xmlns:a="http://schemas.openxmlformats.org/drawingml/2006/main">
              <a:ext uri="{FF2B5EF4-FFF2-40B4-BE49-F238E27FC236}">
                <a16:creationId xmlns:a16="http://schemas.microsoft.com/office/drawing/2014/main" id="{A24C92B9-9F95-4D68-A23D-EBF5E374943D}"/>
              </a:ext>
            </a:extLst>
          </p:cNvPr>
          <p:cNvSpPr>
            <a:spLocks xmlns:a="http://schemas.openxmlformats.org/drawingml/2006/main" noGrp="1"/>
          </p:cNvSpPr>
          <p:nvPr/>
        </p:nvSpPr>
        <p:spPr>
          <a:xfrm xmlns:a="http://schemas.openxmlformats.org/drawingml/2006/main">
            <a:off x="8953500" y="2266950"/>
            <a:ext cx="2400300" cy="1809750"/>
          </a:xfrm>
          <a:prstGeom xmlns:a="http://schemas.openxmlformats.org/drawingml/2006/main" prst="rect">
            <a:avLst/>
          </a:prstGeom>
          <a:solidFill xmlns:a="http://schemas.openxmlformats.org/drawingml/2006/main">
            <a:srgbClr val="FFF5ED"/>
          </a:solidFill>
          <a:ln xmlns:a="http://schemas.openxmlformats.org/drawingml/2006/main" w="9525">
            <a:solidFill>
              <a:srgbClr val="F3C7A2"/>
            </a:solidFill>
          </a:ln>
        </p:spPr>
      </p:sp>
      <p:sp>
        <p:nvSpPr>
          <p:cNvPr id="17" name="">
            <a:extLst xmlns:a="http://schemas.openxmlformats.org/drawingml/2006/main">
              <a:ext uri="{FF2B5EF4-FFF2-40B4-BE49-F238E27FC236}">
                <a16:creationId xmlns:a16="http://schemas.microsoft.com/office/drawing/2014/main" id="{24C9EF01-3309-40F5-B886-57EB5C99ED0A}"/>
              </a:ext>
            </a:extLst>
          </p:cNvPr>
          <p:cNvSpPr>
            <a:spLocks xmlns:a="http://schemas.openxmlformats.org/drawingml/2006/main" noGrp="1"/>
          </p:cNvSpPr>
          <p:nvPr/>
        </p:nvSpPr>
        <p:spPr>
          <a:xfrm xmlns:a="http://schemas.openxmlformats.org/drawingml/2006/main">
            <a:off x="9163050" y="2457450"/>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1">
                <a:solidFill>
                  <a:srgbClr val="ED7D31"/>
                </a:solidFill>
                <a:latin typeface="Arial"/>
                <a:ea typeface="Arial"/>
                <a:cs typeface="Arial"/>
              </a:defRPr>
            </a:defPPr>
          </a:lstStyle>
          <a:p xmlns:a="http://schemas.openxmlformats.org/drawingml/2006/main">
            <a:pPr algn="l">
              <a:defRPr sz="2100" b="1">
                <a:solidFill>
                  <a:srgbClr val="ED7D31"/>
                </a:solidFill>
                <a:latin typeface="Arial"/>
                <a:ea typeface="Arial"/>
                <a:cs typeface="Arial"/>
              </a:defRPr>
            </a:pPr>
            <a:r>
              <a:rPr sz="2100" b="1">
                <a:solidFill>
                  <a:srgbClr val="ED7D31"/>
                </a:solidFill>
                <a:latin typeface="Arial"/>
                <a:ea typeface="Arial"/>
                <a:cs typeface="Arial"/>
              </a:rPr>
              <a:t>4</a:t>
            </a:r>
          </a:p>
        </p:txBody>
      </p:sp>
      <p:sp>
        <p:nvSpPr>
          <p:cNvPr id="18" name="">
            <a:extLst xmlns:a="http://schemas.openxmlformats.org/drawingml/2006/main">
              <a:ext uri="{FF2B5EF4-FFF2-40B4-BE49-F238E27FC236}">
                <a16:creationId xmlns:a16="http://schemas.microsoft.com/office/drawing/2014/main" id="{1A9AB7B5-A549-4922-B7FD-24707757ABB7}"/>
              </a:ext>
            </a:extLst>
          </p:cNvPr>
          <p:cNvSpPr>
            <a:spLocks xmlns:a="http://schemas.openxmlformats.org/drawingml/2006/main" noGrp="1"/>
          </p:cNvSpPr>
          <p:nvPr/>
        </p:nvSpPr>
        <p:spPr>
          <a:xfrm xmlns:a="http://schemas.openxmlformats.org/drawingml/2006/main">
            <a:off x="9163050" y="29908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12263A"/>
                </a:solidFill>
                <a:latin typeface="Arial"/>
                <a:ea typeface="Arial"/>
                <a:cs typeface="Arial"/>
              </a:defRPr>
            </a:defPPr>
          </a:lstStyle>
          <a:p xmlns:a="http://schemas.openxmlformats.org/drawingml/2006/main">
            <a:pPr algn="l">
              <a:defRPr sz="1500" b="1">
                <a:solidFill>
                  <a:srgbClr val="12263A"/>
                </a:solidFill>
                <a:latin typeface="Arial"/>
                <a:ea typeface="Arial"/>
                <a:cs typeface="Arial"/>
              </a:defRPr>
            </a:pPr>
            <a:r>
              <a:rPr sz="1500" b="1">
                <a:solidFill>
                  <a:srgbClr val="12263A"/>
                </a:solidFill>
                <a:latin typeface="Arial"/>
                <a:ea typeface="Arial"/>
                <a:cs typeface="Arial"/>
              </a:rPr>
              <a:t>Update</a:t>
            </a:r>
          </a:p>
        </p:txBody>
      </p:sp>
      <p:sp>
        <p:nvSpPr>
          <p:cNvPr id="19" name="">
            <a:extLst xmlns:a="http://schemas.openxmlformats.org/drawingml/2006/main">
              <a:ext uri="{FF2B5EF4-FFF2-40B4-BE49-F238E27FC236}">
                <a16:creationId xmlns:a16="http://schemas.microsoft.com/office/drawing/2014/main" id="{DE8C3CCF-73BA-4996-8E48-36F6A624B65C}"/>
              </a:ext>
            </a:extLst>
          </p:cNvPr>
          <p:cNvSpPr>
            <a:spLocks xmlns:a="http://schemas.openxmlformats.org/drawingml/2006/main" noGrp="1"/>
          </p:cNvSpPr>
          <p:nvPr/>
        </p:nvSpPr>
        <p:spPr>
          <a:xfrm xmlns:a="http://schemas.openxmlformats.org/drawingml/2006/main">
            <a:off x="9163050" y="3371850"/>
            <a:ext cx="195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0">
                <a:solidFill>
                  <a:srgbClr val="203040"/>
                </a:solidFill>
                <a:latin typeface="Arial"/>
                <a:ea typeface="Arial"/>
                <a:cs typeface="Arial"/>
              </a:defRPr>
            </a:defPPr>
          </a:lstStyle>
          <a:p xmlns:a="http://schemas.openxmlformats.org/drawingml/2006/main">
            <a:pPr algn="l">
              <a:defRPr sz="1275" b="0">
                <a:solidFill>
                  <a:srgbClr val="203040"/>
                </a:solidFill>
                <a:latin typeface="Arial"/>
                <a:ea typeface="Arial"/>
                <a:cs typeface="Arial"/>
              </a:defRPr>
            </a:pPr>
            <a:r>
              <a:rPr sz="1275" b="0">
                <a:solidFill>
                  <a:srgbClr val="203040"/>
                </a:solidFill>
                <a:latin typeface="Arial"/>
                <a:ea typeface="Arial"/>
                <a:cs typeface="Arial"/>
              </a:rPr>
              <a:t>SMA or AO moves the population toward better solutions</a:t>
            </a:r>
          </a:p>
        </p:txBody>
      </p:sp>
      <p:sp>
        <p:nvSpPr>
          <p:cNvPr id="20" name="">
            <a:extLst xmlns:a="http://schemas.openxmlformats.org/drawingml/2006/main">
              <a:ext uri="{FF2B5EF4-FFF2-40B4-BE49-F238E27FC236}">
                <a16:creationId xmlns:a16="http://schemas.microsoft.com/office/drawing/2014/main" id="{21C69378-BFB5-455E-96C7-7C30491BC871}"/>
              </a:ext>
            </a:extLst>
          </p:cNvPr>
          <p:cNvSpPr>
            <a:spLocks xmlns:a="http://schemas.openxmlformats.org/drawingml/2006/main" noGrp="1"/>
          </p:cNvSpPr>
          <p:nvPr/>
        </p:nvSpPr>
        <p:spPr>
          <a:xfrm xmlns:a="http://schemas.openxmlformats.org/drawingml/2006/main">
            <a:off x="609600" y="4667250"/>
            <a:ext cx="5257800" cy="1066800"/>
          </a:xfrm>
          <a:prstGeom xmlns:a="http://schemas.openxmlformats.org/drawingml/2006/main" prst="rect">
            <a:avLst/>
          </a:prstGeom>
          <a:solidFill xmlns:a="http://schemas.openxmlformats.org/drawingml/2006/main">
            <a:srgbClr val="12263A"/>
          </a:solidFill>
          <a:ln xmlns:a="http://schemas.openxmlformats.org/drawingml/2006/main" w="9525">
            <a:solidFill>
              <a:srgbClr val="12263A"/>
            </a:solidFill>
          </a:ln>
        </p:spPr>
      </p:sp>
      <p:sp>
        <p:nvSpPr>
          <p:cNvPr id="21" name="">
            <a:extLst xmlns:a="http://schemas.openxmlformats.org/drawingml/2006/main">
              <a:ext uri="{FF2B5EF4-FFF2-40B4-BE49-F238E27FC236}">
                <a16:creationId xmlns:a16="http://schemas.microsoft.com/office/drawing/2014/main" id="{12BDEC99-4DE5-4551-8F7F-6994826D8D97}"/>
              </a:ext>
            </a:extLst>
          </p:cNvPr>
          <p:cNvSpPr>
            <a:spLocks xmlns:a="http://schemas.openxmlformats.org/drawingml/2006/main" noGrp="1"/>
          </p:cNvSpPr>
          <p:nvPr/>
        </p:nvSpPr>
        <p:spPr>
          <a:xfrm xmlns:a="http://schemas.openxmlformats.org/drawingml/2006/main">
            <a:off x="857250" y="48768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350" b="1">
                <a:solidFill>
                  <a:srgbClr val="B9D9F2"/>
                </a:solidFill>
                <a:latin typeface="Arial"/>
                <a:ea typeface="Arial"/>
                <a:cs typeface="Arial"/>
              </a:defRPr>
            </a:defPPr>
          </a:lstStyle>
          <a:p xmlns:a="http://schemas.openxmlformats.org/drawingml/2006/main">
            <a:pPr algn="l">
              <a:defRPr sz="1350" b="1">
                <a:solidFill>
                  <a:srgbClr val="B9D9F2"/>
                </a:solidFill>
                <a:latin typeface="Arial"/>
                <a:ea typeface="Arial"/>
                <a:cs typeface="Arial"/>
              </a:defRPr>
            </a:pPr>
            <a:r>
              <a:rPr sz="1350" b="1">
                <a:solidFill>
                  <a:srgbClr val="B9D9F2"/>
                </a:solidFill>
                <a:latin typeface="Arial"/>
                <a:ea typeface="Arial"/>
                <a:cs typeface="Arial"/>
              </a:rPr>
              <a:t>Objective score</a:t>
            </a:r>
          </a:p>
        </p:txBody>
      </p:sp>
      <p:sp>
        <p:nvSpPr>
          <p:cNvPr id="22" name="">
            <a:extLst xmlns:a="http://schemas.openxmlformats.org/drawingml/2006/main">
              <a:ext uri="{FF2B5EF4-FFF2-40B4-BE49-F238E27FC236}">
                <a16:creationId xmlns:a16="http://schemas.microsoft.com/office/drawing/2014/main" id="{3F13A408-72D0-467D-948D-01DFD08DADA4}"/>
              </a:ext>
            </a:extLst>
          </p:cNvPr>
          <p:cNvSpPr>
            <a:spLocks xmlns:a="http://schemas.openxmlformats.org/drawingml/2006/main" noGrp="1"/>
          </p:cNvSpPr>
          <p:nvPr/>
        </p:nvSpPr>
        <p:spPr>
          <a:xfrm xmlns:a="http://schemas.openxmlformats.org/drawingml/2006/main">
            <a:off x="857250" y="52197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FFFFFF"/>
                </a:solidFill>
                <a:latin typeface="Arial"/>
                <a:ea typeface="Arial"/>
                <a:cs typeface="Arial"/>
              </a:defRPr>
            </a:defPPr>
          </a:lstStyle>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0.60 × normalized makespan + 0.40 × normalized cost</a:t>
            </a:r>
          </a:p>
        </p:txBody>
      </p:sp>
      <p:sp>
        <p:nvSpPr>
          <p:cNvPr id="23" name="">
            <a:extLst xmlns:a="http://schemas.openxmlformats.org/drawingml/2006/main">
              <a:ext uri="{FF2B5EF4-FFF2-40B4-BE49-F238E27FC236}">
                <a16:creationId xmlns:a16="http://schemas.microsoft.com/office/drawing/2014/main" id="{D5B5AF91-FB98-43E8-A03E-1C1EC41CBDD5}"/>
              </a:ext>
            </a:extLst>
          </p:cNvPr>
          <p:cNvSpPr>
            <a:spLocks xmlns:a="http://schemas.openxmlformats.org/drawingml/2006/main" noGrp="1"/>
          </p:cNvSpPr>
          <p:nvPr/>
        </p:nvSpPr>
        <p:spPr>
          <a:xfrm xmlns:a="http://schemas.openxmlformats.org/drawingml/2006/main">
            <a:off x="6324600" y="4667250"/>
            <a:ext cx="5257800" cy="1066800"/>
          </a:xfrm>
          <a:prstGeom xmlns:a="http://schemas.openxmlformats.org/drawingml/2006/main" prst="rect">
            <a:avLst/>
          </a:prstGeom>
          <a:solidFill xmlns:a="http://schemas.openxmlformats.org/drawingml/2006/main">
            <a:srgbClr val="2A9D8F"/>
          </a:solidFill>
          <a:ln xmlns:a="http://schemas.openxmlformats.org/drawingml/2006/main" w="9525">
            <a:solidFill>
              <a:srgbClr val="2A9D8F"/>
            </a:solidFill>
          </a:ln>
        </p:spPr>
      </p:sp>
      <p:sp>
        <p:nvSpPr>
          <p:cNvPr id="24" name="">
            <a:extLst xmlns:a="http://schemas.openxmlformats.org/drawingml/2006/main">
              <a:ext uri="{FF2B5EF4-FFF2-40B4-BE49-F238E27FC236}">
                <a16:creationId xmlns:a16="http://schemas.microsoft.com/office/drawing/2014/main" id="{0580A914-09A0-4E1C-B0E7-AC68A0E3B8D9}"/>
              </a:ext>
            </a:extLst>
          </p:cNvPr>
          <p:cNvSpPr>
            <a:spLocks xmlns:a="http://schemas.openxmlformats.org/drawingml/2006/main" noGrp="1"/>
          </p:cNvSpPr>
          <p:nvPr/>
        </p:nvSpPr>
        <p:spPr>
          <a:xfrm xmlns:a="http://schemas.openxmlformats.org/drawingml/2006/main">
            <a:off x="6572250" y="48768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350" b="1">
                <a:solidFill>
                  <a:srgbClr val="D8F2EF"/>
                </a:solidFill>
                <a:latin typeface="Arial"/>
                <a:ea typeface="Arial"/>
                <a:cs typeface="Arial"/>
              </a:defRPr>
            </a:defPPr>
          </a:lstStyle>
          <a:p xmlns:a="http://schemas.openxmlformats.org/drawingml/2006/main">
            <a:pPr algn="l">
              <a:defRPr sz="1350" b="1">
                <a:solidFill>
                  <a:srgbClr val="D8F2EF"/>
                </a:solidFill>
                <a:latin typeface="Arial"/>
                <a:ea typeface="Arial"/>
                <a:cs typeface="Arial"/>
              </a:defRPr>
            </a:pPr>
            <a:r>
              <a:rPr sz="1350" b="1">
                <a:solidFill>
                  <a:srgbClr val="D8F2EF"/>
                </a:solidFill>
                <a:latin typeface="Arial"/>
                <a:ea typeface="Arial"/>
                <a:cs typeface="Arial"/>
              </a:rPr>
              <a:t>Cost model</a:t>
            </a:r>
          </a:p>
        </p:txBody>
      </p:sp>
      <p:sp>
        <p:nvSpPr>
          <p:cNvPr id="25" name="">
            <a:extLst xmlns:a="http://schemas.openxmlformats.org/drawingml/2006/main">
              <a:ext uri="{FF2B5EF4-FFF2-40B4-BE49-F238E27FC236}">
                <a16:creationId xmlns:a16="http://schemas.microsoft.com/office/drawing/2014/main" id="{BD19C9FF-9B5A-452A-9275-2B2230A20B9C}"/>
              </a:ext>
            </a:extLst>
          </p:cNvPr>
          <p:cNvSpPr>
            <a:spLocks xmlns:a="http://schemas.openxmlformats.org/drawingml/2006/main" noGrp="1"/>
          </p:cNvSpPr>
          <p:nvPr/>
        </p:nvSpPr>
        <p:spPr>
          <a:xfrm xmlns:a="http://schemas.openxmlformats.org/drawingml/2006/main">
            <a:off x="6572250" y="52197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00" b="1">
                <a:solidFill>
                  <a:srgbClr val="FFFFFF"/>
                </a:solidFill>
                <a:latin typeface="Arial"/>
                <a:ea typeface="Arial"/>
                <a:cs typeface="Arial"/>
              </a:defRPr>
            </a:defPPr>
          </a:lstStyle>
          <a:p xmlns:a="http://schemas.openxmlformats.org/drawingml/2006/main">
            <a:pPr algn="l">
              <a:defRPr sz="1500" b="1">
                <a:solidFill>
                  <a:srgbClr val="FFFFFF"/>
                </a:solidFill>
                <a:latin typeface="Arial"/>
                <a:ea typeface="Arial"/>
                <a:cs typeface="Arial"/>
              </a:defRPr>
            </a:pPr>
            <a:r>
              <a:rPr sz="1500" b="1">
                <a:solidFill>
                  <a:srgbClr val="FFFFFF"/>
                </a:solidFill>
                <a:latin typeface="Arial"/>
                <a:ea typeface="Arial"/>
                <a:cs typeface="Arial"/>
              </a:rPr>
              <a:t>Σ(actual CPU time × VM price)</a:t>
            </a:r>
          </a:p>
        </p:txBody>
      </p:sp>
      <p:sp>
        <p:nvSpPr>
          <p:cNvPr id="26" name="">
            <a:extLst xmlns:a="http://schemas.openxmlformats.org/drawingml/2006/main">
              <a:ext uri="{FF2B5EF4-FFF2-40B4-BE49-F238E27FC236}">
                <a16:creationId xmlns:a16="http://schemas.microsoft.com/office/drawing/2014/main" id="{8DE62AAB-1764-47F9-8417-C9CE557CA68F}"/>
              </a:ext>
            </a:extLst>
          </p:cNvPr>
          <p:cNvSpPr>
            <a:spLocks xmlns:a="http://schemas.openxmlformats.org/drawingml/2006/main" noGrp="1"/>
          </p:cNvSpPr>
          <p:nvPr/>
        </p:nvSpPr>
        <p:spPr>
          <a:xfrm xmlns:a="http://schemas.openxmlformats.org/drawingml/2006/main">
            <a:off x="609600" y="653415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825" b="0">
                <a:solidFill>
                  <a:srgbClr val="5B6770"/>
                </a:solidFill>
                <a:latin typeface="Arial"/>
                <a:ea typeface="Arial"/>
                <a:cs typeface="Arial"/>
              </a:defRPr>
            </a:defPPr>
          </a:lstStyle>
          <a:p xmlns:a="http://schemas.openxmlformats.org/drawingml/2006/main">
            <a:pPr algn="l">
              <a:defRPr sz="825" b="0">
                <a:solidFill>
                  <a:srgbClr val="5B6770"/>
                </a:solidFill>
                <a:latin typeface="Arial"/>
                <a:ea typeface="Arial"/>
                <a:cs typeface="Arial"/>
              </a:defRPr>
            </a:pPr>
            <a:r>
              <a:rPr sz="825" b="0">
                <a:solidFill>
                  <a:srgbClr val="5B6770"/>
                </a:solidFill>
                <a:latin typeface="Arial"/>
                <a:ea typeface="Arial"/>
                <a:cs typeface="Arial"/>
              </a:rPr>
              <a:t>SOKA metaheuristic scheduling  |  5</a:t>
            </a:r>
          </a:p>
        </p:txBody>
      </p:sp>
    </p:spTree>
    <p:extLst>
      <p:ext uri="{BB962C8B-B14F-4D97-AF65-F5344CB8AC3E}">
        <p14:creationId xmlns:p14="http://schemas.microsoft.com/office/powerpoint/2010/main" val="7279357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31A1316-D756-4070-A09E-2ABC241B2FF7}"/>
              </a:ext>
            </a:extLst>
          </p:cNvPr>
          <p:cNvSpPr>
            <a:spLocks xmlns:a="http://schemas.openxmlformats.org/drawingml/2006/main" noGrp="1"/>
          </p:cNvSpPr>
          <p:nvPr/>
        </p:nvSpPr>
        <p:spPr>
          <a:xfrm xmlns:a="http://schemas.openxmlformats.org/drawingml/2006/main">
            <a:off x="609600" y="323850"/>
            <a:ext cx="10953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050" b="1">
                <a:solidFill>
                  <a:srgbClr val="2F75B5"/>
                </a:solidFill>
                <a:latin typeface="Arial"/>
                <a:ea typeface="Arial"/>
                <a:cs typeface="Arial"/>
              </a:defRPr>
            </a:defPPr>
          </a:lstStyle>
          <a:p xmlns:a="http://schemas.openxmlformats.org/drawingml/2006/main">
            <a:pPr algn="l">
              <a:defRPr sz="1050" b="1">
                <a:solidFill>
                  <a:srgbClr val="2F75B5"/>
                </a:solidFill>
                <a:latin typeface="Arial"/>
                <a:ea typeface="Arial"/>
                <a:cs typeface="Arial"/>
              </a:defRPr>
            </a:pPr>
            <a:r>
              <a:rPr sz="1050" b="1">
                <a:solidFill>
                  <a:srgbClr val="2F75B5"/>
                </a:solidFill>
                <a:latin typeface="Arial"/>
                <a:ea typeface="Arial"/>
                <a:cs typeface="Arial"/>
              </a:rPr>
              <a:t>WHAT THE COMPLETED RUN WILL PROVIDE</a:t>
            </a:r>
          </a:p>
        </p:txBody>
      </p:sp>
      <p:sp>
        <p:nvSpPr>
          <p:cNvPr id="2" name="">
            <a:extLst xmlns:a="http://schemas.openxmlformats.org/drawingml/2006/main">
              <a:ext uri="{FF2B5EF4-FFF2-40B4-BE49-F238E27FC236}">
                <a16:creationId xmlns:a16="http://schemas.microsoft.com/office/drawing/2014/main" id="{5A8E95EF-8C64-40C4-A8C4-36EBC57E6F70}"/>
              </a:ext>
            </a:extLst>
          </p:cNvPr>
          <p:cNvSpPr>
            <a:spLocks xmlns:a="http://schemas.openxmlformats.org/drawingml/2006/main" noGrp="1"/>
          </p:cNvSpPr>
          <p:nvPr/>
        </p:nvSpPr>
        <p:spPr>
          <a:xfrm xmlns:a="http://schemas.openxmlformats.org/drawingml/2006/main">
            <a:off x="609600" y="61912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2263A"/>
                </a:solidFill>
                <a:latin typeface="Arial"/>
                <a:ea typeface="Arial"/>
                <a:cs typeface="Arial"/>
              </a:defRPr>
            </a:defPPr>
          </a:lstStyle>
          <a:p xmlns:a="http://schemas.openxmlformats.org/drawingml/2006/main">
            <a:pPr algn="l">
              <a:defRPr sz="2550" b="1">
                <a:solidFill>
                  <a:srgbClr val="12263A"/>
                </a:solidFill>
                <a:latin typeface="Arial"/>
                <a:ea typeface="Arial"/>
                <a:cs typeface="Arial"/>
              </a:defRPr>
            </a:pPr>
            <a:r>
              <a:rPr sz="2550" b="1">
                <a:solidFill>
                  <a:srgbClr val="12263A"/>
                </a:solidFill>
                <a:latin typeface="Arial"/>
                <a:ea typeface="Arial"/>
                <a:cs typeface="Arial"/>
              </a:rPr>
              <a:t>Outputs and interpretation</a:t>
            </a:r>
          </a:p>
        </p:txBody>
      </p:sp>
      <p:sp>
        <p:nvSpPr>
          <p:cNvPr id="3" name="">
            <a:extLst xmlns:a="http://schemas.openxmlformats.org/drawingml/2006/main">
              <a:ext uri="{FF2B5EF4-FFF2-40B4-BE49-F238E27FC236}">
                <a16:creationId xmlns:a16="http://schemas.microsoft.com/office/drawing/2014/main" id="{8BE74149-F967-4C50-82FF-28D6A3106E28}"/>
              </a:ext>
            </a:extLst>
          </p:cNvPr>
          <p:cNvSpPr>
            <a:spLocks xmlns:a="http://schemas.openxmlformats.org/drawingml/2006/main" noGrp="1"/>
          </p:cNvSpPr>
          <p:nvPr/>
        </p:nvSpPr>
        <p:spPr>
          <a:xfrm xmlns:a="http://schemas.openxmlformats.org/drawingml/2006/main">
            <a:off x="609600" y="13525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2F75B5"/>
                </a:solidFill>
                <a:latin typeface="Arial"/>
                <a:ea typeface="Arial"/>
                <a:cs typeface="Arial"/>
              </a:defRPr>
            </a:defPPr>
          </a:lstStyle>
          <a:p xmlns:a="http://schemas.openxmlformats.org/drawingml/2006/main">
            <a:pPr algn="l">
              <a:defRPr sz="1800" b="1">
                <a:solidFill>
                  <a:srgbClr val="2F75B5"/>
                </a:solidFill>
                <a:latin typeface="Arial"/>
                <a:ea typeface="Arial"/>
                <a:cs typeface="Arial"/>
              </a:defRPr>
            </a:pPr>
            <a:r>
              <a:rPr sz="1800" b="1">
                <a:solidFill>
                  <a:srgbClr val="2F75B5"/>
                </a:solidFill>
                <a:latin typeface="Arial"/>
                <a:ea typeface="Arial"/>
                <a:cs typeface="Arial"/>
              </a:rPr>
              <a:t>Result files</a:t>
            </a:r>
          </a:p>
        </p:txBody>
      </p:sp>
      <p:sp>
        <p:nvSpPr>
          <p:cNvPr id="4" name="">
            <a:extLst xmlns:a="http://schemas.openxmlformats.org/drawingml/2006/main">
              <a:ext uri="{FF2B5EF4-FFF2-40B4-BE49-F238E27FC236}">
                <a16:creationId xmlns:a16="http://schemas.microsoft.com/office/drawing/2014/main" id="{B0084D15-C690-4A2F-BFF9-A7BBC6BF8BF3}"/>
              </a:ext>
            </a:extLst>
          </p:cNvPr>
          <p:cNvSpPr>
            <a:spLocks xmlns:a="http://schemas.openxmlformats.org/drawingml/2006/main" noGrp="1"/>
          </p:cNvSpPr>
          <p:nvPr/>
        </p:nvSpPr>
        <p:spPr>
          <a:xfrm xmlns:a="http://schemas.openxmlformats.org/drawingml/2006/main">
            <a:off x="609600" y="1809750"/>
            <a:ext cx="409575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5" name="">
            <a:extLst xmlns:a="http://schemas.openxmlformats.org/drawingml/2006/main">
              <a:ext uri="{FF2B5EF4-FFF2-40B4-BE49-F238E27FC236}">
                <a16:creationId xmlns:a16="http://schemas.microsoft.com/office/drawing/2014/main" id="{062D1AF3-07F6-44B0-9C8E-5A6674559D8C}"/>
              </a:ext>
            </a:extLst>
          </p:cNvPr>
          <p:cNvSpPr>
            <a:spLocks xmlns:a="http://schemas.openxmlformats.org/drawingml/2006/main" noGrp="1"/>
          </p:cNvSpPr>
          <p:nvPr/>
        </p:nvSpPr>
        <p:spPr>
          <a:xfrm xmlns:a="http://schemas.openxmlformats.org/drawingml/2006/main">
            <a:off x="800100" y="1914525"/>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b="1">
                <a:solidFill>
                  <a:srgbClr val="203040"/>
                </a:solidFill>
                <a:latin typeface="Arial"/>
                <a:ea typeface="Arial"/>
                <a:cs typeface="Arial"/>
              </a:defRPr>
            </a:defPPr>
          </a:lstStyle>
          <a:p xmlns:a="http://schemas.openxmlformats.org/drawingml/2006/main">
            <a:pPr algn="l">
              <a:defRPr sz="1425" b="1">
                <a:solidFill>
                  <a:srgbClr val="203040"/>
                </a:solidFill>
                <a:latin typeface="Arial"/>
                <a:ea typeface="Arial"/>
                <a:cs typeface="Arial"/>
              </a:defRPr>
            </a:pPr>
            <a:r>
              <a:rPr sz="1425" b="1">
                <a:solidFill>
                  <a:srgbClr val="203040"/>
                </a:solidFill>
                <a:latin typeface="Arial"/>
                <a:ea typeface="Arial"/>
                <a:cs typeface="Arial"/>
              </a:rPr>
              <a:t>runs.csv</a:t>
            </a:r>
          </a:p>
        </p:txBody>
      </p:sp>
      <p:sp>
        <p:nvSpPr>
          <p:cNvPr id="6" name="">
            <a:extLst xmlns:a="http://schemas.openxmlformats.org/drawingml/2006/main">
              <a:ext uri="{FF2B5EF4-FFF2-40B4-BE49-F238E27FC236}">
                <a16:creationId xmlns:a16="http://schemas.microsoft.com/office/drawing/2014/main" id="{797181D0-01AD-42F9-B98C-5C2DA5067ACE}"/>
              </a:ext>
            </a:extLst>
          </p:cNvPr>
          <p:cNvSpPr>
            <a:spLocks xmlns:a="http://schemas.openxmlformats.org/drawingml/2006/main" noGrp="1"/>
          </p:cNvSpPr>
          <p:nvPr/>
        </p:nvSpPr>
        <p:spPr>
          <a:xfrm xmlns:a="http://schemas.openxmlformats.org/drawingml/2006/main">
            <a:off x="609600" y="2333625"/>
            <a:ext cx="4095750" cy="400050"/>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7" name="">
            <a:extLst xmlns:a="http://schemas.openxmlformats.org/drawingml/2006/main">
              <a:ext uri="{FF2B5EF4-FFF2-40B4-BE49-F238E27FC236}">
                <a16:creationId xmlns:a16="http://schemas.microsoft.com/office/drawing/2014/main" id="{72DEE2E0-1C2F-4B45-A2AA-975CD134FBDE}"/>
              </a:ext>
            </a:extLst>
          </p:cNvPr>
          <p:cNvSpPr>
            <a:spLocks xmlns:a="http://schemas.openxmlformats.org/drawingml/2006/main" noGrp="1"/>
          </p:cNvSpPr>
          <p:nvPr/>
        </p:nvSpPr>
        <p:spPr>
          <a:xfrm xmlns:a="http://schemas.openxmlformats.org/drawingml/2006/main">
            <a:off x="800100" y="2438400"/>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b="1">
                <a:solidFill>
                  <a:srgbClr val="203040"/>
                </a:solidFill>
                <a:latin typeface="Arial"/>
                <a:ea typeface="Arial"/>
                <a:cs typeface="Arial"/>
              </a:defRPr>
            </a:defPPr>
          </a:lstStyle>
          <a:p xmlns:a="http://schemas.openxmlformats.org/drawingml/2006/main">
            <a:pPr algn="l">
              <a:defRPr sz="1425" b="1">
                <a:solidFill>
                  <a:srgbClr val="203040"/>
                </a:solidFill>
                <a:latin typeface="Arial"/>
                <a:ea typeface="Arial"/>
                <a:cs typeface="Arial"/>
              </a:defRPr>
            </a:pPr>
            <a:r>
              <a:rPr sz="1425" b="1">
                <a:solidFill>
                  <a:srgbClr val="203040"/>
                </a:solidFill>
                <a:latin typeface="Arial"/>
                <a:ea typeface="Arial"/>
                <a:cs typeface="Arial"/>
              </a:rPr>
              <a:t>summary.csv</a:t>
            </a:r>
          </a:p>
        </p:txBody>
      </p:sp>
      <p:sp>
        <p:nvSpPr>
          <p:cNvPr id="8" name="">
            <a:extLst xmlns:a="http://schemas.openxmlformats.org/drawingml/2006/main">
              <a:ext uri="{FF2B5EF4-FFF2-40B4-BE49-F238E27FC236}">
                <a16:creationId xmlns:a16="http://schemas.microsoft.com/office/drawing/2014/main" id="{285E0FD9-6668-4FF0-AF7A-17C19C5DC661}"/>
              </a:ext>
            </a:extLst>
          </p:cNvPr>
          <p:cNvSpPr>
            <a:spLocks xmlns:a="http://schemas.openxmlformats.org/drawingml/2006/main" noGrp="1"/>
          </p:cNvSpPr>
          <p:nvPr/>
        </p:nvSpPr>
        <p:spPr>
          <a:xfrm xmlns:a="http://schemas.openxmlformats.org/drawingml/2006/main">
            <a:off x="609600" y="2857500"/>
            <a:ext cx="409575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9" name="">
            <a:extLst xmlns:a="http://schemas.openxmlformats.org/drawingml/2006/main">
              <a:ext uri="{FF2B5EF4-FFF2-40B4-BE49-F238E27FC236}">
                <a16:creationId xmlns:a16="http://schemas.microsoft.com/office/drawing/2014/main" id="{EC5BB635-E387-4706-8847-230AF9B3DDE2}"/>
              </a:ext>
            </a:extLst>
          </p:cNvPr>
          <p:cNvSpPr>
            <a:spLocks xmlns:a="http://schemas.openxmlformats.org/drawingml/2006/main" noGrp="1"/>
          </p:cNvSpPr>
          <p:nvPr/>
        </p:nvSpPr>
        <p:spPr>
          <a:xfrm xmlns:a="http://schemas.openxmlformats.org/drawingml/2006/main">
            <a:off x="800100" y="2962275"/>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b="1">
                <a:solidFill>
                  <a:srgbClr val="203040"/>
                </a:solidFill>
                <a:latin typeface="Arial"/>
                <a:ea typeface="Arial"/>
                <a:cs typeface="Arial"/>
              </a:defRPr>
            </a:defPPr>
          </a:lstStyle>
          <a:p xmlns:a="http://schemas.openxmlformats.org/drawingml/2006/main">
            <a:pPr algn="l">
              <a:defRPr sz="1425" b="1">
                <a:solidFill>
                  <a:srgbClr val="203040"/>
                </a:solidFill>
                <a:latin typeface="Arial"/>
                <a:ea typeface="Arial"/>
                <a:cs typeface="Arial"/>
              </a:defRPr>
            </a:pPr>
            <a:r>
              <a:rPr sz="1425" b="1">
                <a:solidFill>
                  <a:srgbClr val="203040"/>
                </a:solidFill>
                <a:latin typeface="Arial"/>
                <a:ea typeface="Arial"/>
                <a:cs typeface="Arial"/>
              </a:rPr>
              <a:t>comparison.png</a:t>
            </a:r>
          </a:p>
        </p:txBody>
      </p:sp>
      <p:sp>
        <p:nvSpPr>
          <p:cNvPr id="10" name="">
            <a:extLst xmlns:a="http://schemas.openxmlformats.org/drawingml/2006/main">
              <a:ext uri="{FF2B5EF4-FFF2-40B4-BE49-F238E27FC236}">
                <a16:creationId xmlns:a16="http://schemas.microsoft.com/office/drawing/2014/main" id="{44AA1111-A0E9-4C37-9182-AF2389607C56}"/>
              </a:ext>
            </a:extLst>
          </p:cNvPr>
          <p:cNvSpPr>
            <a:spLocks xmlns:a="http://schemas.openxmlformats.org/drawingml/2006/main" noGrp="1"/>
          </p:cNvSpPr>
          <p:nvPr/>
        </p:nvSpPr>
        <p:spPr>
          <a:xfrm xmlns:a="http://schemas.openxmlformats.org/drawingml/2006/main">
            <a:off x="609600" y="3381375"/>
            <a:ext cx="4095750" cy="400050"/>
          </a:xfrm>
          <a:prstGeom xmlns:a="http://schemas.openxmlformats.org/drawingml/2006/main" prst="rect">
            <a:avLst/>
          </a:prstGeom>
          <a:solidFill xmlns:a="http://schemas.openxmlformats.org/drawingml/2006/main">
            <a:srgbClr val="F3F7FA"/>
          </a:solidFill>
          <a:ln xmlns:a="http://schemas.openxmlformats.org/drawingml/2006/main" w="9525">
            <a:solidFill>
              <a:srgbClr val="CBD5DE"/>
            </a:solidFill>
          </a:ln>
        </p:spPr>
      </p:sp>
      <p:sp>
        <p:nvSpPr>
          <p:cNvPr id="11" name="">
            <a:extLst xmlns:a="http://schemas.openxmlformats.org/drawingml/2006/main">
              <a:ext uri="{FF2B5EF4-FFF2-40B4-BE49-F238E27FC236}">
                <a16:creationId xmlns:a16="http://schemas.microsoft.com/office/drawing/2014/main" id="{AA6C4710-1270-4294-8ED4-EE9656180D5C}"/>
              </a:ext>
            </a:extLst>
          </p:cNvPr>
          <p:cNvSpPr>
            <a:spLocks xmlns:a="http://schemas.openxmlformats.org/drawingml/2006/main" noGrp="1"/>
          </p:cNvSpPr>
          <p:nvPr/>
        </p:nvSpPr>
        <p:spPr>
          <a:xfrm xmlns:a="http://schemas.openxmlformats.org/drawingml/2006/main">
            <a:off x="800100" y="3486150"/>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b="1">
                <a:solidFill>
                  <a:srgbClr val="203040"/>
                </a:solidFill>
                <a:latin typeface="Arial"/>
                <a:ea typeface="Arial"/>
                <a:cs typeface="Arial"/>
              </a:defRPr>
            </a:defPPr>
          </a:lstStyle>
          <a:p xmlns:a="http://schemas.openxmlformats.org/drawingml/2006/main">
            <a:pPr algn="l">
              <a:defRPr sz="1425" b="1">
                <a:solidFill>
                  <a:srgbClr val="203040"/>
                </a:solidFill>
                <a:latin typeface="Arial"/>
                <a:ea typeface="Arial"/>
                <a:cs typeface="Arial"/>
              </a:defRPr>
            </a:pPr>
            <a:r>
              <a:rPr sz="1425" b="1">
                <a:solidFill>
                  <a:srgbClr val="203040"/>
                </a:solidFill>
                <a:latin typeface="Arial"/>
                <a:ea typeface="Arial"/>
                <a:cs typeface="Arial"/>
              </a:rPr>
              <a:t>overall.png</a:t>
            </a:r>
          </a:p>
        </p:txBody>
      </p:sp>
      <p:sp>
        <p:nvSpPr>
          <p:cNvPr id="12" name="">
            <a:extLst xmlns:a="http://schemas.openxmlformats.org/drawingml/2006/main">
              <a:ext uri="{FF2B5EF4-FFF2-40B4-BE49-F238E27FC236}">
                <a16:creationId xmlns:a16="http://schemas.microsoft.com/office/drawing/2014/main" id="{2852F700-918B-4E74-B047-A8A1742DE590}"/>
              </a:ext>
            </a:extLst>
          </p:cNvPr>
          <p:cNvSpPr>
            <a:spLocks xmlns:a="http://schemas.openxmlformats.org/drawingml/2006/main" noGrp="1"/>
          </p:cNvSpPr>
          <p:nvPr/>
        </p:nvSpPr>
        <p:spPr>
          <a:xfrm xmlns:a="http://schemas.openxmlformats.org/drawingml/2006/main">
            <a:off x="609600" y="3905250"/>
            <a:ext cx="409575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DE"/>
            </a:solidFill>
          </a:ln>
        </p:spPr>
      </p:sp>
      <p:sp>
        <p:nvSpPr>
          <p:cNvPr id="13" name="">
            <a:extLst xmlns:a="http://schemas.openxmlformats.org/drawingml/2006/main">
              <a:ext uri="{FF2B5EF4-FFF2-40B4-BE49-F238E27FC236}">
                <a16:creationId xmlns:a16="http://schemas.microsoft.com/office/drawing/2014/main" id="{3BDC7666-F91D-4AC9-91B2-5DB4363AB276}"/>
              </a:ext>
            </a:extLst>
          </p:cNvPr>
          <p:cNvSpPr>
            <a:spLocks xmlns:a="http://schemas.openxmlformats.org/drawingml/2006/main" noGrp="1"/>
          </p:cNvSpPr>
          <p:nvPr/>
        </p:nvSpPr>
        <p:spPr>
          <a:xfrm xmlns:a="http://schemas.openxmlformats.org/drawingml/2006/main">
            <a:off x="800100" y="4010025"/>
            <a:ext cx="3714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b="1">
                <a:solidFill>
                  <a:srgbClr val="203040"/>
                </a:solidFill>
                <a:latin typeface="Arial"/>
                <a:ea typeface="Arial"/>
                <a:cs typeface="Arial"/>
              </a:defRPr>
            </a:defPPr>
          </a:lstStyle>
          <a:p xmlns:a="http://schemas.openxmlformats.org/drawingml/2006/main">
            <a:pPr algn="l">
              <a:defRPr sz="1425" b="1">
                <a:solidFill>
                  <a:srgbClr val="203040"/>
                </a:solidFill>
                <a:latin typeface="Arial"/>
                <a:ea typeface="Arial"/>
                <a:cs typeface="Arial"/>
              </a:defRPr>
            </a:pPr>
            <a:r>
              <a:rPr sz="1425" b="1">
                <a:solidFill>
                  <a:srgbClr val="203040"/>
                </a:solidFill>
                <a:latin typeface="Arial"/>
                <a:ea typeface="Arial"/>
                <a:cs typeface="Arial"/>
              </a:rPr>
              <a:t>configuration.txt</a:t>
            </a:r>
          </a:p>
        </p:txBody>
      </p:sp>
      <p:sp>
        <p:nvSpPr>
          <p:cNvPr id="14" name="">
            <a:extLst xmlns:a="http://schemas.openxmlformats.org/drawingml/2006/main">
              <a:ext uri="{FF2B5EF4-FFF2-40B4-BE49-F238E27FC236}">
                <a16:creationId xmlns:a16="http://schemas.microsoft.com/office/drawing/2014/main" id="{14813EE7-15D4-4814-8B57-242EE8617E49}"/>
              </a:ext>
            </a:extLst>
          </p:cNvPr>
          <p:cNvSpPr>
            <a:spLocks xmlns:a="http://schemas.openxmlformats.org/drawingml/2006/main" noGrp="1"/>
          </p:cNvSpPr>
          <p:nvPr/>
        </p:nvSpPr>
        <p:spPr>
          <a:xfrm xmlns:a="http://schemas.openxmlformats.org/drawingml/2006/main">
            <a:off x="5810250" y="1352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ED7D31"/>
                </a:solidFill>
                <a:latin typeface="Arial"/>
                <a:ea typeface="Arial"/>
                <a:cs typeface="Arial"/>
              </a:defRPr>
            </a:defPPr>
          </a:lstStyle>
          <a:p xmlns:a="http://schemas.openxmlformats.org/drawingml/2006/main">
            <a:pPr algn="l">
              <a:defRPr sz="1800" b="1">
                <a:solidFill>
                  <a:srgbClr val="ED7D31"/>
                </a:solidFill>
                <a:latin typeface="Arial"/>
                <a:ea typeface="Arial"/>
                <a:cs typeface="Arial"/>
              </a:defRPr>
            </a:pPr>
            <a:r>
              <a:rPr sz="1800" b="1">
                <a:solidFill>
                  <a:srgbClr val="ED7D31"/>
                </a:solidFill>
                <a:latin typeface="Arial"/>
                <a:ea typeface="Arial"/>
                <a:cs typeface="Arial"/>
              </a:rPr>
              <a:t>Read the comparison</a:t>
            </a:r>
          </a:p>
        </p:txBody>
      </p:sp>
      <p:sp>
        <p:nvSpPr>
          <p:cNvPr id="15" name="">
            <a:extLst xmlns:a="http://schemas.openxmlformats.org/drawingml/2006/main">
              <a:ext uri="{FF2B5EF4-FFF2-40B4-BE49-F238E27FC236}">
                <a16:creationId xmlns:a16="http://schemas.microsoft.com/office/drawing/2014/main" id="{6935AA78-1168-436A-813B-CF49829D2DCC}"/>
              </a:ext>
            </a:extLst>
          </p:cNvPr>
          <p:cNvSpPr>
            <a:spLocks xmlns:a="http://schemas.openxmlformats.org/drawingml/2006/main" noGrp="1"/>
          </p:cNvSpPr>
          <p:nvPr/>
        </p:nvSpPr>
        <p:spPr>
          <a:xfrm xmlns:a="http://schemas.openxmlformats.org/drawingml/2006/main">
            <a:off x="5810250" y="18859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203040"/>
                </a:solidFill>
                <a:latin typeface="Arial"/>
                <a:ea typeface="Arial"/>
                <a:cs typeface="Arial"/>
              </a:defRPr>
            </a:defPPr>
          </a:lstStyle>
          <a:p xmlns:a="http://schemas.openxmlformats.org/drawingml/2006/main">
            <a:pPr algn="l">
              <a:defRPr sz="1575" b="0">
                <a:solidFill>
                  <a:srgbClr val="203040"/>
                </a:solidFill>
                <a:latin typeface="Arial"/>
                <a:ea typeface="Arial"/>
                <a:cs typeface="Arial"/>
              </a:defRPr>
            </a:pPr>
            <a:r>
              <a:rPr sz="1575" b="0">
                <a:solidFill>
                  <a:srgbClr val="203040"/>
                </a:solidFill>
                <a:latin typeface="Arial"/>
                <a:ea typeface="Arial"/>
                <a:cs typeface="Arial"/>
              </a:rPr>
              <a:t>• Lower makespan means faster completion</a:t>
            </a:r>
          </a:p>
        </p:txBody>
      </p:sp>
      <p:sp>
        <p:nvSpPr>
          <p:cNvPr id="16" name="">
            <a:extLst xmlns:a="http://schemas.openxmlformats.org/drawingml/2006/main">
              <a:ext uri="{FF2B5EF4-FFF2-40B4-BE49-F238E27FC236}">
                <a16:creationId xmlns:a16="http://schemas.microsoft.com/office/drawing/2014/main" id="{50D83A50-B0AE-4027-BCBE-4406B4134BDE}"/>
              </a:ext>
            </a:extLst>
          </p:cNvPr>
          <p:cNvSpPr>
            <a:spLocks xmlns:a="http://schemas.openxmlformats.org/drawingml/2006/main" noGrp="1"/>
          </p:cNvSpPr>
          <p:nvPr/>
        </p:nvSpPr>
        <p:spPr>
          <a:xfrm xmlns:a="http://schemas.openxmlformats.org/drawingml/2006/main">
            <a:off x="5810250" y="23050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203040"/>
                </a:solidFill>
                <a:latin typeface="Arial"/>
                <a:ea typeface="Arial"/>
                <a:cs typeface="Arial"/>
              </a:defRPr>
            </a:defPPr>
          </a:lstStyle>
          <a:p xmlns:a="http://schemas.openxmlformats.org/drawingml/2006/main">
            <a:pPr algn="l">
              <a:defRPr sz="1575" b="0">
                <a:solidFill>
                  <a:srgbClr val="203040"/>
                </a:solidFill>
                <a:latin typeface="Arial"/>
                <a:ea typeface="Arial"/>
                <a:cs typeface="Arial"/>
              </a:defRPr>
            </a:pPr>
            <a:r>
              <a:rPr sz="1575" b="0">
                <a:solidFill>
                  <a:srgbClr val="203040"/>
                </a:solidFill>
                <a:latin typeface="Arial"/>
                <a:ea typeface="Arial"/>
                <a:cs typeface="Arial"/>
              </a:rPr>
              <a:t>• Lower total cost means cheaper execution</a:t>
            </a:r>
          </a:p>
        </p:txBody>
      </p:sp>
      <p:sp>
        <p:nvSpPr>
          <p:cNvPr id="17" name="">
            <a:extLst xmlns:a="http://schemas.openxmlformats.org/drawingml/2006/main">
              <a:ext uri="{FF2B5EF4-FFF2-40B4-BE49-F238E27FC236}">
                <a16:creationId xmlns:a16="http://schemas.microsoft.com/office/drawing/2014/main" id="{0A59FAE5-57BA-469C-A02E-94FF2621EBE4}"/>
              </a:ext>
            </a:extLst>
          </p:cNvPr>
          <p:cNvSpPr>
            <a:spLocks xmlns:a="http://schemas.openxmlformats.org/drawingml/2006/main" noGrp="1"/>
          </p:cNvSpPr>
          <p:nvPr/>
        </p:nvSpPr>
        <p:spPr>
          <a:xfrm xmlns:a="http://schemas.openxmlformats.org/drawingml/2006/main">
            <a:off x="5810250" y="27241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203040"/>
                </a:solidFill>
                <a:latin typeface="Arial"/>
                <a:ea typeface="Arial"/>
                <a:cs typeface="Arial"/>
              </a:defRPr>
            </a:defPPr>
          </a:lstStyle>
          <a:p xmlns:a="http://schemas.openxmlformats.org/drawingml/2006/main">
            <a:pPr algn="l">
              <a:defRPr sz="1575" b="0">
                <a:solidFill>
                  <a:srgbClr val="203040"/>
                </a:solidFill>
                <a:latin typeface="Arial"/>
                <a:ea typeface="Arial"/>
                <a:cs typeface="Arial"/>
              </a:defRPr>
            </a:pPr>
            <a:r>
              <a:rPr sz="1575" b="0">
                <a:solidFill>
                  <a:srgbClr val="203040"/>
                </a:solidFill>
                <a:latin typeface="Arial"/>
                <a:ea typeface="Arial"/>
                <a:cs typeface="Arial"/>
              </a:rPr>
              <a:t>• Higher throughput means more completed tasks per time</a:t>
            </a:r>
          </a:p>
        </p:txBody>
      </p:sp>
      <p:sp>
        <p:nvSpPr>
          <p:cNvPr id="18" name="">
            <a:extLst xmlns:a="http://schemas.openxmlformats.org/drawingml/2006/main">
              <a:ext uri="{FF2B5EF4-FFF2-40B4-BE49-F238E27FC236}">
                <a16:creationId xmlns:a16="http://schemas.microsoft.com/office/drawing/2014/main" id="{54D91205-842C-4E6F-ACE2-A802D133751E}"/>
              </a:ext>
            </a:extLst>
          </p:cNvPr>
          <p:cNvSpPr>
            <a:spLocks xmlns:a="http://schemas.openxmlformats.org/drawingml/2006/main" noGrp="1"/>
          </p:cNvSpPr>
          <p:nvPr/>
        </p:nvSpPr>
        <p:spPr>
          <a:xfrm xmlns:a="http://schemas.openxmlformats.org/drawingml/2006/main">
            <a:off x="5810250" y="31432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575" b="0">
                <a:solidFill>
                  <a:srgbClr val="203040"/>
                </a:solidFill>
                <a:latin typeface="Arial"/>
                <a:ea typeface="Arial"/>
                <a:cs typeface="Arial"/>
              </a:defRPr>
            </a:defPPr>
          </a:lstStyle>
          <a:p xmlns:a="http://schemas.openxmlformats.org/drawingml/2006/main">
            <a:pPr algn="l">
              <a:defRPr sz="1575" b="0">
                <a:solidFill>
                  <a:srgbClr val="203040"/>
                </a:solidFill>
                <a:latin typeface="Arial"/>
                <a:ea typeface="Arial"/>
                <a:cs typeface="Arial"/>
              </a:defRPr>
            </a:pPr>
            <a:r>
              <a:rPr sz="1575" b="0">
                <a:solidFill>
                  <a:srgbClr val="203040"/>
                </a:solidFill>
                <a:latin typeface="Arial"/>
                <a:ea typeface="Arial"/>
                <a:cs typeface="Arial"/>
              </a:rPr>
              <a:t>• Lower imbalance and deadline misses indicate better distribution</a:t>
            </a:r>
          </a:p>
        </p:txBody>
      </p:sp>
      <p:sp>
        <p:nvSpPr>
          <p:cNvPr id="19" name="">
            <a:extLst xmlns:a="http://schemas.openxmlformats.org/drawingml/2006/main">
              <a:ext uri="{FF2B5EF4-FFF2-40B4-BE49-F238E27FC236}">
                <a16:creationId xmlns:a16="http://schemas.microsoft.com/office/drawing/2014/main" id="{99F36F20-E7AC-4AAE-9ECE-12C5278D965E}"/>
              </a:ext>
            </a:extLst>
          </p:cNvPr>
          <p:cNvSpPr>
            <a:spLocks xmlns:a="http://schemas.openxmlformats.org/drawingml/2006/main" noGrp="1"/>
          </p:cNvSpPr>
          <p:nvPr/>
        </p:nvSpPr>
        <p:spPr>
          <a:xfrm xmlns:a="http://schemas.openxmlformats.org/drawingml/2006/main">
            <a:off x="5810250" y="3905250"/>
            <a:ext cx="5429250" cy="1333500"/>
          </a:xfrm>
          <a:prstGeom xmlns:a="http://schemas.openxmlformats.org/drawingml/2006/main" prst="rect">
            <a:avLst/>
          </a:prstGeom>
          <a:solidFill xmlns:a="http://schemas.openxmlformats.org/drawingml/2006/main">
            <a:srgbClr val="FFF5ED"/>
          </a:solidFill>
          <a:ln xmlns:a="http://schemas.openxmlformats.org/drawingml/2006/main" w="9525">
            <a:solidFill>
              <a:srgbClr val="F3C7A2"/>
            </a:solidFill>
          </a:ln>
        </p:spPr>
      </p:sp>
      <p:sp>
        <p:nvSpPr>
          <p:cNvPr id="20" name="">
            <a:extLst xmlns:a="http://schemas.openxmlformats.org/drawingml/2006/main">
              <a:ext uri="{FF2B5EF4-FFF2-40B4-BE49-F238E27FC236}">
                <a16:creationId xmlns:a16="http://schemas.microsoft.com/office/drawing/2014/main" id="{15DFE3B4-ED2F-4739-9C2C-8D59B4746E21}"/>
              </a:ext>
            </a:extLst>
          </p:cNvPr>
          <p:cNvSpPr>
            <a:spLocks xmlns:a="http://schemas.openxmlformats.org/drawingml/2006/main" noGrp="1"/>
          </p:cNvSpPr>
          <p:nvPr/>
        </p:nvSpPr>
        <p:spPr>
          <a:xfrm xmlns:a="http://schemas.openxmlformats.org/drawingml/2006/main">
            <a:off x="6076950" y="41148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425" b="1">
                <a:solidFill>
                  <a:srgbClr val="12263A"/>
                </a:solidFill>
                <a:latin typeface="Arial"/>
                <a:ea typeface="Arial"/>
                <a:cs typeface="Arial"/>
              </a:defRPr>
            </a:defPPr>
          </a:lstStyle>
          <a:p xmlns:a="http://schemas.openxmlformats.org/drawingml/2006/main">
            <a:pPr algn="l">
              <a:defRPr sz="1425" b="1">
                <a:solidFill>
                  <a:srgbClr val="12263A"/>
                </a:solidFill>
                <a:latin typeface="Arial"/>
                <a:ea typeface="Arial"/>
                <a:cs typeface="Arial"/>
              </a:defRPr>
            </a:pPr>
            <a:r>
              <a:rPr sz="1425" b="1">
                <a:solidFill>
                  <a:srgbClr val="12263A"/>
                </a:solidFill>
                <a:latin typeface="Arial"/>
                <a:ea typeface="Arial"/>
                <a:cs typeface="Arial"/>
              </a:rPr>
              <a:t>Run after the dataset is ready</a:t>
            </a:r>
          </a:p>
        </p:txBody>
      </p:sp>
      <p:sp>
        <p:nvSpPr>
          <p:cNvPr id="21" name="">
            <a:extLst xmlns:a="http://schemas.openxmlformats.org/drawingml/2006/main">
              <a:ext uri="{FF2B5EF4-FFF2-40B4-BE49-F238E27FC236}">
                <a16:creationId xmlns:a16="http://schemas.microsoft.com/office/drawing/2014/main" id="{C2297BFD-3687-491A-A158-B504FB7A53E2}"/>
              </a:ext>
            </a:extLst>
          </p:cNvPr>
          <p:cNvSpPr>
            <a:spLocks xmlns:a="http://schemas.openxmlformats.org/drawingml/2006/main" noGrp="1"/>
          </p:cNvSpPr>
          <p:nvPr/>
        </p:nvSpPr>
        <p:spPr>
          <a:xfrm xmlns:a="http://schemas.openxmlformats.org/drawingml/2006/main">
            <a:off x="6076950" y="45339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ED7D31"/>
                </a:solidFill>
                <a:latin typeface="Arial"/>
                <a:ea typeface="Arial"/>
                <a:cs typeface="Arial"/>
              </a:defRPr>
            </a:defPPr>
          </a:lstStyle>
          <a:p xmlns:a="http://schemas.openxmlformats.org/drawingml/2006/main">
            <a:pPr algn="l">
              <a:defRPr sz="1725" b="1">
                <a:solidFill>
                  <a:srgbClr val="ED7D31"/>
                </a:solidFill>
                <a:latin typeface="Arial"/>
                <a:ea typeface="Arial"/>
                <a:cs typeface="Arial"/>
              </a:defRPr>
            </a:pPr>
            <a:r>
              <a:rPr sz="1725" b="1">
                <a:solidFill>
                  <a:srgbClr val="ED7D31"/>
                </a:solidFill>
                <a:latin typeface="Arial"/>
                <a:ea typeface="Arial"/>
                <a:cs typeface="Arial"/>
              </a:rPr>
              <a:t>./run.sh --algorithm SMA,AO</a:t>
            </a:r>
          </a:p>
        </p:txBody>
      </p:sp>
      <p:sp>
        <p:nvSpPr>
          <p:cNvPr id="22" name="">
            <a:extLst xmlns:a="http://schemas.openxmlformats.org/drawingml/2006/main">
              <a:ext uri="{FF2B5EF4-FFF2-40B4-BE49-F238E27FC236}">
                <a16:creationId xmlns:a16="http://schemas.microsoft.com/office/drawing/2014/main" id="{6E13CB9F-3A8E-4373-B71B-B8E99034D051}"/>
              </a:ext>
            </a:extLst>
          </p:cNvPr>
          <p:cNvSpPr>
            <a:spLocks xmlns:a="http://schemas.openxmlformats.org/drawingml/2006/main" noGrp="1"/>
          </p:cNvSpPr>
          <p:nvPr/>
        </p:nvSpPr>
        <p:spPr>
          <a:xfrm xmlns:a="http://schemas.openxmlformats.org/drawingml/2006/main">
            <a:off x="6076950" y="4933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0">
                <a:solidFill>
                  <a:srgbClr val="5B6770"/>
                </a:solidFill>
                <a:latin typeface="Arial"/>
                <a:ea typeface="Arial"/>
                <a:cs typeface="Arial"/>
              </a:defRPr>
            </a:defPPr>
          </a:lstStyle>
          <a:p xmlns:a="http://schemas.openxmlformats.org/drawingml/2006/main">
            <a:pPr algn="l">
              <a:defRPr sz="1275" b="0">
                <a:solidFill>
                  <a:srgbClr val="5B6770"/>
                </a:solidFill>
                <a:latin typeface="Arial"/>
                <a:ea typeface="Arial"/>
                <a:cs typeface="Arial"/>
              </a:defRPr>
            </a:pPr>
            <a:r>
              <a:rPr sz="1275" b="0">
                <a:solidFill>
                  <a:srgbClr val="5B6770"/>
                </a:solidFill>
                <a:latin typeface="Arial"/>
                <a:ea typeface="Arial"/>
                <a:cs typeface="Arial"/>
              </a:rPr>
              <a:t>The runner validates duplicates before simulation.</a:t>
            </a:r>
          </a:p>
        </p:txBody>
      </p:sp>
      <p:sp>
        <p:nvSpPr>
          <p:cNvPr id="23" name="">
            <a:extLst xmlns:a="http://schemas.openxmlformats.org/drawingml/2006/main">
              <a:ext uri="{FF2B5EF4-FFF2-40B4-BE49-F238E27FC236}">
                <a16:creationId xmlns:a16="http://schemas.microsoft.com/office/drawing/2014/main" id="{96888992-DBE4-4FD6-848D-B50F688D1415}"/>
              </a:ext>
            </a:extLst>
          </p:cNvPr>
          <p:cNvSpPr>
            <a:spLocks xmlns:a="http://schemas.openxmlformats.org/drawingml/2006/main" noGrp="1"/>
          </p:cNvSpPr>
          <p:nvPr/>
        </p:nvSpPr>
        <p:spPr>
          <a:xfrm xmlns:a="http://schemas.openxmlformats.org/drawingml/2006/main">
            <a:off x="609600" y="6534150"/>
            <a:ext cx="10953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825" b="0">
                <a:solidFill>
                  <a:srgbClr val="5B6770"/>
                </a:solidFill>
                <a:latin typeface="Arial"/>
                <a:ea typeface="Arial"/>
                <a:cs typeface="Arial"/>
              </a:defRPr>
            </a:defPPr>
          </a:lstStyle>
          <a:p xmlns:a="http://schemas.openxmlformats.org/drawingml/2006/main">
            <a:pPr algn="l">
              <a:defRPr sz="825" b="0">
                <a:solidFill>
                  <a:srgbClr val="5B6770"/>
                </a:solidFill>
                <a:latin typeface="Arial"/>
                <a:ea typeface="Arial"/>
                <a:cs typeface="Arial"/>
              </a:defRPr>
            </a:pPr>
            <a:r>
              <a:rPr sz="825" b="0">
                <a:solidFill>
                  <a:srgbClr val="5B6770"/>
                </a:solidFill>
                <a:latin typeface="Arial"/>
                <a:ea typeface="Arial"/>
                <a:cs typeface="Arial"/>
              </a:rPr>
              <a:t>SOKA metaheuristic scheduling  |  6</a:t>
            </a:r>
          </a:p>
        </p:txBody>
      </p:sp>
    </p:spTree>
    <p:extLst>
      <p:ext uri="{BB962C8B-B14F-4D97-AF65-F5344CB8AC3E}">
        <p14:creationId xmlns:p14="http://schemas.microsoft.com/office/powerpoint/2010/main" val="13048374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2026-10-06T09:52:01.8620000Z</dcterms:created>
  <dcterms:modified xsi:type="dcterms:W3CDTF">2026-10-06T09:52:01.8620000Z</dcterms:modified>
</coreProperties>
</file>