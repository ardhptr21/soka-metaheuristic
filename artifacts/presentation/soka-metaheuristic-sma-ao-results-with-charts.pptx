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32eceba4524d16" /><Relationship Type="http://schemas.openxmlformats.org/officeDocument/2006/relationships/extended-properties" Target="/docProps/app.xml" Id="Re28303ad24fc42eb" /><Relationship Type="http://schemas.openxmlformats.org/officeDocument/2006/relationships/officeDocument" Target="/ppt/presentation.xml" Id="Raf3c784cfb974a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6e399664df4a0f"/>
  </p:sldMasterIdLst>
  <p:notesMasterIdLst>
    <p:notesMasterId xmlns:r="http://schemas.openxmlformats.org/officeDocument/2006/relationships" r:id="Rb6d28378f1e64dbb"/>
  </p:notesMasterIdLst>
  <p:sldIdLst>
    <p:sldId xmlns:r="http://schemas.openxmlformats.org/officeDocument/2006/relationships" id="256" r:id="Rbc0d069ca2864f4f"/>
    <p:sldId xmlns:r="http://schemas.openxmlformats.org/officeDocument/2006/relationships" id="257" r:id="Ra916ea1eb286437e"/>
    <p:sldId xmlns:r="http://schemas.openxmlformats.org/officeDocument/2006/relationships" id="258" r:id="Rc9b10fa1e8204e97"/>
    <p:sldId xmlns:r="http://schemas.openxmlformats.org/officeDocument/2006/relationships" id="259" r:id="R6ae779af11f74c23"/>
    <p:sldId xmlns:r="http://schemas.openxmlformats.org/officeDocument/2006/relationships" id="260" r:id="R7fb9b3c1c71d42a5"/>
    <p:sldId xmlns:r="http://schemas.openxmlformats.org/officeDocument/2006/relationships" id="261" r:id="R2f5d87f4dade46bf"/>
    <p:sldId xmlns:r="http://schemas.openxmlformats.org/officeDocument/2006/relationships" id="262" r:id="R911a0d3c6d8348af"/>
    <p:sldId xmlns:r="http://schemas.openxmlformats.org/officeDocument/2006/relationships" id="263" r:id="Rd7d26e04e7a146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1f09ab9dc2470f" /><Relationship Type="http://schemas.openxmlformats.org/officeDocument/2006/relationships/slideMaster" Target="/ppt/slideMasters/slideMaster1.xml" Id="R5e6e399664df4a0f" /><Relationship Type="http://schemas.openxmlformats.org/officeDocument/2006/relationships/notesMaster" Target="/ppt/notesMasters/notesMaster1.xml" Id="Rb6d28378f1e64dbb" /><Relationship Type="http://schemas.openxmlformats.org/officeDocument/2006/relationships/presProps" Target="/ppt/presProps.xml" Id="Rdbeccc55ebe84ba1" /><Relationship Type="http://schemas.openxmlformats.org/officeDocument/2006/relationships/tableStyles" Target="/ppt/tableStyles.xml" Id="R9d7053f9ce4042fb" /><Relationship Type="http://schemas.openxmlformats.org/officeDocument/2006/relationships/slide" Target="/ppt/slides/slide1.xml" Id="Rbc0d069ca2864f4f" /><Relationship Type="http://schemas.openxmlformats.org/officeDocument/2006/relationships/slide" Target="/ppt/slides/slide2.xml" Id="Ra916ea1eb286437e" /><Relationship Type="http://schemas.openxmlformats.org/officeDocument/2006/relationships/slide" Target="/ppt/slides/slide3.xml" Id="Rc9b10fa1e8204e97" /><Relationship Type="http://schemas.openxmlformats.org/officeDocument/2006/relationships/slide" Target="/ppt/slides/slide4.xml" Id="R6ae779af11f74c23" /><Relationship Type="http://schemas.openxmlformats.org/officeDocument/2006/relationships/slide" Target="/ppt/slides/slide5.xml" Id="R7fb9b3c1c71d42a5" /><Relationship Type="http://schemas.openxmlformats.org/officeDocument/2006/relationships/slide" Target="/ppt/slides/slide6.xml" Id="R2f5d87f4dade46bf" /><Relationship Type="http://schemas.openxmlformats.org/officeDocument/2006/relationships/slide" Target="/ppt/slides/slide7.xml" Id="R911a0d3c6d8348af" /><Relationship Type="http://schemas.openxmlformats.org/officeDocument/2006/relationships/slide" Target="/ppt/slides/slide8.xml" Id="Rd7d26e04e7a146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665908b36242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45926ebbef4265" /><Relationship Type="http://schemas.openxmlformats.org/officeDocument/2006/relationships/notesMaster" Target="/ppt/notesMasters/notesMaster1.xml" Id="R5786e3a31bc442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b23a8d724145a2" /><Relationship Type="http://schemas.openxmlformats.org/officeDocument/2006/relationships/notesMaster" Target="/ppt/notesMasters/notesMaster1.xml" Id="Ra4f459082af940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fb500e351542e3" /><Relationship Type="http://schemas.openxmlformats.org/officeDocument/2006/relationships/notesMaster" Target="/ppt/notesMasters/notesMaster1.xml" Id="Redc033ae55c545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7d1faa783c4028" /><Relationship Type="http://schemas.openxmlformats.org/officeDocument/2006/relationships/notesMaster" Target="/ppt/notesMasters/notesMaster1.xml" Id="R9ea4ccef2ebb4f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a436422f6c41e0" /><Relationship Type="http://schemas.openxmlformats.org/officeDocument/2006/relationships/notesMaster" Target="/ppt/notesMasters/notesMaster1.xml" Id="R11460f62653a4a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fbdf8903e2483b" /><Relationship Type="http://schemas.openxmlformats.org/officeDocument/2006/relationships/notesMaster" Target="/ppt/notesMasters/notesMaster1.xml" Id="R05a6e662613143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0fc5be4881402c" /><Relationship Type="http://schemas.openxmlformats.org/officeDocument/2006/relationships/notesMaster" Target="/ppt/notesMasters/notesMaster1.xml" Id="R917f45b45401434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38f3edf9e74a21" /><Relationship Type="http://schemas.openxmlformats.org/officeDocument/2006/relationships/notesMaster" Target="/ppt/notesMasters/notesMaster1.xml" Id="Rc33e6bb1a8504c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deck summarizes the completed soka-metaheuristic experiment using 45,000 unique workload rows from the Google Cluster Trace-derived input.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runner validated unique workload ranges, non-negative metrics, and the expected 30 algorithm/workload executions before producing the charts.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Java implementation defines VM hostId and datacenter fields, then uses StaticVmAllocationPolicy to map VM IDs 0-1 to Host 0, 2-3 to Host 1, 4-5 to Host 2, and 6-7 to Host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Java loop advances one global cursor after every chunk. The validator checks that each algorithm has 15 unique ranges and that every range remains within rows 1 through 45,000.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implementation uses a population of eight candidates and twelve iterations. SMA and AO use different update rules but share the same repair function, objective, VM specifications, and CloudSim execution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Values are means from results/summary.csv. M is the unit displayed in the source metrics. Lower makespan and lower cost are preferable; the per-size winner changes between SMA and AO.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generated comparison.png and overall.png artifacts from the completed run. The charts use the same summary metrics shown in the preceding 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completed result artifacts are stored under results/. The copied local artifacts include the CSV summaries, configuration, comparison chart, and overall chart.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73ae09cc244a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921a5f2ecf458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bb5310c5194ae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261d4787434a3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da9977c7664c3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d4b38657ab45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06979D-50FF-484E-922F-1AAAD72EC3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0079AB7-8031-4462-8983-8B6CA658482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6193471-5459-45C0-82E4-C6BA953212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63E054-FD5E-4034-AFB2-9071C10B79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0289BDD-0195-43E7-B1E6-57BEB376CF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A65E73D-F5E9-4BDC-B72F-CC59683DF1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4BCB195-F666-44D0-B0E5-5600511119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A50EAB3-8684-4554-8C36-EC821953975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3A857FC-B363-4695-8E1C-9A95478AC1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BFB734C-F753-4C56-9ADD-43EFE06987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d10183c7484df6" /><Relationship Type="http://schemas.openxmlformats.org/officeDocument/2006/relationships/slideLayout" Target="/ppt/slideLayouts/slideLayout1.xml" Id="Rf7fe0f039caa4e4f" /><Relationship Type="http://schemas.openxmlformats.org/officeDocument/2006/relationships/slideLayout" Target="/ppt/slideLayouts/slideLayout2.xml" Id="R6c1c4dc187d142cd" /><Relationship Type="http://schemas.openxmlformats.org/officeDocument/2006/relationships/slideLayout" Target="/ppt/slideLayouts/slideLayout3.xml" Id="Re33a043c33f94825" /><Relationship Type="http://schemas.openxmlformats.org/officeDocument/2006/relationships/slideLayout" Target="/ppt/slideLayouts/slideLayout4.xml" Id="Rc844265ba87a4397" /><Relationship Type="http://schemas.openxmlformats.org/officeDocument/2006/relationships/slideLayout" Target="/ppt/slideLayouts/slideLayout5.xml" Id="Ra3817668d3eb4d97" /><Relationship Type="http://schemas.openxmlformats.org/officeDocument/2006/relationships/slideLayout" Target="/ppt/slideLayouts/slideLayout6.xml" Id="R2cea09fd50f04a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fe0f039caa4e4f"/>
    <p:sldLayoutId xmlns:r="http://schemas.openxmlformats.org/officeDocument/2006/relationships" id="2147483650" r:id="R6c1c4dc187d142cd"/>
    <p:sldLayoutId xmlns:r="http://schemas.openxmlformats.org/officeDocument/2006/relationships" id="2147483651" r:id="Re33a043c33f94825"/>
    <p:sldLayoutId xmlns:r="http://schemas.openxmlformats.org/officeDocument/2006/relationships" id="2147483652" r:id="Rc844265ba87a4397"/>
    <p:sldLayoutId xmlns:r="http://schemas.openxmlformats.org/officeDocument/2006/relationships" id="2147483653" r:id="Ra3817668d3eb4d97"/>
    <p:sldLayoutId xmlns:r="http://schemas.openxmlformats.org/officeDocument/2006/relationships" id="2147483654" r:id="R2cea09fd50f04a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24259eaaa2494c" /><Relationship Type="http://schemas.openxmlformats.org/officeDocument/2006/relationships/notesSlide" Target="/ppt/notesSlides/notesSlide1.xml" Id="Rd630dbc7322b46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29569a78d84389" /><Relationship Type="http://schemas.openxmlformats.org/officeDocument/2006/relationships/notesSlide" Target="/ppt/notesSlides/notesSlide2.xml" Id="Rfcaa392350114e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586b5d24494a28" /><Relationship Type="http://schemas.openxmlformats.org/officeDocument/2006/relationships/notesSlide" Target="/ppt/notesSlides/notesSlide3.xml" Id="Re0687bc2aa1144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3ab4eb75794315" /><Relationship Type="http://schemas.openxmlformats.org/officeDocument/2006/relationships/notesSlide" Target="/ppt/notesSlides/notesSlide4.xml" Id="Rfe73b899efc94e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261efbe415405c" /><Relationship Type="http://schemas.openxmlformats.org/officeDocument/2006/relationships/notesSlide" Target="/ppt/notesSlides/notesSlide5.xml" Id="R52ebdabd03c04a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9be7a6b6e7457e" /><Relationship Type="http://schemas.openxmlformats.org/officeDocument/2006/relationships/notesSlide" Target="/ppt/notesSlides/notesSlide6.xml" Id="Rb787b8ad9ad842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9a4c1d874b44f1" /><Relationship Type="http://schemas.openxmlformats.org/officeDocument/2006/relationships/image" Target="/ppt/media/image.png" Id="R2a75fe6cedbb4a07" /><Relationship Type="http://schemas.openxmlformats.org/officeDocument/2006/relationships/image" Target="/ppt/media/image2.png" Id="R7bb996e1b7594ebb" /><Relationship Type="http://schemas.openxmlformats.org/officeDocument/2006/relationships/notesSlide" Target="/ppt/notesSlides/notesSlide7.xml" Id="Rbd7d9bed485d47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53efef4bd24d6f" /><Relationship Type="http://schemas.openxmlformats.org/officeDocument/2006/relationships/notesSlide" Target="/ppt/notesSlides/notesSlide8.xml" Id="Rd0f180d0eef2442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6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55730F-685F-40EF-8069-90D60721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143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EB5BDD-89BC-4138-B3A8-EA6332EC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001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B9D9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9D9F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D9F2"/>
                </a:solidFill>
                <a:latin typeface="Arial"/>
                <a:ea typeface="Arial"/>
                <a:cs typeface="Arial"/>
              </a:rPr>
              <a:t>SOKA METAHEURISTIC SCHEDULING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E9EFFB-79AF-4285-964B-B49684E1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19250"/>
            <a:ext cx="9525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SMA and Aquila Optimizer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11E931-3C2D-4C48-8E48-F753B1B2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8191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D7E6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7E6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7E6F2"/>
                </a:solidFill>
                <a:latin typeface="Arial"/>
                <a:ea typeface="Arial"/>
                <a:cs typeface="Arial"/>
              </a:rPr>
              <a:t>A completed CloudSim comparison across 1,000 to 5,000 cloudlets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F1A5A0-E039-498A-9682-BBF15DF8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958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D7D31"/>
                </a:solidFill>
                <a:latin typeface="Arial"/>
                <a:ea typeface="Arial"/>
                <a:cs typeface="Arial"/>
              </a:rPr>
              <a:t>Results from the real workload dataset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D10883-9C25-4E2F-AAB9-1DB45C49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482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B9D9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B9D9F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9D9F2"/>
                </a:solidFill>
                <a:latin typeface="Arial"/>
                <a:ea typeface="Arial"/>
                <a:cs typeface="Arial"/>
              </a:rPr>
              <a:t>30 validated runs across SMA and AO</a:t>
            </a:r>
          </a:p>
        </p:txBody>
      </p:sp>
    </p:spTree>
    <p:extLst>
      <p:ext uri="{BB962C8B-B14F-4D97-AF65-F5344CB8AC3E}">
        <p14:creationId xmlns:p14="http://schemas.microsoft.com/office/powerpoint/2010/main" val="7302942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694543-96E9-4804-A5BC-178A9038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WHAT THE NEW PROJECT TESTS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94E950-AF1F-494B-B1F0-B0651E95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Experiment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C2F8BF-4365-4FF2-B6AC-5BD3C3A4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040"/>
                </a:solidFill>
                <a:latin typeface="Arial"/>
                <a:ea typeface="Arial"/>
                <a:cs typeface="Arial"/>
              </a:rPr>
              <a:t>Two optimizers solve the same scheduling problem under the same infrastructure and cost model.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9D33AA-6355-48CE-8E1F-C773DBAD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4953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D18BD-8F12-42F2-9A6D-4DEAA26D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76450"/>
            <a:ext cx="56388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D"/>
          </a:solidFill>
          <a:ln xmlns:a="http://schemas.openxmlformats.org/drawingml/2006/main" w="9525">
            <a:solidFill>
              <a:srgbClr val="F3C7A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050927-4640-4A46-A1AB-D3817BB1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Algorithms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39296-B2E8-4046-AFF3-EA0C2AE9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• Slime Mould Algorithm (SMA)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254E52-BBA6-4F75-AA32-6390E046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575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• Aquila Optimizer (AO)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99C477-5E93-411E-9F3B-EB3C7892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576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• Same 60:40 time-to-cost objective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AC188B-476D-41CC-9A0A-D47C7D16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812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D7D31"/>
                </a:solidFill>
                <a:latin typeface="Arial"/>
                <a:ea typeface="Arial"/>
                <a:cs typeface="Arial"/>
              </a:rPr>
              <a:t>Experiment status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BB8494-D32E-4EE3-8857-3169437D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• 45,000 unique workload rows validated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32209E-8613-478E-A0FC-987C7367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575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• 30 runs completed: 15 SMA and 15 AO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B8A08B-3656-4372-9187-E4C84053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576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• Every workload size has three repetitions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553330-0FD6-45C6-9736-7FE0BB78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053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The results below come from the completed server run.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0DAB87-66AE-45A4-8014-823DD454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SOKA metaheuristic scheduling  |  2</a:t>
            </a:r>
          </a:p>
        </p:txBody>
      </p:sp>
    </p:spTree>
    <p:extLst>
      <p:ext uri="{BB962C8B-B14F-4D97-AF65-F5344CB8AC3E}">
        <p14:creationId xmlns:p14="http://schemas.microsoft.com/office/powerpoint/2010/main" val="7246101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31070E-B728-4AB5-B0AF-3C4B5AF5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INFRASTRUCTURE CONFIGURATION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1303A-DE40-4FC7-B524-87F9D459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Static CloudSim topology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CC9CBA-3A0E-473A-AE1E-A7D5CC3A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040"/>
                </a:solidFill>
                <a:latin typeface="Arial"/>
                <a:ea typeface="Arial"/>
                <a:cs typeface="Arial"/>
              </a:rPr>
              <a:t>Every run uses the same eight VMs and the same four fixed host assignments.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C13595-06AF-4664-B2A6-2C1D5D26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2578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D71C08-333A-4FBD-A437-D07B879F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Datacenter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E43C44-87F9-45FB-AD66-DB3D1CB2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4724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75B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CF05C5-BAB0-4982-9A5A-CD5AF43F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480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Host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9B6E6A-24C5-4958-8D88-8E20B53B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480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040"/>
                </a:solidFill>
                <a:latin typeface="Arial"/>
                <a:ea typeface="Arial"/>
                <a:cs typeface="Arial"/>
              </a:rPr>
              <a:t>VM 0  |  VM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CDD105-33FE-4753-BE7A-651A9E6A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337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2 VMs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AD74F5-0B8A-4DD5-8535-1646F751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4724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75B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5C5CD7-1DF0-46C3-8A8A-AF6B8696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Host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E4B8BF-B294-4A56-82DF-101C52D9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0767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040"/>
                </a:solidFill>
                <a:latin typeface="Arial"/>
                <a:ea typeface="Arial"/>
                <a:cs typeface="Arial"/>
              </a:rPr>
              <a:t>VM 2  |  VM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08F42C-6556-4E73-93F1-4C7DE6F1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624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2 VMs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5BF15F-C849-4247-990B-CDD013FC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52578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90F5F1-BB44-4597-8658-F162D527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431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Datacenter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4C54FD-8E33-4606-B230-2349E03F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33700"/>
            <a:ext cx="4724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75B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2C40E-06F4-4B46-80D5-9AE5EF0D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480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Host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BA5EE1-AE0C-42B7-87A6-424E5872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480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040"/>
                </a:solidFill>
                <a:latin typeface="Arial"/>
                <a:ea typeface="Arial"/>
                <a:cs typeface="Arial"/>
              </a:rPr>
              <a:t>VM 4  |  VM 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B51CC9-A0D3-43AF-BCB3-2B85F2ED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337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2 VMs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4D6908-120A-4CA0-9F64-EE535E91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62400"/>
            <a:ext cx="4724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75B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B77DF0-250A-45EE-B0BF-C86A1BD8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767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Host 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9A385D-48C9-48A5-BF01-45892BC2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767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040"/>
                </a:solidFill>
                <a:latin typeface="Arial"/>
                <a:ea typeface="Arial"/>
                <a:cs typeface="Arial"/>
              </a:rPr>
              <a:t>VM 6  |  VM 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E127BF-4346-461F-9E71-2C85D4EB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624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2 VMs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BE1670-52D3-4D85-B2E5-AB66EDFC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Static policy maps VM IDs to host IDs. The VM placement does not change between algorithms.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0C5983-203E-4F39-9967-8225357A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SOKA metaheuristic scheduling  |  3</a:t>
            </a:r>
          </a:p>
        </p:txBody>
      </p:sp>
    </p:spTree>
    <p:extLst>
      <p:ext uri="{BB962C8B-B14F-4D97-AF65-F5344CB8AC3E}">
        <p14:creationId xmlns:p14="http://schemas.microsoft.com/office/powerpoint/2010/main" val="892751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36DC1A-6AD0-493A-81CD-48B1FE03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NON-OVERLAPPING INPUT RANGES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A16B29-6594-4EB2-9E7D-DB517566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Workload schedule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85E199-6249-4625-844B-45C11818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040"/>
                </a:solidFill>
                <a:latin typeface="Arial"/>
                <a:ea typeface="Arial"/>
                <a:cs typeface="Arial"/>
              </a:rPr>
              <a:t>The largest individual test contains 5,000 cloudlets. The complete experiment consumes 45,000 unique rows.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FC97C5-7143-4F09-ACEE-315D68B0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029487-1714-4883-8CCE-EC69760D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Dry run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287E81-9542-4E93-B573-9C98E9B2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764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3554DD-BBF6-47E4-884F-F17FAAE4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19075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Cloudlets / repeat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3C9FF9-3849-4E4C-80D3-C12A6C11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76450"/>
            <a:ext cx="7200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E1C926-961E-45B4-BBC0-79329747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90750"/>
            <a:ext cx="693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Three contiguous ranges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FDAFBD-952C-4393-96C4-0C9F7357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1238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6E2240-95BA-4D08-9F12-D39DFBD8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0325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0304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C66A82-64D7-4764-AFD0-95B5C056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33650"/>
            <a:ext cx="2190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CA137F-B55F-4E75-A75D-DAB24D8C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600325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1,000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E7103D-74B6-4648-BD21-EDB2BC48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33650"/>
            <a:ext cx="72009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62B3DE-35C5-4B45-B96D-8F7B7751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00325"/>
            <a:ext cx="693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1–1,000; 1,001–2,000; 2,001–3,000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E51DEC-9658-4613-928B-6278A8C7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1238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6CE099-CC6F-42FA-831E-CA326FC5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0304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ACAA90-8C7A-49F0-A345-87856890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67025"/>
            <a:ext cx="2190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13506D-B609-4F77-9546-9AFF42EF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93370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2,000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8520E7-9E15-4E6B-A2CF-0BEFE315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67025"/>
            <a:ext cx="72009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4113D9-F5BF-4E1D-AAC2-A27ED292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33700"/>
            <a:ext cx="693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3,001–5,000; 5,001–7,000; 7,001–9,000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8BF3C7-CC4A-4D6A-B39B-D161278D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1238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1DC702-C1D2-462C-AF68-7882D8CC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67075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0304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8973A1-D92D-466E-ACBA-6A51BF79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00400"/>
            <a:ext cx="2190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1AED86-9879-4E00-A7A3-2EC29DA7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67075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3,000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20EEAB-F27A-4BEF-997C-D137A7E2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00400"/>
            <a:ext cx="72009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D569CE-C7F9-4ADD-B8EC-AC339E64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67075"/>
            <a:ext cx="693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9,001–12,000; 12,001–15,000; 15,001–18,000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97C406-A474-4C9F-A3CC-4C96CF21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1238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4AA828-6F16-4DDC-BCC4-9658A58F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0304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841855-C320-4254-BBFD-58840B36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533775"/>
            <a:ext cx="2190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F03633-6B06-4B1D-9E93-F6A86C18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6004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4,000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09EC03-49C9-4C78-B254-874CDD2A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33775"/>
            <a:ext cx="72009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92912E-06D7-49B5-96FA-0F61048F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00450"/>
            <a:ext cx="693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18,001–22,000; 22,001–26,000; 26,001–30,000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7A2E8D-1068-4DEB-9B0E-8AB69221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238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9FAF7B-F3CD-45B2-9558-0EBD32E0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33825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0304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F713C1-417F-46A6-A00A-711FA5AA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67150"/>
            <a:ext cx="2190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22C2CB-109F-427B-80BE-D894AFDC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933825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5,000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3D9891-E40C-4955-8D31-CABBD7F7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67150"/>
            <a:ext cx="72009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336E92-B074-43C0-877B-A3EDC724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33825"/>
            <a:ext cx="693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30,001–35,000; 35,001–40,000; 40,001–45,000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6C4133-CB0A-44D2-BFD0-BFF1A2A3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Total unique rows: 3 × (1,000 + 2,000 + … + 5,000) = 45,000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9109A6-47BF-42D6-B244-2D1F0F4A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SOKA metaheuristic scheduling  |  4</a:t>
            </a:r>
          </a:p>
        </p:txBody>
      </p:sp>
    </p:spTree>
    <p:extLst>
      <p:ext uri="{BB962C8B-B14F-4D97-AF65-F5344CB8AC3E}">
        <p14:creationId xmlns:p14="http://schemas.microsoft.com/office/powerpoint/2010/main" val="10628825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D4B284-FA77-4FF4-A30A-199413AB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DISCRETE METAHEURISTIC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434177-D362-4FCC-ACD6-9B70D925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How SMA and AO assign cloudlets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BF9653-FD9A-4D12-8484-C4197D2C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040"/>
                </a:solidFill>
                <a:latin typeface="Arial"/>
                <a:ea typeface="Arial"/>
                <a:cs typeface="Arial"/>
              </a:rPr>
              <a:t>Each candidate solution assigns every cloudlet to one of eight VMs.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E89D34-34AB-4D8B-86C1-A34A71E3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4003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4DE4C1-9645-4AE5-A670-043514CD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6EF979-6AA5-4B57-9691-F542C050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Candidate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45AD7B-0073-4A1E-9A84-06E5731A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A VM ID is proposed for each cloudlet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295313-0A1E-4E23-8247-8F74EBB3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66950"/>
            <a:ext cx="24003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D"/>
          </a:solidFill>
          <a:ln xmlns:a="http://schemas.openxmlformats.org/drawingml/2006/main" w="9525">
            <a:solidFill>
              <a:srgbClr val="F3C7A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DFD4E-F7FD-450C-A5DB-1854EAE3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D7D3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E1448B-BDFC-482F-8246-4BD416F8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908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Repair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A362E0-28B8-4010-8CE7-97433A94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718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CPU and RAM violations move to a feasible VM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A7B8FB-3857-4579-8230-84BE98F0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66950"/>
            <a:ext cx="24003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B9F616-1C73-46F6-830F-6BD57757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5B0D7C-3509-4520-A0BF-1D7E083F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908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Evaluate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9C3F52-B7C0-498A-8C97-748013AC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718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Makespan and execution cost form the score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6608A5-A703-44AD-8C18-DB1B608C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66950"/>
            <a:ext cx="24003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D"/>
          </a:solidFill>
          <a:ln xmlns:a="http://schemas.openxmlformats.org/drawingml/2006/main" w="9525">
            <a:solidFill>
              <a:srgbClr val="F3C7A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34258B-E332-4074-B62C-E8D6E9B5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D7D3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6D505D-A109-4460-BC31-6402A662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908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Update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4D0F92-0295-45D4-B5B1-8885D9EC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718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SMA or AO moves the population toward better solutions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14D7FD-AED5-475E-9277-37BDDA67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5257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64EDE2-94D5-4F86-83D4-9700C56A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76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B9D9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9D9F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9D9F2"/>
                </a:solidFill>
                <a:latin typeface="Arial"/>
                <a:ea typeface="Arial"/>
                <a:cs typeface="Arial"/>
              </a:rPr>
              <a:t>Objective score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1D9979-2FDC-4C5E-91FE-7D2D8D72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0.60 × normalized makespan + 0.40 × normalized cost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3F17BF-C350-49BC-A77A-4D9D781B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67250"/>
            <a:ext cx="5257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9525">
            <a:solidFill>
              <a:srgbClr val="2A9D8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F27220-C9A7-409C-893E-41A7DA7C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76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D8F2E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D8F2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8F2EF"/>
                </a:solidFill>
                <a:latin typeface="Arial"/>
                <a:ea typeface="Arial"/>
                <a:cs typeface="Arial"/>
              </a:rPr>
              <a:t>Cost model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203836-F984-415E-9FEA-CCE61DD9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197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Σ(actual CPU time × VM price)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2CE222-D9AF-485D-A52F-D9927C80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SOKA metaheuristic scheduling  |  5</a:t>
            </a:r>
          </a:p>
        </p:txBody>
      </p:sp>
    </p:spTree>
    <p:extLst>
      <p:ext uri="{BB962C8B-B14F-4D97-AF65-F5344CB8AC3E}">
        <p14:creationId xmlns:p14="http://schemas.microsoft.com/office/powerpoint/2010/main" val="4124979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468A58B-64F4-4A3B-8410-2E9769F2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SMA VERSUS AO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A6E4C8-7040-4B87-BB6F-8F24845F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Measured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0E6147-0564-439F-9A9C-C3E533EE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040"/>
                </a:solidFill>
                <a:latin typeface="Arial"/>
                <a:ea typeface="Arial"/>
                <a:cs typeface="Arial"/>
              </a:rPr>
              <a:t>Mean values across three repetitions for each workload size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BE0304-0160-4014-AFFA-F4339935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887D60-08BF-4BEC-8ADA-0CE90EDC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Cloudlets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6BE6AA-55CB-4C2E-9734-86EC0515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002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024299-E93C-4B1B-93D1-9D5262B0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145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SMA makespan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E59061-095D-4E3F-AE3E-87B0DE10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952594-A383-404C-BCDF-50EE2583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145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AO makespan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8EAAA5-54B7-41BC-A68A-C5CC98A8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002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2F77E3-7590-4212-AAA4-8638857F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145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SMA cost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09605B-76BF-4EE3-8A74-004A8528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00250"/>
            <a:ext cx="2343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3A3394-1FD8-4E78-8FAA-D54EF6D2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1455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AO cost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D7DE70-CF3A-48AD-82EE-515BB629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133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41AED5-729F-47E9-9047-FCA8CCDF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3040"/>
                </a:solidFill>
                <a:latin typeface="Arial"/>
                <a:ea typeface="Arial"/>
                <a:cs typeface="Arial"/>
              </a:rPr>
              <a:t>1,000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BD17E8-6118-4695-A266-71505BF3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384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CAB11D-0C52-4CD2-B718-D9A78891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717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90.16M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A31B21-AF9E-4964-967F-5893DF0D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384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AA832C-E8F3-4177-9262-5417E5A0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717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92.70M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E0EFF4-01B0-4286-9A35-9C70A581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384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94DC89-AF32-4275-9E9F-BCCA67AB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717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10.58M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A704AC-E012-4188-9354-89BBDD8B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38400"/>
            <a:ext cx="2343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4D182B-7198-458B-A75F-756742FD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7175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10.56M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86C41F-73B0-48E0-BCBB-5FC98B90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33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B46E19-BF1D-4F8C-950F-46E1D6C9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3040"/>
                </a:solidFill>
                <a:latin typeface="Arial"/>
                <a:ea typeface="Arial"/>
                <a:cs typeface="Arial"/>
              </a:rPr>
              <a:t>2,000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AAE050-BE0C-466F-9108-D7058155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956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744C94-9050-4E56-B357-BBE8059D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289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127.56M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FD7992-BBCB-4182-8D48-2BDD18EA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956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71E9DD-220A-4D17-B124-4625C03D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289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125.61M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FD932E-802A-4E9E-A83E-AFFF3F99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956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244C5F-7FE2-45F3-8B01-A0850F43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289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17.08M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BB1C96-6C30-4727-962A-8AC6C98A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95600"/>
            <a:ext cx="2343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D8E150-EE00-410E-9360-0E918EEB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2895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17.01M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3AACDC-EADD-49F9-8F6C-69E7DCC4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33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4BA4F6-85A5-4804-AA27-1ADC1719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861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3040"/>
                </a:solidFill>
                <a:latin typeface="Arial"/>
                <a:ea typeface="Arial"/>
                <a:cs typeface="Arial"/>
              </a:rPr>
              <a:t>3,000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D8DC2C-A7F8-4904-985F-705C3C8B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528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DF192F-B8FA-4748-930E-3A23AEBB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861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213.61M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69F32B-0340-48DD-8E05-09FF0223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528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4899F97-232F-4C5C-865D-8A2596AC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861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213.52M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C4AB384-D74F-4AE5-8648-D3FBD0CC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528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165AA1-6EEA-4E46-9EE9-4A658F58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861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20.56M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77F292F-AE2B-4554-95BF-2DF759ED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52800"/>
            <a:ext cx="2343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6C3D81-E4A8-4FFB-AAEF-77D78558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8615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20.55M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5BF16B7-EDC8-4E13-B855-2814AA0B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33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355F701-E8C4-48DF-B013-B3AB4784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3040"/>
                </a:solidFill>
                <a:latin typeface="Arial"/>
                <a:ea typeface="Arial"/>
                <a:cs typeface="Arial"/>
              </a:rPr>
              <a:t>4,000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AA7C3F7-F141-4AE8-8AE0-23DE0521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100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683005C-32E7-4282-AAC4-38BEA74E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433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268.52M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561F127-6C80-4265-9FE4-5D932808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100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5427E73-CA89-4752-9CC6-123422FF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433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269.54M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2BCB2DE-D1F9-4833-87D5-3E3E745D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00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91AABAC-B3BF-4C17-85FE-D19D1577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433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31.59M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1926BD3-6B88-4063-B17B-6D004E87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0000"/>
            <a:ext cx="2343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A5D093B-76ED-4618-BDBA-1D16F6F3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4335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31.57M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7EC492F-84F1-4387-B9A7-65B8C36B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33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C7AD60F-B5AA-478E-87DD-37E2A518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3040"/>
                </a:solidFill>
                <a:latin typeface="Arial"/>
                <a:ea typeface="Arial"/>
                <a:cs typeface="Arial"/>
              </a:rPr>
              <a:t>5,000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5DF72B0-3545-43C7-A598-15272397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672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2EB0773-16C9-4646-8BFD-9EC75B88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005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341.20M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7E86BF2-815E-4DC5-8ADA-86055A10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3B1DC88-78D6-4505-8C34-60927CC2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005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342.18M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E056F88-C563-48DA-87B4-1951B5FB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672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73EF356-5CE5-4D1D-A592-18FEE017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005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39.76M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69FAB44-9EA4-48E9-AE4C-07A648CA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67200"/>
            <a:ext cx="2343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F9DC079-380D-4B80-A238-27D79C04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0055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39.85M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8F80E58-FC96-4820-9B00-79D86D6D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D"/>
          </a:solidFill>
          <a:ln xmlns:a="http://schemas.openxmlformats.org/drawingml/2006/main" w="9525">
            <a:solidFill>
              <a:srgbClr val="F3C7A2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22F205E-F888-4EFD-AAB0-012D9051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44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7D31"/>
                </a:solidFill>
                <a:latin typeface="Arial"/>
                <a:ea typeface="Arial"/>
                <a:cs typeface="Arial"/>
              </a:rPr>
              <a:t>Overall mean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7B961EB-10A3-4213-9BDB-6FC9753E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244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3040"/>
                </a:solidFill>
                <a:latin typeface="Arial"/>
                <a:ea typeface="Arial"/>
                <a:cs typeface="Arial"/>
              </a:rPr>
              <a:t>SMA makespan 208.21M  |  AO makespan 208.71M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FEDF9AE-E523-4E52-B599-3F6F1E14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244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3040"/>
                </a:solidFill>
                <a:latin typeface="Arial"/>
                <a:ea typeface="Arial"/>
                <a:cs typeface="Arial"/>
              </a:rPr>
              <a:t>SMA cost 23.91M  |  AO cost 23.91M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290F0D1-C6C8-4E86-A81D-AC37B050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SOKA metaheuristic scheduling  |  6</a:t>
            </a:r>
          </a:p>
        </p:txBody>
      </p:sp>
    </p:spTree>
    <p:extLst>
      <p:ext uri="{BB962C8B-B14F-4D97-AF65-F5344CB8AC3E}">
        <p14:creationId xmlns:p14="http://schemas.microsoft.com/office/powerpoint/2010/main" val="1866133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3D7216-9786-4785-89C4-ED2E99C4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VISUAL COMPARISON FROM THE COMPLETED RUN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7E4D76-BE8D-41EC-AEC8-B7A7EE8F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Result charts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9A21D9-FE03-47FE-8514-1BEB57ED3C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75fe6cedbb4a07"/>
          <a:stretch xmlns:a="http://schemas.openxmlformats.org/drawingml/2006/main"/>
        </p:blipFill>
        <p:spPr>
          <a:xfrm xmlns:a="http://schemas.openxmlformats.org/drawingml/2006/main">
            <a:off x="1535906" y="1428750"/>
            <a:ext cx="3405188" cy="314325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5BF23B-ABDC-4031-BDE8-685C9537A1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b996e1b7594ebb"/>
          <a:stretch xmlns:a="http://schemas.openxmlformats.org/drawingml/2006/main"/>
        </p:blipFill>
        <p:spPr>
          <a:xfrm xmlns:a="http://schemas.openxmlformats.org/drawingml/2006/main">
            <a:off x="6438900" y="1428750"/>
            <a:ext cx="5029200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05020-07FC-4166-80B7-2B4F2882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3040"/>
                </a:solidFill>
                <a:latin typeface="Arial"/>
                <a:ea typeface="Arial"/>
                <a:cs typeface="Arial"/>
              </a:rPr>
              <a:t>The left chart compares workload-size trends. The right chart aggregates the 15 runs for each algorithm.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0060A0-14D8-489F-980A-201FAEE7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SMA has the lower overall makespan. AO has a slightly lower overall cost. Neither optimizer wins every workload size.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A63665-1C00-4C5B-9D8E-525ECB34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SOKA metaheuristic scheduling  |  7</a:t>
            </a:r>
          </a:p>
        </p:txBody>
      </p:sp>
    </p:spTree>
    <p:extLst>
      <p:ext uri="{BB962C8B-B14F-4D97-AF65-F5344CB8AC3E}">
        <p14:creationId xmlns:p14="http://schemas.microsoft.com/office/powerpoint/2010/main" val="4188316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5732FA-85BD-4575-A80D-D3FDE8B3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HOW TO READ THE COMPLETED RUN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D23461-E6BC-4C4D-B23A-3AA53821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Outputs and interpretation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C59653-0B65-42F3-92E6-8A063F74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Result files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62274E-88B6-4C26-8F15-A05DB06C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87F7C2-40AB-40BD-9058-4B2604C8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1452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3040"/>
                </a:solidFill>
                <a:latin typeface="Arial"/>
                <a:ea typeface="Arial"/>
                <a:cs typeface="Arial"/>
              </a:rPr>
              <a:t>runs.csv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0875E2-98CC-48B1-86B7-F849453F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41ECBF-6ECF-4C6F-950A-42D66253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3040"/>
                </a:solidFill>
                <a:latin typeface="Arial"/>
                <a:ea typeface="Arial"/>
                <a:cs typeface="Arial"/>
              </a:rPr>
              <a:t>summary.csv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86D013-CE87-4916-9624-FA6E0E5E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555E2E-CD1D-48A5-80E8-FD03691F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3040"/>
                </a:solidFill>
                <a:latin typeface="Arial"/>
                <a:ea typeface="Arial"/>
                <a:cs typeface="Arial"/>
              </a:rPr>
              <a:t>comparison.png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C537A7-4C0D-4976-B7DC-3ABFF471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8F9C92-2B91-45AD-BD1B-E69FE41E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3040"/>
                </a:solidFill>
                <a:latin typeface="Arial"/>
                <a:ea typeface="Arial"/>
                <a:cs typeface="Arial"/>
              </a:rPr>
              <a:t>overall.png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E7DE1D-86BB-40C7-A342-C0524A01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3BED75-DD08-48BA-94D4-17B843D2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002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3040"/>
                </a:solidFill>
                <a:latin typeface="Arial"/>
                <a:ea typeface="Arial"/>
                <a:cs typeface="Arial"/>
              </a:rPr>
              <a:t>configuration.txt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B6D7F0-F39C-4C50-BE24-F2836C61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525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D7D31"/>
                </a:solidFill>
                <a:latin typeface="Arial"/>
                <a:ea typeface="Arial"/>
                <a:cs typeface="Arial"/>
              </a:rPr>
              <a:t>Read the comparison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125211-2B78-402E-B4F8-E1EB7C12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• Lower makespan means faster completion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E9EAD0-D5F7-40DB-B961-78760878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050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• Lower total cost means cheaper execution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8B1055-4E26-4D4E-BE65-69B3605B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241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• Higher throughput means more completed tasks per time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EDDEAC-F4EA-49FA-9C14-4DBC652B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432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• Lower imbalance and deadline misses indicate better distribution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FB14F3-E346-4C11-8744-45A95343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05250"/>
            <a:ext cx="5429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D"/>
          </a:solidFill>
          <a:ln xmlns:a="http://schemas.openxmlformats.org/drawingml/2006/main" w="9525">
            <a:solidFill>
              <a:srgbClr val="F3C7A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EE7C8E-A39B-4B8D-9FA0-B33E4813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148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Reproduce the experiment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743FC8-5CB1-44CF-8670-741F0FD5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33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D7D31"/>
                </a:solidFill>
                <a:latin typeface="Arial"/>
                <a:ea typeface="Arial"/>
                <a:cs typeface="Arial"/>
              </a:rPr>
              <a:t>./run.sh --algorithm SMA,AO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6C1488-77A1-4799-B622-48104D4F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933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The runner validates duplicates before simulation.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0EC6A1-0A22-41B9-81EF-E41A7289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SOKA metaheuristic scheduling  |  8</a:t>
            </a:r>
          </a:p>
        </p:txBody>
      </p:sp>
    </p:spTree>
    <p:extLst>
      <p:ext uri="{BB962C8B-B14F-4D97-AF65-F5344CB8AC3E}">
        <p14:creationId xmlns:p14="http://schemas.microsoft.com/office/powerpoint/2010/main" val="5891165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2026-10-06T11:37:49.4200000Z</dcterms:created>
  <dcterms:modified xsi:type="dcterms:W3CDTF">2026-10-06T11:37:49.4200000Z</dcterms:modified>
</coreProperties>
</file>